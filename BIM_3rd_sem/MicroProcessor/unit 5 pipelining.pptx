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9" r:id="rId4"/>
    <p:sldId id="260" r:id="rId5"/>
    <p:sldId id="261" r:id="rId6"/>
    <p:sldId id="262" r:id="rId7"/>
    <p:sldId id="263" r:id="rId8"/>
    <p:sldId id="264" r:id="rId9"/>
    <p:sldId id="265" r:id="rId10"/>
    <p:sldId id="266" r:id="rId11"/>
    <p:sldId id="267" r:id="rId12"/>
    <p:sldId id="268" r:id="rId13"/>
    <p:sldId id="269" r:id="rId14"/>
    <p:sldId id="270" r:id="rId15"/>
    <p:sldId id="292" r:id="rId16"/>
    <p:sldId id="258" r:id="rId17"/>
    <p:sldId id="271" r:id="rId18"/>
    <p:sldId id="272" r:id="rId19"/>
    <p:sldId id="273" r:id="rId20"/>
    <p:sldId id="274" r:id="rId21"/>
    <p:sldId id="293" r:id="rId22"/>
    <p:sldId id="294" r:id="rId23"/>
    <p:sldId id="295" r:id="rId24"/>
    <p:sldId id="296" r:id="rId25"/>
    <p:sldId id="298" r:id="rId26"/>
    <p:sldId id="275" r:id="rId27"/>
    <p:sldId id="276" r:id="rId28"/>
    <p:sldId id="277" r:id="rId29"/>
    <p:sldId id="278" r:id="rId30"/>
    <p:sldId id="297" r:id="rId31"/>
    <p:sldId id="279" r:id="rId32"/>
    <p:sldId id="280" r:id="rId33"/>
    <p:sldId id="281" r:id="rId34"/>
    <p:sldId id="299" r:id="rId35"/>
    <p:sldId id="282" r:id="rId36"/>
    <p:sldId id="283" r:id="rId37"/>
    <p:sldId id="284" r:id="rId38"/>
    <p:sldId id="285" r:id="rId39"/>
    <p:sldId id="300"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97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5.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5.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925DB91-875F-4799-A876-735AF1265C9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B98D862F-7D51-4232-BBCD-080C3EE0320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925DB91-875F-4799-A876-735AF1265C9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D862F-7D51-4232-BBCD-080C3EE0320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593667" y="6272784"/>
            <a:ext cx="2644309" cy="365125"/>
          </a:xfrm>
        </p:spPr>
        <p:txBody>
          <a:bodyPr/>
          <a:lstStyle/>
          <a:p>
            <a:fld id="{5925DB91-875F-4799-A876-735AF1265C98}" type="datetimeFigureOut">
              <a:rPr lang="en-US" smtClean="0"/>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B98D862F-7D51-4232-BBCD-080C3EE0320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5925DB91-875F-4799-A876-735AF1265C9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8D862F-7D51-4232-BBCD-080C3EE0320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5925DB91-875F-4799-A876-735AF1265C98}"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8D862F-7D51-4232-BBCD-080C3EE0320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5DB91-875F-4799-A876-735AF1265C98}"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8D862F-7D51-4232-BBCD-080C3EE0320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5DB91-875F-4799-A876-735AF1265C98}"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8D862F-7D51-4232-BBCD-080C3EE0320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925DB91-875F-4799-A876-735AF1265C9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B98D862F-7D51-4232-BBCD-080C3EE0320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925DB91-875F-4799-A876-735AF1265C98}" type="datetimeFigureOut">
              <a:rPr lang="en-US" smtClean="0"/>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B98D862F-7D51-4232-BBCD-080C3EE0320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925DB91-875F-4799-A876-735AF1265C9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D862F-7D51-4232-BBCD-080C3EE0320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925DB91-875F-4799-A876-735AF1265C9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8D862F-7D51-4232-BBCD-080C3EE0320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png"/><Relationship Id="rId13" Type="http://schemas.microsoft.com/office/2007/relationships/hdphoto" Target="../media/image4.wdp"/><Relationship Id="rId12" Type="http://schemas.openxmlformats.org/officeDocument/2006/relationships/image" Target="../media/image5.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5925DB91-875F-4799-A876-735AF1265C98}" type="datetimeFigureOut">
              <a:rPr lang="en-US" smtClean="0"/>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2">
                <a:duotone>
                  <a:schemeClr val="accent1">
                    <a:shade val="45000"/>
                    <a:satMod val="135000"/>
                  </a:schemeClr>
                  <a:prstClr val="white"/>
                </a:duotone>
                <a:extLst>
                  <a:ext uri="{BEBA8EAE-BF5A-486C-A8C5-ECC9F3942E4B}">
                    <a14:imgProps xmlns:a14="http://schemas.microsoft.com/office/drawing/2010/main">
                      <a14:imgLayer r:embed="rId13">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B98D862F-7D51-4232-BBCD-080C3EE0320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400" kern="1200" cap="all" baseline="0">
          <a:blipFill>
            <a:blip r:embed="rId14">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jpeg"/><Relationship Id="rId1" Type="http://schemas.openxmlformats.org/officeDocument/2006/relationships/image" Target="../media/image13.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pipelining</a:t>
            </a:r>
            <a:endParaRPr lang="en-US" dirty="0"/>
          </a:p>
        </p:txBody>
      </p:sp>
      <p:sp>
        <p:nvSpPr>
          <p:cNvPr id="3" name="Subtitle 2"/>
          <p:cNvSpPr>
            <a:spLocks noGrp="1"/>
          </p:cNvSpPr>
          <p:nvPr>
            <p:ph type="subTitle" idx="1"/>
          </p:nvPr>
        </p:nvSpPr>
        <p:spPr/>
        <p:txBody>
          <a:bodyPr/>
          <a:lstStyle/>
          <a:p>
            <a:r>
              <a:rPr lang="en-US" dirty="0"/>
              <a:t>Unit 5</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1540" y="720090"/>
            <a:ext cx="10236708" cy="5452110"/>
          </a:xfrm>
        </p:spPr>
        <p:txBody>
          <a:bodyPr/>
          <a:lstStyle/>
          <a:p>
            <a:pPr marL="0" indent="0">
              <a:buNone/>
            </a:pPr>
            <a:r>
              <a:rPr lang="en-US" b="1" dirty="0"/>
              <a:t>Parallel Processing</a:t>
            </a:r>
            <a:endParaRPr lang="en-US" b="1" dirty="0"/>
          </a:p>
          <a:p>
            <a:r>
              <a:rPr lang="en-US" i="0" dirty="0">
                <a:solidFill>
                  <a:srgbClr val="080809"/>
                </a:solidFill>
                <a:effectLst/>
                <a:latin typeface="PT Serif" panose="020A0603040505020204" pitchFamily="18" charset="0"/>
              </a:rPr>
              <a:t>Parallel processing is a computing technique when multiple streams of calculations or data processing tasks co-occur through numerous central processing units (CPUs) working concurrently.</a:t>
            </a:r>
            <a:endParaRPr lang="en-US" i="0" dirty="0">
              <a:solidFill>
                <a:srgbClr val="080809"/>
              </a:solidFill>
              <a:effectLst/>
              <a:latin typeface="PT Serif" panose="020A0603040505020204" pitchFamily="18" charset="0"/>
            </a:endParaRPr>
          </a:p>
          <a:p>
            <a:r>
              <a:rPr lang="en-US" b="0" i="0" dirty="0">
                <a:solidFill>
                  <a:srgbClr val="080809"/>
                </a:solidFill>
                <a:effectLst/>
                <a:latin typeface="PT Serif" panose="020A0603040505020204" pitchFamily="18" charset="0"/>
              </a:rPr>
              <a:t>Parallel processing uses two or more processors or CPUs simultaneously to handle various components of a single activity. Systems can slash a program’s execution time by dividing a task’s many parts among several processors. Multi-core processors, frequently found in modern computers, and any system with more than one CPU are capable of performing parallel processing.</a:t>
            </a:r>
            <a:endParaRPr lang="en-US" b="0" dirty="0">
              <a:solidFill>
                <a:srgbClr val="080809"/>
              </a:solidFill>
              <a:latin typeface="PT Serif" panose="020A0603040505020204" pitchFamily="18" charset="0"/>
            </a:endParaRPr>
          </a:p>
          <a:p>
            <a:r>
              <a:rPr lang="en-US" b="0" i="0" dirty="0">
                <a:solidFill>
                  <a:srgbClr val="080809"/>
                </a:solidFill>
                <a:effectLst/>
                <a:latin typeface="PT Serif" panose="020A0603040505020204" pitchFamily="18" charset="0"/>
              </a:rPr>
              <a:t>For improved speed, lower power consumption, and more effective handling of several activities, multi-core processors are integrated circuit (IC) chips with two or more CPUs. Most computers can have two to four cores, while others can have up to twelve. Complex operations and computations are frequently completed in parallel processing.</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0110" y="960120"/>
            <a:ext cx="10248138" cy="5212080"/>
          </a:xfrm>
        </p:spPr>
        <p:txBody>
          <a:bodyPr>
            <a:normAutofit/>
          </a:bodyPr>
          <a:lstStyle/>
          <a:p>
            <a:pPr algn="just"/>
            <a:r>
              <a:rPr lang="en-US" sz="2400" b="0" i="0" dirty="0">
                <a:solidFill>
                  <a:srgbClr val="333333"/>
                </a:solidFill>
                <a:effectLst/>
                <a:latin typeface="inter-regular"/>
              </a:rPr>
              <a:t>A parallel processing system can carry out simultaneous data-processing to achieve faster execution time. For instance, while an instruction is being processed in the ALU component of the CPU, the next instruction can be read from memory.</a:t>
            </a:r>
            <a:endParaRPr lang="en-US" sz="2400" b="0" i="0" dirty="0">
              <a:solidFill>
                <a:srgbClr val="333333"/>
              </a:solidFill>
              <a:effectLst/>
              <a:latin typeface="inter-regular"/>
            </a:endParaRPr>
          </a:p>
          <a:p>
            <a:pPr algn="just"/>
            <a:r>
              <a:rPr lang="en-US" sz="2400" b="0" i="0" dirty="0">
                <a:solidFill>
                  <a:srgbClr val="333333"/>
                </a:solidFill>
                <a:effectLst/>
                <a:latin typeface="inter-regular"/>
              </a:rPr>
              <a:t>The primary purpose of parallel processing is to enhance the computer processing capability and increase its throughput, i.e. the amount of processing that can be accomplished during a given interval of time.</a:t>
            </a:r>
            <a:endParaRPr lang="en-US" sz="2400" b="0" i="0" dirty="0">
              <a:solidFill>
                <a:srgbClr val="333333"/>
              </a:solidFill>
              <a:effectLst/>
              <a:latin typeface="inter-regular"/>
            </a:endParaRPr>
          </a:p>
          <a:p>
            <a:pPr algn="just"/>
            <a:r>
              <a:rPr lang="en-US" sz="2400" b="0" i="0" dirty="0">
                <a:solidFill>
                  <a:srgbClr val="333333"/>
                </a:solidFill>
                <a:effectLst/>
                <a:latin typeface="inter-regular"/>
              </a:rPr>
              <a:t>A parallel processing system can be achieved by having a multiplicity of functional units that perform identical or different operations simultaneously. The data can be distributed among various multiple functional units.</a:t>
            </a:r>
            <a:endParaRPr lang="en-US" sz="2400" b="0" i="0" dirty="0">
              <a:solidFill>
                <a:srgbClr val="333333"/>
              </a:solidFill>
              <a:effectLst/>
              <a:latin typeface="inter-regular"/>
            </a:endParaRPr>
          </a:p>
          <a:p>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arallel Processing"/>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212327" y="630674"/>
            <a:ext cx="5735083" cy="57701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938919" y="2632680"/>
            <a:ext cx="6097904" cy="2554545"/>
          </a:xfrm>
          <a:prstGeom prst="rect">
            <a:avLst/>
          </a:prstGeom>
          <a:noFill/>
        </p:spPr>
        <p:txBody>
          <a:bodyPr wrap="square">
            <a:spAutoFit/>
          </a:bodyPr>
          <a:lstStyle/>
          <a:p>
            <a:pPr algn="just">
              <a:buFont typeface="Arial" panose="020B0604020202020204" pitchFamily="34" charset="0"/>
              <a:buChar char="•"/>
            </a:pPr>
            <a:r>
              <a:rPr lang="en-US" sz="2000" b="0" i="0" dirty="0">
                <a:solidFill>
                  <a:srgbClr val="000000"/>
                </a:solidFill>
                <a:effectLst/>
                <a:latin typeface="inter-regular"/>
              </a:rPr>
              <a:t>The adder and integer multiplier performs the arithmetic operation with integer numbers.</a:t>
            </a:r>
            <a:endParaRPr lang="en-US" sz="2000" b="0" i="0" dirty="0">
              <a:solidFill>
                <a:srgbClr val="000000"/>
              </a:solidFill>
              <a:effectLst/>
              <a:latin typeface="inter-regular"/>
            </a:endParaRPr>
          </a:p>
          <a:p>
            <a:pPr algn="just">
              <a:buFont typeface="Arial" panose="020B0604020202020204" pitchFamily="34" charset="0"/>
              <a:buChar char="•"/>
            </a:pPr>
            <a:r>
              <a:rPr lang="en-US" sz="2000" b="0" i="0" dirty="0">
                <a:solidFill>
                  <a:srgbClr val="000000"/>
                </a:solidFill>
                <a:effectLst/>
                <a:latin typeface="inter-regular"/>
              </a:rPr>
              <a:t>The floating-point operations are separated into three circuits operating in parallel.</a:t>
            </a:r>
            <a:endParaRPr lang="en-US" sz="2000" b="0" i="0" dirty="0">
              <a:solidFill>
                <a:srgbClr val="000000"/>
              </a:solidFill>
              <a:effectLst/>
              <a:latin typeface="inter-regular"/>
            </a:endParaRPr>
          </a:p>
          <a:p>
            <a:pPr algn="just">
              <a:buFont typeface="Arial" panose="020B0604020202020204" pitchFamily="34" charset="0"/>
              <a:buChar char="•"/>
            </a:pPr>
            <a:r>
              <a:rPr lang="en-US" sz="2000" b="0" i="0" dirty="0">
                <a:solidFill>
                  <a:srgbClr val="000000"/>
                </a:solidFill>
                <a:effectLst/>
                <a:latin typeface="inter-regular"/>
              </a:rPr>
              <a:t>The logic, shift, and increment operations can be performed concurrently on different data. All units are independent of each other, so one number can be shifted while another number is being incremented.</a:t>
            </a:r>
            <a:endParaRPr lang="en-US" sz="2000" b="0" i="0" dirty="0">
              <a:solidFill>
                <a:srgbClr val="000000"/>
              </a:solidFill>
              <a:effectLst/>
              <a:latin typeface="inter-regular"/>
            </a:endParaRPr>
          </a:p>
        </p:txBody>
      </p:sp>
      <p:sp>
        <p:nvSpPr>
          <p:cNvPr id="7" name="TextBox 6"/>
          <p:cNvSpPr txBox="1"/>
          <p:nvPr/>
        </p:nvSpPr>
        <p:spPr>
          <a:xfrm>
            <a:off x="5938919" y="772775"/>
            <a:ext cx="6097904" cy="646331"/>
          </a:xfrm>
          <a:prstGeom prst="rect">
            <a:avLst/>
          </a:prstGeom>
          <a:noFill/>
        </p:spPr>
        <p:txBody>
          <a:bodyPr wrap="square">
            <a:spAutoFit/>
          </a:bodyPr>
          <a:lstStyle/>
          <a:p>
            <a:r>
              <a:rPr lang="en-US" b="0" i="0" dirty="0">
                <a:solidFill>
                  <a:srgbClr val="333333"/>
                </a:solidFill>
                <a:effectLst/>
                <a:highlight>
                  <a:srgbClr val="FFFF00"/>
                </a:highlight>
                <a:latin typeface="inter-regular"/>
              </a:rPr>
              <a:t>The diagram shows one possible way of separating the execution unit into eight functional units operating in parallel.</a:t>
            </a:r>
            <a:endParaRPr lang="en-US" dirty="0">
              <a:highlight>
                <a:srgbClr val="FFFF00"/>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1530" y="537210"/>
            <a:ext cx="10316718" cy="5634990"/>
          </a:xfrm>
        </p:spPr>
        <p:txBody>
          <a:bodyPr>
            <a:normAutofit/>
          </a:bodyPr>
          <a:lstStyle/>
          <a:p>
            <a:r>
              <a:rPr lang="en-US" sz="2800" dirty="0"/>
              <a:t>Flynn’s Classification</a:t>
            </a:r>
            <a:endParaRPr lang="en-US" sz="2800" dirty="0"/>
          </a:p>
          <a:p>
            <a:endParaRPr lang="en-US" sz="2800" dirty="0"/>
          </a:p>
          <a:p>
            <a:pPr algn="just">
              <a:buFont typeface="+mj-lt"/>
              <a:buAutoNum type="arabicPeriod"/>
            </a:pPr>
            <a:r>
              <a:rPr lang="en-US" sz="2800" b="0" i="0" dirty="0">
                <a:effectLst/>
                <a:latin typeface="inter-regular"/>
              </a:rPr>
              <a:t>Single instruction stream, single data stream (SISD)</a:t>
            </a:r>
            <a:endParaRPr lang="en-US" sz="2800" b="0" i="0" dirty="0">
              <a:effectLst/>
              <a:latin typeface="inter-regular"/>
            </a:endParaRPr>
          </a:p>
          <a:p>
            <a:pPr algn="just">
              <a:buFont typeface="+mj-lt"/>
              <a:buAutoNum type="arabicPeriod"/>
            </a:pPr>
            <a:r>
              <a:rPr lang="en-US" sz="2800" b="0" i="0" strike="noStrike" dirty="0">
                <a:effectLst/>
                <a:latin typeface="inter-regular"/>
              </a:rPr>
              <a:t>Single instruction stream, multiple data stream (SIMD)</a:t>
            </a:r>
            <a:endParaRPr lang="en-US" sz="2800" b="0" i="0" dirty="0">
              <a:effectLst/>
              <a:latin typeface="inter-regular"/>
            </a:endParaRPr>
          </a:p>
          <a:p>
            <a:pPr algn="just">
              <a:buFont typeface="+mj-lt"/>
              <a:buAutoNum type="arabicPeriod"/>
            </a:pPr>
            <a:r>
              <a:rPr lang="en-US" sz="2800" b="0" i="0" strike="noStrike" dirty="0">
                <a:effectLst/>
                <a:latin typeface="inter-regular"/>
              </a:rPr>
              <a:t>Multiple instruction stream, single data stream (MISD)</a:t>
            </a:r>
            <a:endParaRPr lang="en-US" sz="2800" b="0" i="0" dirty="0">
              <a:effectLst/>
              <a:latin typeface="inter-regular"/>
            </a:endParaRPr>
          </a:p>
          <a:p>
            <a:pPr algn="just">
              <a:buFont typeface="+mj-lt"/>
              <a:buAutoNum type="arabicPeriod"/>
            </a:pPr>
            <a:r>
              <a:rPr lang="en-US" sz="2800" b="0" i="0" strike="noStrike" dirty="0">
                <a:effectLst/>
                <a:latin typeface="inter-regular"/>
              </a:rPr>
              <a:t>Multiple instruction stream, multiple data stream (MIMD)</a:t>
            </a:r>
            <a:endParaRPr lang="en-US" sz="2800" b="0" i="0" dirty="0">
              <a:effectLst/>
              <a:latin typeface="inter-regular"/>
            </a:endParaRPr>
          </a:p>
          <a:p>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7230" y="560070"/>
            <a:ext cx="10431018" cy="5612130"/>
          </a:xfrm>
        </p:spPr>
        <p:txBody>
          <a:bodyPr>
            <a:normAutofit/>
          </a:bodyPr>
          <a:lstStyle/>
          <a:p>
            <a:pPr marL="0" indent="0" algn="just">
              <a:buNone/>
            </a:pPr>
            <a:r>
              <a:rPr lang="en-US" sz="3200" b="0" i="0" dirty="0">
                <a:effectLst/>
                <a:latin typeface="erdana"/>
              </a:rPr>
              <a:t>SISD</a:t>
            </a:r>
            <a:endParaRPr lang="en-US" sz="3200" b="0" i="0" dirty="0">
              <a:effectLst/>
              <a:latin typeface="erdana"/>
            </a:endParaRPr>
          </a:p>
          <a:p>
            <a:pPr algn="just"/>
            <a:r>
              <a:rPr lang="en-US" sz="2400" b="1" i="0" dirty="0">
                <a:solidFill>
                  <a:srgbClr val="333333"/>
                </a:solidFill>
                <a:effectLst/>
                <a:latin typeface="Times New Roman" panose="02020603050405020304" pitchFamily="18" charset="0"/>
                <a:cs typeface="Times New Roman" panose="02020603050405020304" pitchFamily="18" charset="0"/>
              </a:rPr>
              <a:t>SISD</a:t>
            </a:r>
            <a:r>
              <a:rPr lang="en-US" sz="2400" b="0" i="0" dirty="0">
                <a:solidFill>
                  <a:srgbClr val="333333"/>
                </a:solidFill>
                <a:effectLst/>
                <a:latin typeface="Times New Roman" panose="02020603050405020304" pitchFamily="18" charset="0"/>
                <a:cs typeface="Times New Roman" panose="02020603050405020304" pitchFamily="18" charset="0"/>
              </a:rPr>
              <a:t> stands for </a:t>
            </a:r>
            <a:r>
              <a:rPr lang="en-US" sz="2400" b="1" i="1" dirty="0">
                <a:solidFill>
                  <a:srgbClr val="333333"/>
                </a:solidFill>
                <a:effectLst/>
                <a:latin typeface="Times New Roman" panose="02020603050405020304" pitchFamily="18" charset="0"/>
                <a:cs typeface="Times New Roman" panose="02020603050405020304" pitchFamily="18" charset="0"/>
              </a:rPr>
              <a:t>'Single Instruction and Single Data Stream'</a:t>
            </a:r>
            <a:r>
              <a:rPr lang="en-US" sz="2400" b="0" i="0" dirty="0">
                <a:solidFill>
                  <a:srgbClr val="333333"/>
                </a:solidFill>
                <a:effectLst/>
                <a:latin typeface="Times New Roman" panose="02020603050405020304" pitchFamily="18" charset="0"/>
                <a:cs typeface="Times New Roman" panose="02020603050405020304" pitchFamily="18" charset="0"/>
              </a:rPr>
              <a:t>. It represents the organization of a single computer containing a control unit, a processor unit, and a memory unit.</a:t>
            </a:r>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Instructions are executed sequentially, and the system may or may not have internal parallel processing capabilities.</a:t>
            </a:r>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Most conventional computers have SISD architecture like the traditional Von-Neumann computers.</a:t>
            </a:r>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Parallel processing, in this case, may be achieved by means of multiple functional units or by pipeline processing.</a:t>
            </a:r>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080809"/>
                </a:solidFill>
                <a:effectLst/>
                <a:latin typeface="Times New Roman" panose="02020603050405020304" pitchFamily="18" charset="0"/>
                <a:cs typeface="Times New Roman" panose="02020603050405020304" pitchFamily="18" charset="0"/>
              </a:rPr>
              <a:t>In SISD, a single processor is responsible for simultaneously managing a single algorithm as a single data source. </a:t>
            </a:r>
            <a:endParaRPr lang="en-US" sz="2400" b="0" i="0" dirty="0">
              <a:solidFill>
                <a:srgbClr val="080809"/>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ISD"/>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914439" y="1564078"/>
            <a:ext cx="3991532" cy="349616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179656" y="1827729"/>
            <a:ext cx="6593243" cy="3416320"/>
          </a:xfrm>
          <a:prstGeom prst="rect">
            <a:avLst/>
          </a:prstGeom>
          <a:noFill/>
        </p:spPr>
        <p:txBody>
          <a:bodyPr wrap="square">
            <a:spAutoFit/>
          </a:bodyPr>
          <a:lstStyle/>
          <a:p>
            <a:pPr algn="just"/>
            <a:r>
              <a:rPr lang="en-US" sz="2400" b="0" i="0" dirty="0">
                <a:solidFill>
                  <a:srgbClr val="000000"/>
                </a:solidFill>
                <a:effectLst/>
                <a:latin typeface="inter-regular"/>
              </a:rPr>
              <a:t>Where, </a:t>
            </a:r>
            <a:r>
              <a:rPr lang="en-US" sz="2400" b="0" i="0" dirty="0">
                <a:solidFill>
                  <a:srgbClr val="FF0000"/>
                </a:solidFill>
                <a:effectLst/>
                <a:latin typeface="inter-regular"/>
              </a:rPr>
              <a:t>CU</a:t>
            </a:r>
            <a:r>
              <a:rPr lang="en-US" sz="2400" b="0" i="0" dirty="0">
                <a:solidFill>
                  <a:srgbClr val="000000"/>
                </a:solidFill>
                <a:effectLst/>
                <a:latin typeface="inter-regular"/>
              </a:rPr>
              <a:t> = </a:t>
            </a:r>
            <a:r>
              <a:rPr lang="en-US" sz="2400" b="0" i="0" dirty="0">
                <a:solidFill>
                  <a:srgbClr val="0000FF"/>
                </a:solidFill>
                <a:effectLst/>
                <a:latin typeface="inter-regular"/>
              </a:rPr>
              <a:t>Control</a:t>
            </a:r>
            <a:r>
              <a:rPr lang="en-US" sz="2400" b="0" i="0" dirty="0">
                <a:solidFill>
                  <a:srgbClr val="000000"/>
                </a:solidFill>
                <a:effectLst/>
                <a:latin typeface="inter-regular"/>
              </a:rPr>
              <a:t> Unit, </a:t>
            </a:r>
            <a:r>
              <a:rPr lang="en-US" sz="2400" b="0" i="0" dirty="0">
                <a:solidFill>
                  <a:srgbClr val="FF0000"/>
                </a:solidFill>
                <a:effectLst/>
                <a:latin typeface="inter-regular"/>
              </a:rPr>
              <a:t>PE</a:t>
            </a:r>
            <a:r>
              <a:rPr lang="en-US" sz="2400" b="0" i="0" dirty="0">
                <a:solidFill>
                  <a:srgbClr val="000000"/>
                </a:solidFill>
                <a:effectLst/>
                <a:latin typeface="inter-regular"/>
              </a:rPr>
              <a:t> = </a:t>
            </a:r>
            <a:r>
              <a:rPr lang="en-US" sz="2400" b="0" i="0" dirty="0">
                <a:solidFill>
                  <a:srgbClr val="0000FF"/>
                </a:solidFill>
                <a:effectLst/>
                <a:latin typeface="inter-regular"/>
              </a:rPr>
              <a:t>Processing</a:t>
            </a:r>
            <a:r>
              <a:rPr lang="en-US" sz="2400" b="0" i="0" dirty="0">
                <a:solidFill>
                  <a:srgbClr val="000000"/>
                </a:solidFill>
                <a:effectLst/>
                <a:latin typeface="inter-regular"/>
              </a:rPr>
              <a:t> Element, </a:t>
            </a:r>
            <a:r>
              <a:rPr lang="en-US" sz="2400" b="0" i="0" dirty="0">
                <a:solidFill>
                  <a:srgbClr val="FF0000"/>
                </a:solidFill>
                <a:effectLst/>
                <a:latin typeface="inter-regular"/>
              </a:rPr>
              <a:t>M</a:t>
            </a:r>
            <a:r>
              <a:rPr lang="en-US" sz="2400" b="0" i="0" dirty="0">
                <a:solidFill>
                  <a:srgbClr val="000000"/>
                </a:solidFill>
                <a:effectLst/>
                <a:latin typeface="inter-regular"/>
              </a:rPr>
              <a:t> = </a:t>
            </a:r>
            <a:r>
              <a:rPr lang="en-US" sz="2400" b="0" i="0" dirty="0">
                <a:solidFill>
                  <a:srgbClr val="0000FF"/>
                </a:solidFill>
                <a:effectLst/>
                <a:latin typeface="inter-regular"/>
              </a:rPr>
              <a:t>Memory</a:t>
            </a:r>
            <a:r>
              <a:rPr lang="en-US" sz="2400" b="0" i="0" dirty="0">
                <a:solidFill>
                  <a:srgbClr val="000000"/>
                </a:solidFill>
                <a:effectLst/>
                <a:latin typeface="inter-regular"/>
              </a:rPr>
              <a:t>  </a:t>
            </a:r>
            <a:endParaRPr lang="en-US" sz="2400" b="0" i="0" dirty="0">
              <a:solidFill>
                <a:srgbClr val="000000"/>
              </a:solidFill>
              <a:effectLst/>
              <a:latin typeface="inter-regular"/>
            </a:endParaRPr>
          </a:p>
          <a:p>
            <a:pPr algn="just"/>
            <a:r>
              <a:rPr lang="en-US" sz="2400" b="0" i="0" dirty="0">
                <a:solidFill>
                  <a:srgbClr val="333333"/>
                </a:solidFill>
                <a:effectLst/>
                <a:latin typeface="inter-regular"/>
              </a:rPr>
              <a:t>Instructions are decoded by the Control Unit and then the Control Unit sends the instructions to the processing units for execution.</a:t>
            </a:r>
            <a:endParaRPr lang="en-US" sz="2400" b="0" i="0" dirty="0">
              <a:solidFill>
                <a:srgbClr val="333333"/>
              </a:solidFill>
              <a:effectLst/>
              <a:latin typeface="inter-regular"/>
            </a:endParaRPr>
          </a:p>
          <a:p>
            <a:pPr algn="just"/>
            <a:r>
              <a:rPr lang="en-US" sz="2400" b="0" i="0" dirty="0">
                <a:solidFill>
                  <a:srgbClr val="333333"/>
                </a:solidFill>
                <a:effectLst/>
                <a:latin typeface="inter-regular"/>
              </a:rPr>
              <a:t>Data Stream flows between the processors and memory bi-directionally.</a:t>
            </a:r>
            <a:endParaRPr lang="en-US" sz="2400" b="0" i="0" dirty="0">
              <a:solidFill>
                <a:srgbClr val="333333"/>
              </a:solidFill>
              <a:effectLst/>
              <a:latin typeface="inter-regular"/>
            </a:endParaRPr>
          </a:p>
          <a:p>
            <a:pPr algn="just"/>
            <a:r>
              <a:rPr lang="en-US" sz="2400" b="1" i="0" dirty="0">
                <a:solidFill>
                  <a:srgbClr val="333333"/>
                </a:solidFill>
                <a:effectLst/>
                <a:latin typeface="inter-bold"/>
              </a:rPr>
              <a:t>Examples:</a:t>
            </a:r>
            <a:endParaRPr lang="en-US" sz="2400" b="0" i="0" dirty="0">
              <a:solidFill>
                <a:srgbClr val="333333"/>
              </a:solidFill>
              <a:effectLst/>
              <a:latin typeface="inter-regular"/>
            </a:endParaRPr>
          </a:p>
          <a:p>
            <a:pPr algn="just"/>
            <a:r>
              <a:rPr lang="en-US" sz="2400" b="0" i="0" dirty="0">
                <a:solidFill>
                  <a:srgbClr val="333333"/>
                </a:solidFill>
                <a:effectLst/>
                <a:latin typeface="inter-regular"/>
              </a:rPr>
              <a:t>Older generation computers, minicomputers </a:t>
            </a:r>
            <a:r>
              <a:rPr lang="en-US" sz="2400" b="0" i="0" dirty="0" err="1">
                <a:solidFill>
                  <a:srgbClr val="333333"/>
                </a:solidFill>
                <a:effectLst/>
                <a:latin typeface="inter-regular"/>
              </a:rPr>
              <a:t>etc</a:t>
            </a:r>
            <a:endParaRPr lang="en-US" sz="2400" b="0" i="0" dirty="0">
              <a:solidFill>
                <a:srgbClr val="333333"/>
              </a:solidFill>
              <a:effectLst/>
              <a:latin typeface="inter-regul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7250" y="731520"/>
            <a:ext cx="10270998" cy="5440680"/>
          </a:xfrm>
        </p:spPr>
        <p:txBody>
          <a:bodyPr/>
          <a:lstStyle/>
          <a:p>
            <a:pPr marL="0" indent="0" algn="just">
              <a:buNone/>
            </a:pPr>
            <a:r>
              <a:rPr lang="en-US" sz="3200" b="1" i="0" dirty="0">
                <a:effectLst/>
                <a:latin typeface="erdana"/>
              </a:rPr>
              <a:t>SIMD</a:t>
            </a:r>
            <a:endParaRPr lang="en-US" sz="3200" b="1" i="0" dirty="0">
              <a:effectLst/>
              <a:latin typeface="erdana"/>
            </a:endParaRPr>
          </a:p>
          <a:p>
            <a:pPr algn="just"/>
            <a:r>
              <a:rPr lang="en-US" sz="2800" b="1" i="0" dirty="0">
                <a:solidFill>
                  <a:srgbClr val="333333"/>
                </a:solidFill>
                <a:effectLst/>
                <a:latin typeface="inter-bold"/>
              </a:rPr>
              <a:t>SIMD</a:t>
            </a:r>
            <a:r>
              <a:rPr lang="en-US" sz="2800" b="0" i="0" dirty="0">
                <a:solidFill>
                  <a:srgbClr val="333333"/>
                </a:solidFill>
                <a:effectLst/>
                <a:latin typeface="inter-regular"/>
              </a:rPr>
              <a:t> stands for </a:t>
            </a:r>
            <a:r>
              <a:rPr lang="en-US" sz="2800" b="1" i="1" dirty="0">
                <a:solidFill>
                  <a:srgbClr val="333333"/>
                </a:solidFill>
                <a:effectLst/>
                <a:latin typeface="inter-bold"/>
              </a:rPr>
              <a:t>'Single Instruction and Multiple Data Stream'</a:t>
            </a:r>
            <a:r>
              <a:rPr lang="en-US" sz="2800" b="0" i="0" dirty="0">
                <a:solidFill>
                  <a:srgbClr val="333333"/>
                </a:solidFill>
                <a:effectLst/>
                <a:latin typeface="inter-regular"/>
              </a:rPr>
              <a:t>. It represents an organization that includes many processing units under the supervision of a common control unit.</a:t>
            </a:r>
            <a:endParaRPr lang="en-US" sz="2800" b="0" i="0" dirty="0">
              <a:solidFill>
                <a:srgbClr val="333333"/>
              </a:solidFill>
              <a:effectLst/>
              <a:latin typeface="inter-regular"/>
            </a:endParaRPr>
          </a:p>
          <a:p>
            <a:pPr algn="just"/>
            <a:r>
              <a:rPr lang="en-US" sz="2800" b="0" i="0" dirty="0">
                <a:solidFill>
                  <a:srgbClr val="333333"/>
                </a:solidFill>
                <a:effectLst/>
                <a:latin typeface="inter-regular"/>
              </a:rPr>
              <a:t>All processors receive the same instruction from the control unit but operate on different items of data.</a:t>
            </a:r>
            <a:endParaRPr lang="en-US" sz="2800" b="0" i="0" dirty="0">
              <a:solidFill>
                <a:srgbClr val="333333"/>
              </a:solidFill>
              <a:effectLst/>
              <a:latin typeface="inter-regular"/>
            </a:endParaRPr>
          </a:p>
          <a:p>
            <a:pPr algn="just"/>
            <a:r>
              <a:rPr lang="en-US" sz="2800" b="0" i="0" dirty="0">
                <a:solidFill>
                  <a:srgbClr val="333333"/>
                </a:solidFill>
                <a:effectLst/>
                <a:latin typeface="inter-regular"/>
              </a:rPr>
              <a:t>The shared memory unit must contain multiple modules so that it can communicate with all the processors simultaneously.</a:t>
            </a:r>
            <a:endParaRPr lang="en-US" sz="2800" b="0" i="0" dirty="0">
              <a:solidFill>
                <a:srgbClr val="333333"/>
              </a:solidFill>
              <a:effectLst/>
              <a:latin typeface="inter-regular"/>
            </a:endParaRP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IMD"/>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2528196" y="1245870"/>
            <a:ext cx="6064724" cy="49263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7240" y="605790"/>
            <a:ext cx="10351008" cy="5566410"/>
          </a:xfrm>
        </p:spPr>
        <p:txBody>
          <a:bodyPr>
            <a:normAutofit/>
          </a:bodyPr>
          <a:lstStyle/>
          <a:p>
            <a:pPr marL="0" indent="0" algn="just">
              <a:buNone/>
            </a:pPr>
            <a:r>
              <a:rPr lang="en-US" sz="2800" b="0" i="0" dirty="0">
                <a:effectLst/>
                <a:latin typeface="erdana"/>
              </a:rPr>
              <a:t>MISD</a:t>
            </a:r>
            <a:endParaRPr lang="en-US" sz="2800" b="0" i="0" dirty="0">
              <a:effectLst/>
              <a:latin typeface="erdana"/>
            </a:endParaRPr>
          </a:p>
          <a:p>
            <a:pPr algn="just"/>
            <a:r>
              <a:rPr lang="en-US" sz="2400" b="1" i="0" dirty="0">
                <a:solidFill>
                  <a:srgbClr val="333333"/>
                </a:solidFill>
                <a:effectLst/>
                <a:latin typeface="inter-bold"/>
              </a:rPr>
              <a:t>MISD</a:t>
            </a:r>
            <a:r>
              <a:rPr lang="en-US" sz="2400" b="0" i="0" dirty="0">
                <a:solidFill>
                  <a:srgbClr val="333333"/>
                </a:solidFill>
                <a:effectLst/>
                <a:latin typeface="inter-regular"/>
              </a:rPr>
              <a:t> stands for </a:t>
            </a:r>
            <a:r>
              <a:rPr lang="en-US" sz="2400" b="1" i="1" dirty="0">
                <a:solidFill>
                  <a:srgbClr val="333333"/>
                </a:solidFill>
                <a:effectLst/>
                <a:latin typeface="inter-bold"/>
              </a:rPr>
              <a:t>'Multiple Instruction and Single Data stream'</a:t>
            </a:r>
            <a:r>
              <a:rPr lang="en-US" sz="2400" b="0" i="0" dirty="0">
                <a:solidFill>
                  <a:srgbClr val="333333"/>
                </a:solidFill>
                <a:effectLst/>
                <a:latin typeface="inter-regular"/>
              </a:rPr>
              <a:t>.</a:t>
            </a:r>
            <a:endParaRPr lang="en-US" sz="2400" b="0" i="0" dirty="0">
              <a:solidFill>
                <a:srgbClr val="333333"/>
              </a:solidFill>
              <a:effectLst/>
              <a:latin typeface="inter-regular"/>
            </a:endParaRPr>
          </a:p>
          <a:p>
            <a:pPr algn="just"/>
            <a:r>
              <a:rPr lang="en-US" sz="2400" b="0" i="0" dirty="0">
                <a:solidFill>
                  <a:srgbClr val="333333"/>
                </a:solidFill>
                <a:effectLst/>
                <a:latin typeface="inter-regular"/>
              </a:rPr>
              <a:t>MISD structure is only of theoretical interest since no practical system has been constructed using this organization.</a:t>
            </a:r>
            <a:endParaRPr lang="en-US" sz="2400" b="0" i="0" dirty="0">
              <a:solidFill>
                <a:srgbClr val="333333"/>
              </a:solidFill>
              <a:effectLst/>
              <a:latin typeface="inter-regular"/>
            </a:endParaRPr>
          </a:p>
          <a:p>
            <a:pPr algn="just"/>
            <a:r>
              <a:rPr lang="en-US" sz="2400" b="0" i="0" dirty="0">
                <a:solidFill>
                  <a:srgbClr val="333333"/>
                </a:solidFill>
                <a:effectLst/>
                <a:latin typeface="inter-regular"/>
              </a:rPr>
              <a:t>In MISD, multiple processing units operate on one single-data stream. Each processing unit operates on the data independently via separate instruction stream.</a:t>
            </a:r>
            <a:endParaRPr lang="en-US" sz="2400" b="0" i="0" dirty="0">
              <a:solidFill>
                <a:srgbClr val="333333"/>
              </a:solidFill>
              <a:effectLst/>
              <a:latin typeface="inter-regular"/>
            </a:endParaRPr>
          </a:p>
          <a:p>
            <a:pPr algn="just"/>
            <a:r>
              <a:rPr lang="en-US" sz="2400" b="0" i="0" dirty="0">
                <a:solidFill>
                  <a:srgbClr val="333333"/>
                </a:solidFill>
                <a:effectLst/>
                <a:latin typeface="inter-regular"/>
              </a:rPr>
              <a:t>One processor’s output becomes the input for the following processor. This organization’s debut bring in little notice and wasn’t used in architecture.</a:t>
            </a:r>
            <a:endParaRPr lang="en-US" sz="2400" b="0" i="0" dirty="0">
              <a:solidFill>
                <a:srgbClr val="333333"/>
              </a:solidFill>
              <a:effectLst/>
              <a:latin typeface="inter-regular"/>
            </a:endParaRPr>
          </a:p>
          <a:p>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MISD"/>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2063063" y="1085851"/>
            <a:ext cx="7783647" cy="426678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063062" y="5772149"/>
            <a:ext cx="7355257" cy="369332"/>
          </a:xfrm>
          <a:prstGeom prst="rect">
            <a:avLst/>
          </a:prstGeom>
          <a:noFill/>
        </p:spPr>
        <p:txBody>
          <a:bodyPr wrap="square">
            <a:spAutoFit/>
          </a:bodyPr>
          <a:lstStyle/>
          <a:p>
            <a:r>
              <a:rPr lang="en-US" b="0" i="0" dirty="0">
                <a:solidFill>
                  <a:srgbClr val="000000"/>
                </a:solidFill>
                <a:effectLst/>
                <a:latin typeface="inter-regular"/>
              </a:rPr>
              <a:t>Where, </a:t>
            </a:r>
            <a:r>
              <a:rPr lang="en-US" b="0" i="0" dirty="0">
                <a:solidFill>
                  <a:srgbClr val="FF0000"/>
                </a:solidFill>
                <a:effectLst/>
                <a:latin typeface="inter-regular"/>
              </a:rPr>
              <a:t>M</a:t>
            </a:r>
            <a:r>
              <a:rPr lang="en-US" b="0" i="0" dirty="0">
                <a:solidFill>
                  <a:srgbClr val="000000"/>
                </a:solidFill>
                <a:effectLst/>
                <a:latin typeface="inter-regular"/>
              </a:rPr>
              <a:t> = </a:t>
            </a:r>
            <a:r>
              <a:rPr lang="en-US" b="0" i="0" dirty="0">
                <a:solidFill>
                  <a:srgbClr val="0000FF"/>
                </a:solidFill>
                <a:effectLst/>
                <a:latin typeface="inter-regular"/>
              </a:rPr>
              <a:t>Memory</a:t>
            </a:r>
            <a:r>
              <a:rPr lang="en-US" b="0" i="0" dirty="0">
                <a:solidFill>
                  <a:srgbClr val="000000"/>
                </a:solidFill>
                <a:effectLst/>
                <a:latin typeface="inter-regular"/>
              </a:rPr>
              <a:t> Modules, </a:t>
            </a:r>
            <a:r>
              <a:rPr lang="en-US" b="0" i="0" dirty="0">
                <a:solidFill>
                  <a:srgbClr val="FF0000"/>
                </a:solidFill>
                <a:effectLst/>
                <a:latin typeface="inter-regular"/>
              </a:rPr>
              <a:t>CU</a:t>
            </a:r>
            <a:r>
              <a:rPr lang="en-US" b="0" i="0" dirty="0">
                <a:solidFill>
                  <a:srgbClr val="000000"/>
                </a:solidFill>
                <a:effectLst/>
                <a:latin typeface="inter-regular"/>
              </a:rPr>
              <a:t> = </a:t>
            </a:r>
            <a:r>
              <a:rPr lang="en-US" b="0" i="0" dirty="0">
                <a:solidFill>
                  <a:srgbClr val="0000FF"/>
                </a:solidFill>
                <a:effectLst/>
                <a:latin typeface="inter-regular"/>
              </a:rPr>
              <a:t>Control</a:t>
            </a:r>
            <a:r>
              <a:rPr lang="en-US" b="0" i="0" dirty="0">
                <a:solidFill>
                  <a:srgbClr val="000000"/>
                </a:solidFill>
                <a:effectLst/>
                <a:latin typeface="inter-regular"/>
              </a:rPr>
              <a:t> Unit, </a:t>
            </a:r>
            <a:r>
              <a:rPr lang="en-US" b="0" i="0" dirty="0">
                <a:solidFill>
                  <a:srgbClr val="FF0000"/>
                </a:solidFill>
                <a:effectLst/>
                <a:latin typeface="inter-regular"/>
              </a:rPr>
              <a:t>P</a:t>
            </a:r>
            <a:r>
              <a:rPr lang="en-US" b="0" i="0" dirty="0">
                <a:solidFill>
                  <a:srgbClr val="000000"/>
                </a:solidFill>
                <a:effectLst/>
                <a:latin typeface="inter-regular"/>
              </a:rPr>
              <a:t> = </a:t>
            </a:r>
            <a:r>
              <a:rPr lang="en-US" b="0" i="0" dirty="0">
                <a:solidFill>
                  <a:srgbClr val="0000FF"/>
                </a:solidFill>
                <a:effectLst/>
                <a:latin typeface="inter-regular"/>
              </a:rPr>
              <a:t>Processor</a:t>
            </a:r>
            <a:r>
              <a:rPr lang="en-US" b="0" i="0" dirty="0">
                <a:solidFill>
                  <a:srgbClr val="000000"/>
                </a:solidFill>
                <a:effectLst/>
                <a:latin typeface="inter-regular"/>
              </a:rPr>
              <a:t> Units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5810" y="720090"/>
            <a:ext cx="10362438" cy="5452110"/>
          </a:xfrm>
        </p:spPr>
        <p:txBody>
          <a:bodyPr/>
          <a:lstStyle/>
          <a:p>
            <a:pPr marL="0" indent="0" algn="just">
              <a:buNone/>
            </a:pPr>
            <a:r>
              <a:rPr lang="en-US" sz="2800" b="0" i="0" dirty="0">
                <a:effectLst/>
                <a:latin typeface="erdana"/>
              </a:rPr>
              <a:t>MIMD</a:t>
            </a:r>
            <a:endParaRPr lang="en-US" sz="2800" b="0" i="0" dirty="0">
              <a:effectLst/>
              <a:latin typeface="erdana"/>
            </a:endParaRPr>
          </a:p>
          <a:p>
            <a:pPr algn="just"/>
            <a:r>
              <a:rPr lang="en-US" sz="2400" b="1" i="0" dirty="0">
                <a:solidFill>
                  <a:srgbClr val="333333"/>
                </a:solidFill>
                <a:effectLst/>
                <a:latin typeface="inter-bold"/>
              </a:rPr>
              <a:t>MIMD</a:t>
            </a:r>
            <a:r>
              <a:rPr lang="en-US" sz="2400" b="0" i="0" dirty="0">
                <a:solidFill>
                  <a:srgbClr val="333333"/>
                </a:solidFill>
                <a:effectLst/>
                <a:latin typeface="inter-regular"/>
              </a:rPr>
              <a:t> stands for </a:t>
            </a:r>
            <a:r>
              <a:rPr lang="en-US" sz="2400" b="1" i="1" dirty="0">
                <a:solidFill>
                  <a:srgbClr val="333333"/>
                </a:solidFill>
                <a:effectLst/>
                <a:latin typeface="inter-bold"/>
              </a:rPr>
              <a:t>'Multiple Instruction and Multiple Data Stream'</a:t>
            </a:r>
            <a:r>
              <a:rPr lang="en-US" sz="2400" b="0" i="0" dirty="0">
                <a:solidFill>
                  <a:srgbClr val="333333"/>
                </a:solidFill>
                <a:effectLst/>
                <a:latin typeface="inter-regular"/>
              </a:rPr>
              <a:t>.</a:t>
            </a:r>
            <a:endParaRPr lang="en-US" sz="2400" b="0" i="0" dirty="0">
              <a:solidFill>
                <a:srgbClr val="333333"/>
              </a:solidFill>
              <a:effectLst/>
              <a:latin typeface="inter-regular"/>
            </a:endParaRPr>
          </a:p>
          <a:p>
            <a:pPr algn="just"/>
            <a:r>
              <a:rPr lang="en-US" sz="2400" b="0" i="0" dirty="0">
                <a:solidFill>
                  <a:srgbClr val="333333"/>
                </a:solidFill>
                <a:effectLst/>
                <a:latin typeface="inter-regular"/>
              </a:rPr>
              <a:t>In this organization, all processors in a parallel computer can execute different instructions and operate on various data at the same time.</a:t>
            </a:r>
            <a:endParaRPr lang="en-US" sz="2400" b="0" i="0" dirty="0">
              <a:solidFill>
                <a:srgbClr val="333333"/>
              </a:solidFill>
              <a:effectLst/>
              <a:latin typeface="inter-regular"/>
            </a:endParaRPr>
          </a:p>
          <a:p>
            <a:pPr algn="just"/>
            <a:r>
              <a:rPr lang="en-US" sz="2400" b="0" i="0" dirty="0">
                <a:solidFill>
                  <a:srgbClr val="333333"/>
                </a:solidFill>
                <a:effectLst/>
                <a:latin typeface="inter-regular"/>
              </a:rPr>
              <a:t>In MIMD, each processor has a separate program and an instruction stream is generated from each program.</a:t>
            </a:r>
            <a:endParaRPr lang="en-US" sz="2400" b="0" i="0" dirty="0">
              <a:solidFill>
                <a:srgbClr val="333333"/>
              </a:solidFill>
              <a:effectLst/>
              <a:latin typeface="inter-regular"/>
            </a:endParaRP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IMD"/>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2093139" y="563343"/>
            <a:ext cx="7545208" cy="422582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840230" y="5117515"/>
            <a:ext cx="8175307" cy="369332"/>
          </a:xfrm>
          <a:prstGeom prst="rect">
            <a:avLst/>
          </a:prstGeom>
          <a:noFill/>
        </p:spPr>
        <p:txBody>
          <a:bodyPr wrap="square">
            <a:spAutoFit/>
          </a:bodyPr>
          <a:lstStyle/>
          <a:p>
            <a:pPr algn="just"/>
            <a:r>
              <a:rPr lang="en-US" b="0" i="0" dirty="0">
                <a:solidFill>
                  <a:srgbClr val="000000"/>
                </a:solidFill>
                <a:effectLst/>
                <a:latin typeface="inter-regular"/>
              </a:rPr>
              <a:t>Where, </a:t>
            </a:r>
            <a:r>
              <a:rPr lang="en-US" b="0" i="0" dirty="0">
                <a:solidFill>
                  <a:srgbClr val="FF0000"/>
                </a:solidFill>
                <a:effectLst/>
                <a:latin typeface="inter-regular"/>
              </a:rPr>
              <a:t>M</a:t>
            </a:r>
            <a:r>
              <a:rPr lang="en-US" b="0" i="0" dirty="0">
                <a:solidFill>
                  <a:srgbClr val="000000"/>
                </a:solidFill>
                <a:effectLst/>
                <a:latin typeface="inter-regular"/>
              </a:rPr>
              <a:t> = </a:t>
            </a:r>
            <a:r>
              <a:rPr lang="en-US" b="0" i="0" dirty="0">
                <a:solidFill>
                  <a:srgbClr val="0000FF"/>
                </a:solidFill>
                <a:effectLst/>
                <a:latin typeface="inter-regular"/>
              </a:rPr>
              <a:t>Memory</a:t>
            </a:r>
            <a:r>
              <a:rPr lang="en-US" b="0" i="0" dirty="0">
                <a:solidFill>
                  <a:srgbClr val="000000"/>
                </a:solidFill>
                <a:effectLst/>
                <a:latin typeface="inter-regular"/>
              </a:rPr>
              <a:t> Module, </a:t>
            </a:r>
            <a:r>
              <a:rPr lang="en-US" b="0" i="0" dirty="0">
                <a:solidFill>
                  <a:srgbClr val="FF0000"/>
                </a:solidFill>
                <a:effectLst/>
                <a:latin typeface="inter-regular"/>
              </a:rPr>
              <a:t>PE</a:t>
            </a:r>
            <a:r>
              <a:rPr lang="en-US" b="0" i="0" dirty="0">
                <a:solidFill>
                  <a:srgbClr val="000000"/>
                </a:solidFill>
                <a:effectLst/>
                <a:latin typeface="inter-regular"/>
              </a:rPr>
              <a:t> = </a:t>
            </a:r>
            <a:r>
              <a:rPr lang="en-US" b="0" i="0" dirty="0">
                <a:solidFill>
                  <a:srgbClr val="0000FF"/>
                </a:solidFill>
                <a:effectLst/>
                <a:latin typeface="inter-regular"/>
              </a:rPr>
              <a:t>Processing</a:t>
            </a:r>
            <a:r>
              <a:rPr lang="en-US" b="0" i="0" dirty="0">
                <a:solidFill>
                  <a:srgbClr val="000000"/>
                </a:solidFill>
                <a:effectLst/>
                <a:latin typeface="inter-regular"/>
              </a:rPr>
              <a:t> Element, and </a:t>
            </a:r>
            <a:r>
              <a:rPr lang="en-US" b="0" i="0" dirty="0">
                <a:solidFill>
                  <a:srgbClr val="FF0000"/>
                </a:solidFill>
                <a:effectLst/>
                <a:latin typeface="inter-regular"/>
              </a:rPr>
              <a:t>CU</a:t>
            </a:r>
            <a:r>
              <a:rPr lang="en-US" b="0" i="0" dirty="0">
                <a:solidFill>
                  <a:srgbClr val="000000"/>
                </a:solidFill>
                <a:effectLst/>
                <a:latin typeface="inter-regular"/>
              </a:rPr>
              <a:t> = </a:t>
            </a:r>
            <a:r>
              <a:rPr lang="en-US" b="0" i="0" dirty="0">
                <a:solidFill>
                  <a:srgbClr val="0000FF"/>
                </a:solidFill>
                <a:effectLst/>
                <a:latin typeface="inter-regular"/>
              </a:rPr>
              <a:t>Control</a:t>
            </a:r>
            <a:r>
              <a:rPr lang="en-US" b="0" i="0" dirty="0">
                <a:solidFill>
                  <a:srgbClr val="000000"/>
                </a:solidFill>
                <a:effectLst/>
                <a:latin typeface="inter-regular"/>
              </a:rPr>
              <a:t> Unit  </a:t>
            </a:r>
            <a:endParaRPr lang="en-US" b="0" i="0" dirty="0">
              <a:solidFill>
                <a:srgbClr val="000000"/>
              </a:solidFill>
              <a:effectLst/>
              <a:latin typeface="inter-regular"/>
            </a:endParaRPr>
          </a:p>
        </p:txBody>
      </p:sp>
      <p:sp>
        <p:nvSpPr>
          <p:cNvPr id="7" name="TextBox 6"/>
          <p:cNvSpPr txBox="1"/>
          <p:nvPr/>
        </p:nvSpPr>
        <p:spPr>
          <a:xfrm>
            <a:off x="1840230" y="5648326"/>
            <a:ext cx="6097904" cy="646331"/>
          </a:xfrm>
          <a:prstGeom prst="rect">
            <a:avLst/>
          </a:prstGeom>
          <a:noFill/>
        </p:spPr>
        <p:txBody>
          <a:bodyPr wrap="square">
            <a:spAutoFit/>
          </a:bodyPr>
          <a:lstStyle/>
          <a:p>
            <a:pPr algn="just"/>
            <a:r>
              <a:rPr lang="fr-FR" b="1" i="0" dirty="0" err="1">
                <a:solidFill>
                  <a:srgbClr val="333333"/>
                </a:solidFill>
                <a:effectLst/>
                <a:latin typeface="inter-bold"/>
              </a:rPr>
              <a:t>Examples</a:t>
            </a:r>
            <a:r>
              <a:rPr lang="fr-FR" b="1" i="0" dirty="0">
                <a:solidFill>
                  <a:srgbClr val="333333"/>
                </a:solidFill>
                <a:effectLst/>
                <a:latin typeface="inter-bold"/>
              </a:rPr>
              <a:t>:</a:t>
            </a:r>
            <a:endParaRPr lang="fr-FR" b="0" i="0" dirty="0">
              <a:solidFill>
                <a:srgbClr val="333333"/>
              </a:solidFill>
              <a:effectLst/>
              <a:latin typeface="inter-regular"/>
            </a:endParaRPr>
          </a:p>
          <a:p>
            <a:pPr algn="just"/>
            <a:r>
              <a:rPr lang="fr-FR" b="0" i="0" dirty="0" err="1">
                <a:solidFill>
                  <a:srgbClr val="333333"/>
                </a:solidFill>
                <a:effectLst/>
                <a:latin typeface="inter-regular"/>
              </a:rPr>
              <a:t>Cray</a:t>
            </a:r>
            <a:r>
              <a:rPr lang="fr-FR" b="0" i="0" dirty="0">
                <a:solidFill>
                  <a:srgbClr val="333333"/>
                </a:solidFill>
                <a:effectLst/>
                <a:latin typeface="inter-regular"/>
              </a:rPr>
              <a:t> T90, </a:t>
            </a:r>
            <a:r>
              <a:rPr lang="fr-FR" b="0" i="0" dirty="0" err="1">
                <a:solidFill>
                  <a:srgbClr val="333333"/>
                </a:solidFill>
                <a:effectLst/>
                <a:latin typeface="inter-regular"/>
              </a:rPr>
              <a:t>Cray</a:t>
            </a:r>
            <a:r>
              <a:rPr lang="fr-FR" b="0" i="0" dirty="0">
                <a:solidFill>
                  <a:srgbClr val="333333"/>
                </a:solidFill>
                <a:effectLst/>
                <a:latin typeface="inter-regular"/>
              </a:rPr>
              <a:t> T3E, IBM-SP2</a:t>
            </a:r>
            <a:endParaRPr lang="fr-FR" b="0" i="0" dirty="0">
              <a:solidFill>
                <a:srgbClr val="333333"/>
              </a:solidFill>
              <a:effectLst/>
              <a:latin typeface="inter-regul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6005322" cy="1058418"/>
          </a:xfrm>
        </p:spPr>
        <p:txBody>
          <a:bodyPr>
            <a:normAutofit/>
          </a:bodyPr>
          <a:lstStyle/>
          <a:p>
            <a:r>
              <a:rPr lang="en-US" sz="6000" dirty="0"/>
              <a:t>PIPELINING</a:t>
            </a:r>
            <a:endParaRPr lang="en-US" sz="6000" dirty="0"/>
          </a:p>
        </p:txBody>
      </p:sp>
      <p:sp>
        <p:nvSpPr>
          <p:cNvPr id="3" name="Content Placeholder 2"/>
          <p:cNvSpPr>
            <a:spLocks noGrp="1"/>
          </p:cNvSpPr>
          <p:nvPr>
            <p:ph idx="1"/>
          </p:nvPr>
        </p:nvSpPr>
        <p:spPr>
          <a:xfrm>
            <a:off x="857250" y="1428750"/>
            <a:ext cx="10270998" cy="4743450"/>
          </a:xfrm>
        </p:spPr>
        <p:txBody>
          <a:bodyPr>
            <a:normAutofit lnSpcReduction="10000"/>
          </a:bodyPr>
          <a:lstStyle/>
          <a:p>
            <a:pPr algn="l">
              <a:spcAft>
                <a:spcPts val="1500"/>
              </a:spcAft>
            </a:pPr>
            <a:r>
              <a:rPr lang="en-US" sz="2200" b="0" i="0" dirty="0">
                <a:solidFill>
                  <a:srgbClr val="222222"/>
                </a:solidFill>
                <a:effectLst/>
                <a:latin typeface="Lato" panose="020F0502020204030203" pitchFamily="34" charset="0"/>
              </a:rPr>
              <a:t>Have you ever visited an industrial plant and see the assembly lines over there? How a product passes through the assembly line and while passing it is worked on, at different phases simultaneously. For </a:t>
            </a:r>
            <a:r>
              <a:rPr lang="en-US" sz="2200" b="1" i="0" dirty="0">
                <a:solidFill>
                  <a:srgbClr val="222222"/>
                </a:solidFill>
                <a:effectLst/>
                <a:latin typeface="Lato" panose="020F0502020204030203" pitchFamily="34" charset="0"/>
              </a:rPr>
              <a:t>example</a:t>
            </a:r>
            <a:r>
              <a:rPr lang="en-US" sz="2200" b="0" i="0" dirty="0">
                <a:solidFill>
                  <a:srgbClr val="222222"/>
                </a:solidFill>
                <a:effectLst/>
                <a:latin typeface="Lato" panose="020F0502020204030203" pitchFamily="34" charset="0"/>
              </a:rPr>
              <a:t>, take a car manufacturing plant. At the first stage, the automobile chassis is prepared, in the next stage workers add body to the chassis, further, the engine is installed, then painting work is done and so on.</a:t>
            </a:r>
            <a:endParaRPr lang="en-US" sz="2200" b="0" i="0" dirty="0">
              <a:solidFill>
                <a:srgbClr val="222222"/>
              </a:solidFill>
              <a:effectLst/>
              <a:latin typeface="Lato" panose="020F0502020204030203" pitchFamily="34" charset="0"/>
            </a:endParaRPr>
          </a:p>
          <a:p>
            <a:pPr algn="l">
              <a:spcAft>
                <a:spcPts val="1500"/>
              </a:spcAft>
            </a:pPr>
            <a:r>
              <a:rPr lang="en-US" sz="2200" b="0" i="0" dirty="0">
                <a:solidFill>
                  <a:srgbClr val="222222"/>
                </a:solidFill>
                <a:effectLst/>
                <a:latin typeface="Lato" panose="020F0502020204030203" pitchFamily="34" charset="0"/>
              </a:rPr>
              <a:t>The group of workers after working on the chassis of the first car don’t sit idle. They start working on the chassis of the next car. And the next group take the chassis of the car and add body to it. The same thing is repeated at every stage, after finishing the work on the current car body they take on next car body which is the output of the previous stage.</a:t>
            </a:r>
            <a:endParaRPr lang="en-US" sz="2200" b="0" i="0" dirty="0">
              <a:solidFill>
                <a:srgbClr val="222222"/>
              </a:solidFill>
              <a:effectLst/>
              <a:latin typeface="Lato" panose="020F0502020204030203" pitchFamily="34" charset="0"/>
            </a:endParaRPr>
          </a:p>
          <a:p>
            <a:pPr algn="l">
              <a:spcAft>
                <a:spcPts val="1500"/>
              </a:spcAft>
            </a:pPr>
            <a:r>
              <a:rPr lang="en-US" sz="2200" b="0" i="0" dirty="0">
                <a:solidFill>
                  <a:srgbClr val="222222"/>
                </a:solidFill>
                <a:effectLst/>
                <a:latin typeface="Lato" panose="020F0502020204030203" pitchFamily="34" charset="0"/>
              </a:rPr>
              <a:t>Here, though the first car is completed in several hours or days, due to the assembly line arrangement it becomes possible to have a new car at the end of an assembly line in every clock cycle.</a:t>
            </a:r>
            <a:endParaRPr lang="en-US" sz="2200" b="0" i="0" dirty="0">
              <a:solidFill>
                <a:srgbClr val="222222"/>
              </a:solidFill>
              <a:effectLst/>
              <a:latin typeface="Lato" panose="020F0502020204030203" pitchFamily="34" charset="0"/>
            </a:endParaRP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2930" y="994410"/>
            <a:ext cx="10545318" cy="5177790"/>
          </a:xfrm>
        </p:spPr>
        <p:txBody>
          <a:bodyPr>
            <a:normAutofit/>
          </a:bodyPr>
          <a:lstStyle/>
          <a:p>
            <a:pPr marL="0" indent="0">
              <a:buNone/>
            </a:pPr>
            <a:endParaRPr lang="en-US" sz="2800" b="1" i="0" dirty="0">
              <a:solidFill>
                <a:srgbClr val="273239"/>
              </a:solidFill>
              <a:effectLst/>
              <a:latin typeface="Nunito" pitchFamily="2" charset="0"/>
            </a:endParaRPr>
          </a:p>
          <a:p>
            <a:r>
              <a:rPr lang="en-US" sz="2800" b="0" i="0" dirty="0">
                <a:solidFill>
                  <a:srgbClr val="273239"/>
                </a:solidFill>
                <a:effectLst/>
                <a:latin typeface="Nunito" pitchFamily="2" charset="0"/>
              </a:rPr>
              <a:t>In our computer system, in order to improve the performance of a CPU we have two options: </a:t>
            </a:r>
            <a:endParaRPr lang="en-US" sz="2800" b="0" i="0" dirty="0">
              <a:solidFill>
                <a:srgbClr val="273239"/>
              </a:solidFill>
              <a:effectLst/>
              <a:latin typeface="Nunito" pitchFamily="2" charset="0"/>
            </a:endParaRPr>
          </a:p>
          <a:p>
            <a:r>
              <a:rPr lang="en-US" sz="2800" b="0" i="0" dirty="0">
                <a:solidFill>
                  <a:srgbClr val="273239"/>
                </a:solidFill>
                <a:effectLst/>
                <a:latin typeface="Nunito" pitchFamily="2" charset="0"/>
              </a:rPr>
              <a:t>First option is to, improve the hardware by introducing faster circuits. </a:t>
            </a:r>
            <a:endParaRPr lang="en-US" sz="2800" b="0" i="0" dirty="0">
              <a:solidFill>
                <a:srgbClr val="273239"/>
              </a:solidFill>
              <a:effectLst/>
              <a:latin typeface="Nunito" pitchFamily="2" charset="0"/>
            </a:endParaRPr>
          </a:p>
          <a:p>
            <a:r>
              <a:rPr lang="en-US" sz="2800" b="0" i="0" dirty="0">
                <a:solidFill>
                  <a:srgbClr val="273239"/>
                </a:solidFill>
                <a:effectLst/>
                <a:latin typeface="Nunito" pitchFamily="2" charset="0"/>
              </a:rPr>
              <a:t>Second option it to arrange the hardware such that more than one operation can be performed at the same time. </a:t>
            </a:r>
            <a:endParaRPr lang="en-US" sz="2800" b="0" i="0" dirty="0">
              <a:solidFill>
                <a:srgbClr val="273239"/>
              </a:solidFill>
              <a:effectLst/>
              <a:latin typeface="Nunito" pitchFamily="2" charset="0"/>
            </a:endParaRPr>
          </a:p>
          <a:p>
            <a:r>
              <a:rPr lang="en-US" sz="2800" b="0" i="0" dirty="0">
                <a:solidFill>
                  <a:srgbClr val="273239"/>
                </a:solidFill>
                <a:effectLst/>
                <a:latin typeface="Nunito" pitchFamily="2" charset="0"/>
              </a:rPr>
              <a:t>Since there is a limit on the speed of hardware and the cost of faster circuits is quite high, 2</a:t>
            </a:r>
            <a:r>
              <a:rPr lang="en-US" sz="2800" b="0" i="0" baseline="30000" dirty="0">
                <a:solidFill>
                  <a:srgbClr val="273239"/>
                </a:solidFill>
                <a:effectLst/>
                <a:latin typeface="Nunito" pitchFamily="2" charset="0"/>
              </a:rPr>
              <a:t>nd</a:t>
            </a:r>
            <a:r>
              <a:rPr lang="en-US" sz="2800" b="0" i="0" dirty="0">
                <a:solidFill>
                  <a:srgbClr val="273239"/>
                </a:solidFill>
                <a:effectLst/>
                <a:latin typeface="Nunito" pitchFamily="2" charset="0"/>
              </a:rPr>
              <a:t> option is the best one.</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7250" y="628650"/>
            <a:ext cx="10270998" cy="5543550"/>
          </a:xfrm>
        </p:spPr>
        <p:txBody>
          <a:bodyPr>
            <a:normAutofit/>
          </a:bodyPr>
          <a:lstStyle/>
          <a:p>
            <a:r>
              <a:rPr lang="en-US" sz="2400" dirty="0"/>
              <a:t>Pipelining is the process of storing and prioritizing computer instructions that the processor executes. The pipeline is a "logical pipeline" that lets the processor perform an instruction in multiple steps. The processing happens in a continuous, orderly, somewhat overlapped manner.</a:t>
            </a:r>
            <a:endParaRPr lang="en-US" sz="2400" dirty="0"/>
          </a:p>
          <a:p>
            <a:r>
              <a:rPr lang="en-US" sz="2400" dirty="0"/>
              <a:t>In computing, pipelining is also known as pipeline processing. It is sometimes compared to a manufacturing assembly line in which different parts of a product are assembled simultaneously, even though some parts may have to be assembled before others. </a:t>
            </a:r>
            <a:endParaRPr lang="en-US" sz="2400" dirty="0"/>
          </a:p>
          <a:p>
            <a:r>
              <a:rPr lang="en-US" sz="2400" dirty="0"/>
              <a:t>Even if there is some sequential dependency, many operations can proceed concurrently, which facilitates overall time savings.</a:t>
            </a:r>
            <a:endParaRPr lang="en-US" sz="2400" dirty="0"/>
          </a:p>
          <a:p>
            <a:r>
              <a:rPr lang="en-US" sz="2400" dirty="0"/>
              <a:t>Pipelining creates and organizes a pipeline of instructions the processor can execute in parallel.</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2980" y="1028700"/>
            <a:ext cx="10145268" cy="5143500"/>
          </a:xfrm>
        </p:spPr>
        <p:txBody>
          <a:bodyPr>
            <a:normAutofit/>
          </a:bodyPr>
          <a:lstStyle/>
          <a:p>
            <a:r>
              <a:rPr lang="en-US" sz="2400" dirty="0"/>
              <a:t>The pipeline is divided into logical stages connected to each other to form a pipelike structure. Instructions enter from one end and exit from the other.</a:t>
            </a:r>
            <a:endParaRPr lang="en-US" sz="2400" dirty="0"/>
          </a:p>
          <a:p>
            <a:r>
              <a:rPr lang="en-US" sz="2400" dirty="0"/>
              <a:t>Pipelining is an ongoing, continuous process in which new instructions, or tasks, are added to the pipeline and completed tasks are removed at a specified time after processing completes. </a:t>
            </a:r>
            <a:endParaRPr lang="en-US" sz="2400" dirty="0"/>
          </a:p>
          <a:p>
            <a:r>
              <a:rPr lang="en-US" sz="2400" dirty="0"/>
              <a:t>The processor executes all the tasks in the pipeline in parallel, giving them the appropriate time based on their complexity and priority. Any tasks or instructions that require processor time or power due to their size or complexity can be added to the pipeline to speed up processing.</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4380" y="342900"/>
            <a:ext cx="10373868" cy="5829300"/>
          </a:xfrm>
        </p:spPr>
        <p:txBody>
          <a:bodyPr>
            <a:normAutofit/>
          </a:bodyPr>
          <a:lstStyle/>
          <a:p>
            <a:endParaRPr lang="en-US" dirty="0"/>
          </a:p>
          <a:p>
            <a:pPr marL="0" indent="0">
              <a:buNone/>
            </a:pPr>
            <a:r>
              <a:rPr lang="en-US" b="1" dirty="0"/>
              <a:t>How pipelining works</a:t>
            </a:r>
            <a:endParaRPr lang="en-US" b="1" dirty="0"/>
          </a:p>
          <a:p>
            <a:r>
              <a:rPr lang="en-US" dirty="0"/>
              <a:t>Without a pipeline, the processor would get the first instruction from memory and perform the operation it calls for. It would then get the next instruction from memory and so on. While fetching the instruction, the arithmetic part of the processor is idle, which means it must wait until it gets the next instruction. This delays processing and introduces latency.</a:t>
            </a:r>
            <a:endParaRPr lang="en-US" dirty="0"/>
          </a:p>
          <a:p>
            <a:r>
              <a:rPr lang="en-US" dirty="0"/>
              <a:t>With pipelining, the next instructions can be fetched even while the processor is performing arithmetic operations. These instructions are held in a buffer close to the processor until the operation for each instruction is performed. This staging of instruction fetching happens continuously, increasing the number of instructions that can be performed in a given period.</a:t>
            </a:r>
            <a:endParaRPr lang="en-US" dirty="0"/>
          </a:p>
          <a:p>
            <a:r>
              <a:rPr lang="en-US" dirty="0"/>
              <a:t>Within the pipeline, each task is subdivided into multiple successive subtasks. A pipeline phase is defined for each subtask to execute its operations. Like a manufacturing assembly line, each stage or segment receives its input from the previous stage and then transfers its output to the next stage. The process continues until the processor has executed all the instructions and all subtasks are completed.</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7250" y="251460"/>
            <a:ext cx="10270998" cy="5326380"/>
          </a:xfrm>
        </p:spPr>
        <p:txBody>
          <a:bodyPr/>
          <a:lstStyle/>
          <a:p>
            <a:r>
              <a:rPr lang="en-US" dirty="0"/>
              <a:t>In the pipeline, each segment consists of an input register that holds data and a combinational circuit that performs operations. The output of the circuit is then applied to the input register of the next segment of the pipeline. Here are the steps in the process:</a:t>
            </a:r>
            <a:endParaRPr lang="en-US" dirty="0"/>
          </a:p>
          <a:p>
            <a:r>
              <a:rPr lang="en-US" dirty="0"/>
              <a:t>Fetch instructions from memory.</a:t>
            </a:r>
            <a:endParaRPr lang="en-US" dirty="0"/>
          </a:p>
          <a:p>
            <a:r>
              <a:rPr lang="en-US" dirty="0"/>
              <a:t>Read the input register, and decode the instruction.</a:t>
            </a:r>
            <a:endParaRPr lang="en-US" dirty="0"/>
          </a:p>
          <a:p>
            <a:r>
              <a:rPr lang="en-US" dirty="0"/>
              <a:t>Execute the instruction.</a:t>
            </a:r>
            <a:endParaRPr lang="en-US" dirty="0"/>
          </a:p>
          <a:p>
            <a:r>
              <a:rPr lang="en-US" dirty="0"/>
              <a:t>Access an operand in data memory.</a:t>
            </a:r>
            <a:endParaRPr lang="en-US" dirty="0"/>
          </a:p>
          <a:p>
            <a:r>
              <a:rPr lang="en-US" dirty="0"/>
              <a:t>Write the result of the operation into the input register of the next segment.</a:t>
            </a:r>
            <a:endParaRPr lang="en-US" dirty="0"/>
          </a:p>
          <a:p>
            <a:endParaRPr lang="en-US" dirty="0"/>
          </a:p>
        </p:txBody>
      </p:sp>
      <p:pic>
        <p:nvPicPr>
          <p:cNvPr id="2050" name="Picture 2" descr="Concept of Pipelining | Computer Architecture Tutorial | Studytonigh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36088" y="3836353"/>
            <a:ext cx="6713601" cy="26577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ipelining Instructions"/>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2978785" y="565150"/>
            <a:ext cx="5715000" cy="36195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nstruction Divis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0" y="5068253"/>
            <a:ext cx="5715000" cy="7905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1510" y="445770"/>
            <a:ext cx="10476738" cy="5726430"/>
          </a:xfrm>
        </p:spPr>
        <p:txBody>
          <a:bodyPr>
            <a:normAutofit/>
          </a:bodyPr>
          <a:lstStyle/>
          <a:p>
            <a:r>
              <a:rPr lang="en-US" b="1" dirty="0"/>
              <a:t>Speedup Equation</a:t>
            </a:r>
            <a:endParaRPr lang="en-US" b="1" dirty="0"/>
          </a:p>
          <a:p>
            <a:r>
              <a:rPr lang="en-US" dirty="0"/>
              <a:t>The speedup equation in pipelining is a measure of how much faster a pipelined architecture can execute instructions compared to a non-pipelined architecture. </a:t>
            </a:r>
            <a:endParaRPr lang="en-US" dirty="0"/>
          </a:p>
          <a:p>
            <a:r>
              <a:rPr lang="en-US" dirty="0"/>
              <a:t>It's a fundamental concept in computer architecture, and the basic idea is to divide the execution of instructions into separate stages, allowing multiple instructions to be processed simultaneously. The speedup </a:t>
            </a:r>
            <a:r>
              <a:rPr lang="en-US" b="1" dirty="0"/>
              <a:t>S</a:t>
            </a:r>
            <a:r>
              <a:rPr lang="en-US" dirty="0"/>
              <a:t> is given by:</a:t>
            </a:r>
            <a:endParaRPr lang="en-US" dirty="0"/>
          </a:p>
          <a:p>
            <a:r>
              <a:rPr lang="en-US" dirty="0"/>
              <a:t>S=T1/</a:t>
            </a:r>
            <a:r>
              <a:rPr lang="en-US" dirty="0" err="1"/>
              <a:t>Tp</a:t>
            </a:r>
            <a:endParaRPr lang="en-US" dirty="0"/>
          </a:p>
          <a:p>
            <a:r>
              <a:rPr lang="en-US" dirty="0"/>
              <a:t>where:</a:t>
            </a:r>
            <a:endParaRPr lang="en-US" dirty="0"/>
          </a:p>
          <a:p>
            <a:pPr>
              <a:buFont typeface="Arial" panose="020B0604020202020204" pitchFamily="34" charset="0"/>
              <a:buChar char="•"/>
            </a:pPr>
            <a:r>
              <a:rPr lang="en-US" dirty="0"/>
              <a:t>T1 is the execution time of the program without pipelining (single-stage).</a:t>
            </a:r>
            <a:endParaRPr lang="en-US" dirty="0"/>
          </a:p>
          <a:p>
            <a:pPr>
              <a:buFont typeface="Arial" panose="020B0604020202020204" pitchFamily="34" charset="0"/>
              <a:buChar char="•"/>
            </a:pPr>
            <a:r>
              <a:rPr lang="en-US" dirty="0" err="1"/>
              <a:t>Tp</a:t>
            </a:r>
            <a:r>
              <a:rPr lang="en-US" dirty="0"/>
              <a:t> is the execution time of the program with pipelining.</a:t>
            </a:r>
            <a:endParaRPr lang="en-US" dirty="0"/>
          </a:p>
          <a:p>
            <a:r>
              <a:rPr lang="en-US" dirty="0"/>
              <a:t>In ideal conditions, the speedup can also be approximated by the number of pipeline stages k if we assume no pipeline stalls and perfect conditions:</a:t>
            </a:r>
            <a:endParaRPr lang="en-US" dirty="0"/>
          </a:p>
          <a:p>
            <a:r>
              <a:rPr lang="en-US" dirty="0" err="1"/>
              <a:t>S≈k</a:t>
            </a:r>
            <a:endParaRPr lang="en-US"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560070"/>
            <a:ext cx="10499598" cy="5612130"/>
          </a:xfrm>
        </p:spPr>
        <p:txBody>
          <a:bodyPr>
            <a:normAutofit/>
          </a:bodyPr>
          <a:lstStyle/>
          <a:p>
            <a:pPr marL="0" indent="0">
              <a:buNone/>
            </a:pPr>
            <a:r>
              <a:rPr lang="en-US" sz="2400" b="1" dirty="0"/>
              <a:t>Example:</a:t>
            </a:r>
            <a:endParaRPr lang="en-US" sz="2400" b="1" dirty="0"/>
          </a:p>
          <a:p>
            <a:r>
              <a:rPr lang="en-US" sz="2400" dirty="0"/>
              <a:t>Suppose we have a non-pipelined processor that takes 5 clock cycles to execute one instruction. Now, let's say we design a pipelined processor with 5 stages, where each stage takes 1 clock cycle to complete.</a:t>
            </a:r>
            <a:endParaRPr lang="en-US" sz="2400" dirty="0"/>
          </a:p>
          <a:p>
            <a:pPr>
              <a:buFont typeface="+mj-lt"/>
              <a:buAutoNum type="arabicPeriod"/>
            </a:pPr>
            <a:r>
              <a:rPr lang="en-US" sz="2400" b="1" dirty="0"/>
              <a:t>Non-Pipelined Processor:</a:t>
            </a:r>
            <a:endParaRPr lang="en-US" sz="2400" dirty="0"/>
          </a:p>
          <a:p>
            <a:pPr marL="742950" lvl="1" indent="-285750">
              <a:buFont typeface="+mj-lt"/>
              <a:buAutoNum type="arabicPeriod"/>
            </a:pPr>
            <a:r>
              <a:rPr lang="en-US" sz="2000" dirty="0"/>
              <a:t>Execution time for 1 instruction: 5 clock cycles.</a:t>
            </a:r>
            <a:endParaRPr lang="en-US" sz="2000" dirty="0"/>
          </a:p>
          <a:p>
            <a:pPr marL="742950" lvl="1" indent="-285750">
              <a:buFont typeface="+mj-lt"/>
              <a:buAutoNum type="arabicPeriod"/>
            </a:pPr>
            <a:r>
              <a:rPr lang="en-US" sz="2000" dirty="0"/>
              <a:t>Execution time for 4 instructions: 4 instructions × 5 clock cycles = 20 clock cycles.</a:t>
            </a:r>
            <a:endParaRPr lang="en-US" sz="2000" dirty="0"/>
          </a:p>
          <a:p>
            <a:pPr>
              <a:buFont typeface="+mj-lt"/>
              <a:buAutoNum type="arabicPeriod"/>
            </a:pPr>
            <a:r>
              <a:rPr lang="en-US" sz="2400" b="1" dirty="0"/>
              <a:t>Pipelined Processor:</a:t>
            </a:r>
            <a:endParaRPr lang="en-US" sz="2400" dirty="0"/>
          </a:p>
          <a:p>
            <a:pPr marL="742950" lvl="1" indent="-285750">
              <a:buFont typeface="+mj-lt"/>
              <a:buAutoNum type="arabicPeriod"/>
            </a:pPr>
            <a:r>
              <a:rPr lang="en-US" sz="2000" dirty="0"/>
              <a:t>Execution time for the first instruction: 5 clock cycles (each stage takes 1 cycle).</a:t>
            </a:r>
            <a:endParaRPr lang="en-US" sz="2000" dirty="0"/>
          </a:p>
          <a:p>
            <a:pPr marL="742950" lvl="1" indent="-285750">
              <a:buFont typeface="+mj-lt"/>
              <a:buAutoNum type="arabicPeriod"/>
            </a:pPr>
            <a:r>
              <a:rPr lang="en-US" sz="2000" dirty="0"/>
              <a:t>After the first instruction, each subsequent instruction completes in 1 clock cycle (because they are processed simultaneously in the pipeline).</a:t>
            </a:r>
            <a:endParaRPr lang="en-US" sz="2000" dirty="0"/>
          </a:p>
          <a:p>
            <a:pPr marL="742950" lvl="1" indent="-285750">
              <a:buFont typeface="+mj-lt"/>
              <a:buAutoNum type="arabicPeriod"/>
            </a:pPr>
            <a:r>
              <a:rPr lang="en-US" sz="2000" dirty="0"/>
              <a:t>Execution time for 4 instructions: 5 clock cycles (for the first instruction) + 3 clock cycles (for the next 3 instructions) = 8 clock cycles.</a:t>
            </a:r>
            <a:endParaRPr lang="en-US" sz="2000" dirty="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220" y="708660"/>
            <a:ext cx="10511028" cy="5463540"/>
          </a:xfrm>
        </p:spPr>
        <p:txBody>
          <a:bodyPr/>
          <a:lstStyle/>
          <a:p>
            <a:pPr marL="0" indent="0">
              <a:buNone/>
            </a:pPr>
            <a:r>
              <a:rPr lang="en-US" b="1" dirty="0"/>
              <a:t>Speedup Calculation:</a:t>
            </a:r>
            <a:endParaRPr lang="en-US" b="1" dirty="0"/>
          </a:p>
          <a:p>
            <a:pPr>
              <a:buFont typeface="Arial" panose="020B0604020202020204" pitchFamily="34" charset="0"/>
              <a:buChar char="•"/>
            </a:pPr>
            <a:r>
              <a:rPr lang="en-US" b="1" dirty="0"/>
              <a:t>Without pipelining:</a:t>
            </a:r>
            <a:r>
              <a:rPr lang="en-US" dirty="0"/>
              <a:t> Total execution time = 20 clock cycles.</a:t>
            </a:r>
            <a:endParaRPr lang="en-US" dirty="0"/>
          </a:p>
          <a:p>
            <a:pPr>
              <a:buFont typeface="Arial" panose="020B0604020202020204" pitchFamily="34" charset="0"/>
              <a:buChar char="•"/>
            </a:pPr>
            <a:r>
              <a:rPr lang="en-US" b="1" dirty="0"/>
              <a:t>With pipelining:</a:t>
            </a:r>
            <a:r>
              <a:rPr lang="en-US" dirty="0"/>
              <a:t> Total execution time = 8 clock cycles.</a:t>
            </a:r>
            <a:endParaRPr lang="en-US" dirty="0"/>
          </a:p>
          <a:p>
            <a:r>
              <a:rPr lang="en-US" dirty="0"/>
              <a:t>Speedup S is given by:</a:t>
            </a:r>
            <a:endParaRPr lang="en-US" dirty="0"/>
          </a:p>
          <a:p>
            <a:pPr marL="0" indent="0">
              <a:buNone/>
            </a:pPr>
            <a:r>
              <a:rPr lang="en-US" dirty="0"/>
              <a:t>S=T1/</a:t>
            </a:r>
            <a:r>
              <a:rPr lang="en-US" dirty="0" err="1"/>
              <a:t>Tp</a:t>
            </a:r>
            <a:endParaRPr lang="en-US" dirty="0"/>
          </a:p>
          <a:p>
            <a:pPr marL="0" indent="0">
              <a:buNone/>
            </a:pPr>
            <a:r>
              <a:rPr lang="en-US" dirty="0"/>
              <a:t>=20 clock cycles / 8 clock cycles</a:t>
            </a:r>
            <a:endParaRPr lang="en-US" dirty="0"/>
          </a:p>
          <a:p>
            <a:pPr marL="0" indent="0">
              <a:buNone/>
            </a:pPr>
            <a:r>
              <a:rPr lang="en-US" dirty="0"/>
              <a:t>=2.5</a:t>
            </a:r>
            <a:endParaRPr lang="en-US" dirty="0"/>
          </a:p>
          <a:p>
            <a:r>
              <a:rPr lang="en-US" dirty="0"/>
              <a:t>So, the pipelined processor is 2.5 times faster than the non-pipelined processor in this example</a:t>
            </a:r>
            <a:endParaRPr lang="en-US" dirty="0"/>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1510" y="331470"/>
            <a:ext cx="6080760" cy="5840730"/>
          </a:xfrm>
        </p:spPr>
        <p:txBody>
          <a:bodyPr>
            <a:normAutofit/>
          </a:bodyPr>
          <a:lstStyle/>
          <a:p>
            <a:pPr marL="0" indent="0" algn="l" rtl="0" fontAlgn="base">
              <a:spcAft>
                <a:spcPts val="750"/>
              </a:spcAft>
              <a:buNone/>
            </a:pPr>
            <a:r>
              <a:rPr lang="en-US" sz="2400" b="1" i="0" dirty="0">
                <a:solidFill>
                  <a:srgbClr val="273239"/>
                </a:solidFill>
                <a:effectLst/>
                <a:latin typeface="Nunito" pitchFamily="2" charset="0"/>
              </a:rPr>
              <a:t>1. Arithmetic Pipeline :</a:t>
            </a:r>
            <a:endParaRPr lang="en-US" sz="2400" b="0" i="0" dirty="0">
              <a:solidFill>
                <a:srgbClr val="273239"/>
              </a:solidFill>
              <a:effectLst/>
              <a:latin typeface="Nunito" pitchFamily="2" charset="0"/>
            </a:endParaRPr>
          </a:p>
          <a:p>
            <a:pPr algn="l" rtl="0" fontAlgn="base">
              <a:spcAft>
                <a:spcPts val="750"/>
              </a:spcAft>
            </a:pPr>
            <a:r>
              <a:rPr lang="en-US" sz="2400" b="0" i="0" dirty="0">
                <a:solidFill>
                  <a:srgbClr val="273239"/>
                </a:solidFill>
                <a:effectLst/>
                <a:latin typeface="Nunito" pitchFamily="2" charset="0"/>
              </a:rPr>
              <a:t>An arithmetic pipeline divides an arithmetic problem into various sub problems for execution in various pipeline segments. </a:t>
            </a:r>
            <a:endParaRPr lang="en-US" sz="2400" b="0" i="0" dirty="0">
              <a:solidFill>
                <a:srgbClr val="273239"/>
              </a:solidFill>
              <a:effectLst/>
              <a:latin typeface="Nunito" pitchFamily="2" charset="0"/>
            </a:endParaRPr>
          </a:p>
          <a:p>
            <a:pPr algn="l" rtl="0" fontAlgn="base">
              <a:spcAft>
                <a:spcPts val="750"/>
              </a:spcAft>
            </a:pPr>
            <a:r>
              <a:rPr lang="en-US" sz="2400" b="0" i="0" dirty="0">
                <a:solidFill>
                  <a:srgbClr val="273239"/>
                </a:solidFill>
                <a:effectLst/>
                <a:latin typeface="Nunito" pitchFamily="2" charset="0"/>
              </a:rPr>
              <a:t>It is used for floating point operations, multiplication and various other computations. </a:t>
            </a:r>
            <a:endParaRPr lang="en-US" sz="2400" b="0" i="0" dirty="0">
              <a:solidFill>
                <a:srgbClr val="273239"/>
              </a:solidFill>
              <a:effectLst/>
              <a:latin typeface="Nunito" pitchFamily="2" charset="0"/>
            </a:endParaRPr>
          </a:p>
          <a:p>
            <a:pPr algn="l" rtl="0" fontAlgn="base">
              <a:spcAft>
                <a:spcPts val="750"/>
              </a:spcAft>
            </a:pPr>
            <a:r>
              <a:rPr lang="en-US" sz="2400" b="0" i="0" dirty="0">
                <a:solidFill>
                  <a:srgbClr val="273239"/>
                </a:solidFill>
                <a:effectLst/>
                <a:latin typeface="Nunito" pitchFamily="2" charset="0"/>
              </a:rPr>
              <a:t>The process or flowchart arithmetic pipeline for floating point addition is shown in the diagram.</a:t>
            </a:r>
            <a:endParaRPr lang="en-US" sz="2400" b="0" i="0" dirty="0">
              <a:solidFill>
                <a:srgbClr val="273239"/>
              </a:solidFill>
              <a:effectLst/>
              <a:latin typeface="Nunito" pitchFamily="2" charset="0"/>
            </a:endParaRPr>
          </a:p>
          <a:p>
            <a:endParaRPr lang="en-US" sz="2400" dirty="0"/>
          </a:p>
        </p:txBody>
      </p:sp>
      <p:pic>
        <p:nvPicPr>
          <p:cNvPr id="1026" name="Picture 2" descr="Lightbox"/>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32320" y="112240"/>
            <a:ext cx="4259580" cy="66335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8670" y="948690"/>
            <a:ext cx="10339578" cy="5223510"/>
          </a:xfrm>
        </p:spPr>
        <p:txBody>
          <a:bodyPr/>
          <a:lstStyle/>
          <a:p>
            <a:r>
              <a:rPr lang="en-US" b="1" dirty="0"/>
              <a:t>Floating Point Addition and subtraction</a:t>
            </a:r>
            <a:endParaRPr lang="en-US" b="1" dirty="0"/>
          </a:p>
          <a:p>
            <a:pPr marL="0" indent="0" algn="l" fontAlgn="base">
              <a:buNone/>
            </a:pPr>
            <a:r>
              <a:rPr lang="en-US" b="0" i="0" dirty="0">
                <a:solidFill>
                  <a:srgbClr val="273239"/>
                </a:solidFill>
                <a:effectLst/>
                <a:latin typeface="Nunito" pitchFamily="2" charset="0"/>
              </a:rPr>
              <a:t>The following sub operations are performed in this operation:</a:t>
            </a:r>
            <a:endParaRPr lang="en-US" b="0" i="0" dirty="0">
              <a:solidFill>
                <a:srgbClr val="273239"/>
              </a:solidFill>
              <a:effectLst/>
              <a:latin typeface="Nunito" pitchFamily="2" charset="0"/>
            </a:endParaRPr>
          </a:p>
          <a:p>
            <a:pPr algn="l" fontAlgn="base">
              <a:buFont typeface="+mj-lt"/>
              <a:buAutoNum type="arabicPeriod"/>
            </a:pPr>
            <a:r>
              <a:rPr lang="en-US" b="0" i="0" dirty="0">
                <a:solidFill>
                  <a:srgbClr val="273239"/>
                </a:solidFill>
                <a:effectLst/>
                <a:latin typeface="Nunito" pitchFamily="2" charset="0"/>
              </a:rPr>
              <a:t>Compare the exponents.</a:t>
            </a:r>
            <a:endParaRPr lang="en-US" b="0" i="0" dirty="0">
              <a:solidFill>
                <a:srgbClr val="273239"/>
              </a:solidFill>
              <a:effectLst/>
              <a:latin typeface="Nunito" pitchFamily="2" charset="0"/>
            </a:endParaRPr>
          </a:p>
          <a:p>
            <a:pPr algn="l" fontAlgn="base">
              <a:buFont typeface="+mj-lt"/>
              <a:buAutoNum type="arabicPeriod"/>
            </a:pPr>
            <a:r>
              <a:rPr lang="en-US" b="0" i="0" dirty="0">
                <a:solidFill>
                  <a:srgbClr val="273239"/>
                </a:solidFill>
                <a:effectLst/>
                <a:latin typeface="Nunito" pitchFamily="2" charset="0"/>
              </a:rPr>
              <a:t>Align the mantissas.</a:t>
            </a:r>
            <a:endParaRPr lang="en-US" b="0" i="0" dirty="0">
              <a:solidFill>
                <a:srgbClr val="273239"/>
              </a:solidFill>
              <a:effectLst/>
              <a:latin typeface="Nunito" pitchFamily="2" charset="0"/>
            </a:endParaRPr>
          </a:p>
          <a:p>
            <a:pPr algn="l" fontAlgn="base">
              <a:buFont typeface="+mj-lt"/>
              <a:buAutoNum type="arabicPeriod"/>
            </a:pPr>
            <a:r>
              <a:rPr lang="en-US" b="0" i="0" dirty="0">
                <a:solidFill>
                  <a:srgbClr val="273239"/>
                </a:solidFill>
                <a:effectLst/>
                <a:latin typeface="Nunito" pitchFamily="2" charset="0"/>
              </a:rPr>
              <a:t>Add or subtract the mantissas.</a:t>
            </a:r>
            <a:endParaRPr lang="en-US" b="0" i="0" dirty="0">
              <a:solidFill>
                <a:srgbClr val="273239"/>
              </a:solidFill>
              <a:effectLst/>
              <a:latin typeface="Nunito" pitchFamily="2" charset="0"/>
            </a:endParaRPr>
          </a:p>
          <a:p>
            <a:pPr algn="l" fontAlgn="base">
              <a:buFont typeface="+mj-lt"/>
              <a:buAutoNum type="arabicPeriod"/>
            </a:pPr>
            <a:r>
              <a:rPr lang="en-US" b="0" i="0" dirty="0" err="1">
                <a:solidFill>
                  <a:srgbClr val="273239"/>
                </a:solidFill>
                <a:effectLst/>
                <a:latin typeface="Nunito" pitchFamily="2" charset="0"/>
              </a:rPr>
              <a:t>Normalise</a:t>
            </a:r>
            <a:r>
              <a:rPr lang="en-US" b="0" i="0" dirty="0">
                <a:solidFill>
                  <a:srgbClr val="273239"/>
                </a:solidFill>
                <a:effectLst/>
                <a:latin typeface="Nunito" pitchFamily="2" charset="0"/>
              </a:rPr>
              <a:t> the result</a:t>
            </a:r>
            <a:endParaRPr lang="en-US" b="0" i="0" dirty="0">
              <a:solidFill>
                <a:srgbClr val="273239"/>
              </a:solidFill>
              <a:effectLst/>
              <a:latin typeface="Nunito" pitchFamily="2" charset="0"/>
            </a:endParaRPr>
          </a:p>
          <a:p>
            <a:pPr algn="l" fontAlgn="base"/>
            <a:r>
              <a:rPr lang="en-US" b="0" i="0" dirty="0">
                <a:solidFill>
                  <a:srgbClr val="273239"/>
                </a:solidFill>
                <a:effectLst/>
                <a:latin typeface="Nunito" pitchFamily="2" charset="0"/>
              </a:rPr>
              <a:t>First of all the two exponents are compared and the larger of two exponents is chosen as the result exponent. The difference in the exponents then decides how many times we must shift the smaller exponent to the right. Then after shifting of exponent, both the mantissas get aligned. Finally the addition or subtraction of both numbers take place followed by </a:t>
            </a:r>
            <a:r>
              <a:rPr lang="en-US" b="0" i="0" dirty="0" err="1">
                <a:solidFill>
                  <a:srgbClr val="273239"/>
                </a:solidFill>
                <a:effectLst/>
                <a:latin typeface="Nunito" pitchFamily="2" charset="0"/>
              </a:rPr>
              <a:t>normalisation</a:t>
            </a:r>
            <a:r>
              <a:rPr lang="en-US" b="0" i="0" dirty="0">
                <a:solidFill>
                  <a:srgbClr val="273239"/>
                </a:solidFill>
                <a:effectLst/>
                <a:latin typeface="Nunito" pitchFamily="2" charset="0"/>
              </a:rPr>
              <a:t> of the result in the last segment.</a:t>
            </a:r>
            <a:endParaRPr lang="en-US" b="0" i="0" dirty="0">
              <a:solidFill>
                <a:srgbClr val="273239"/>
              </a:solidFill>
              <a:effectLst/>
              <a:latin typeface="Nunito" pitchFamily="2" charset="0"/>
            </a:endParaRP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1530" y="948690"/>
            <a:ext cx="10316718" cy="5223510"/>
          </a:xfrm>
        </p:spPr>
        <p:txBody>
          <a:bodyPr>
            <a:normAutofit/>
          </a:bodyPr>
          <a:lstStyle/>
          <a:p>
            <a:pPr marL="0" indent="0">
              <a:buNone/>
            </a:pPr>
            <a:r>
              <a:rPr lang="en-US" b="1" dirty="0"/>
              <a:t>Example:</a:t>
            </a:r>
            <a:endParaRPr lang="en-US" b="1" dirty="0"/>
          </a:p>
          <a:p>
            <a:pPr marL="0" indent="0">
              <a:buNone/>
            </a:pPr>
            <a:r>
              <a:rPr lang="en-US" dirty="0"/>
              <a:t>Let us consider two numbers,</a:t>
            </a:r>
            <a:endParaRPr lang="en-US" dirty="0"/>
          </a:p>
          <a:p>
            <a:pPr marL="0" indent="0">
              <a:buNone/>
            </a:pPr>
            <a:r>
              <a:rPr lang="en-US" b="1" dirty="0"/>
              <a:t>X=0.3214*10^3 and Y=0.4500*10^2 </a:t>
            </a:r>
            <a:endParaRPr lang="en-US" b="1" dirty="0"/>
          </a:p>
          <a:p>
            <a:pPr marL="0" indent="0">
              <a:buNone/>
            </a:pPr>
            <a:r>
              <a:rPr lang="en-US" dirty="0"/>
              <a:t>Explanation:</a:t>
            </a:r>
            <a:endParaRPr lang="en-US" dirty="0"/>
          </a:p>
          <a:p>
            <a:pPr marL="0" indent="0">
              <a:buNone/>
            </a:pPr>
            <a:r>
              <a:rPr lang="en-US" dirty="0"/>
              <a:t>First of all the two exponents are subtracted to give 3-2=1. Thus 3 becomes the exponent of result and the smaller exponent is shifted 1 times to the right to give</a:t>
            </a:r>
            <a:endParaRPr lang="en-US" dirty="0"/>
          </a:p>
          <a:p>
            <a:pPr marL="0" indent="0">
              <a:buNone/>
            </a:pPr>
            <a:endParaRPr lang="en-US" dirty="0"/>
          </a:p>
          <a:p>
            <a:pPr marL="0" indent="0">
              <a:buNone/>
            </a:pPr>
            <a:r>
              <a:rPr lang="en-US" dirty="0"/>
              <a:t>Y=0.0450*10^3 </a:t>
            </a:r>
            <a:endParaRPr lang="en-US" dirty="0"/>
          </a:p>
          <a:p>
            <a:pPr marL="0" indent="0">
              <a:buNone/>
            </a:pPr>
            <a:r>
              <a:rPr lang="en-US" dirty="0"/>
              <a:t>Finally the two numbers are added to produce</a:t>
            </a:r>
            <a:endParaRPr lang="en-US" dirty="0"/>
          </a:p>
          <a:p>
            <a:pPr marL="0" indent="0">
              <a:buNone/>
            </a:pPr>
            <a:endParaRPr lang="en-US" dirty="0"/>
          </a:p>
          <a:p>
            <a:pPr marL="0" indent="0">
              <a:buNone/>
            </a:pPr>
            <a:r>
              <a:rPr lang="en-US" dirty="0"/>
              <a:t>Z=0.3664*10^3 </a:t>
            </a:r>
            <a:endParaRPr lang="en-US" dirty="0"/>
          </a:p>
          <a:p>
            <a:pPr marL="0" indent="0">
              <a:buNone/>
            </a:pPr>
            <a:r>
              <a:rPr lang="en-US" dirty="0"/>
              <a:t>As the result is already normalized the result remains the same.</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0100" y="674370"/>
            <a:ext cx="10328148" cy="5497830"/>
          </a:xfrm>
        </p:spPr>
        <p:txBody>
          <a:bodyPr/>
          <a:lstStyle/>
          <a:p>
            <a:r>
              <a:rPr lang="es-ES" b="1" dirty="0" err="1"/>
              <a:t>Example</a:t>
            </a:r>
            <a:r>
              <a:rPr lang="es-ES" dirty="0"/>
              <a:t> </a:t>
            </a:r>
            <a:endParaRPr lang="es-ES" dirty="0"/>
          </a:p>
          <a:p>
            <a:r>
              <a:rPr lang="es-ES" dirty="0"/>
              <a:t>X = 0.9504 * </a:t>
            </a:r>
            <a:r>
              <a:rPr lang="es-ES" sz="1800" dirty="0"/>
              <a:t>10</a:t>
            </a:r>
            <a:r>
              <a:rPr lang="es-ES" sz="1800" baseline="30000" dirty="0"/>
              <a:t>3</a:t>
            </a:r>
            <a:endParaRPr lang="es-ES" baseline="30000" dirty="0"/>
          </a:p>
          <a:p>
            <a:r>
              <a:rPr lang="es-ES" dirty="0"/>
              <a:t>  Y = 0.8200 * 10</a:t>
            </a:r>
            <a:r>
              <a:rPr lang="es-ES" baseline="30000" dirty="0"/>
              <a:t>2</a:t>
            </a:r>
            <a:endParaRPr lang="en-US" baseline="30000" dirty="0"/>
          </a:p>
        </p:txBody>
      </p:sp>
      <p:pic>
        <p:nvPicPr>
          <p:cNvPr id="2051" name="Picture 3" descr="Arithmetic Pipel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02631" y="426181"/>
            <a:ext cx="4244340" cy="57460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582930" y="1251668"/>
            <a:ext cx="9978390" cy="437297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480" tIns="31740" rIns="91440" bIns="3174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1. Compare exponents by subtraction:</a:t>
            </a:r>
            <a:endPar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The exponents are compared by subtracting them to determine their difference. The larger exponent is chosen as the exponent of the result.</a:t>
            </a:r>
            <a:endPar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The difference of the exponents, i.e., </a:t>
            </a: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3</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 - </a:t>
            </a: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2</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 = </a:t>
            </a: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1</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 determines how many times the mantissa associated with the smaller exponent must be shifted to the right.</a:t>
            </a:r>
            <a:endPar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2. Align the mantissas:</a:t>
            </a:r>
            <a:endPar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The mantissa associated with the smaller exponent is shifted according to the difference of exponents determined in segment one.</a:t>
            </a:r>
            <a:endPar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X = 0.9504 * 10</a:t>
            </a:r>
            <a:r>
              <a:rPr kumimoji="0" lang="en-US" altLang="en-US" b="0" i="0" u="none" strike="noStrike" cap="none" normalizeH="0" baseline="30000" dirty="0">
                <a:ln>
                  <a:noFill/>
                </a:ln>
                <a:effectLst/>
                <a:latin typeface="Times New Roman" panose="02020603050405020304" pitchFamily="18" charset="0"/>
                <a:cs typeface="Times New Roman" panose="02020603050405020304" pitchFamily="18" charset="0"/>
              </a:rPr>
              <a:t>3</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 Y = 0.08200 * 10</a:t>
            </a:r>
            <a:r>
              <a:rPr kumimoji="0" lang="en-US" altLang="en-US" b="0" i="0" u="none" strike="noStrike" cap="none" normalizeH="0" baseline="30000" dirty="0">
                <a:ln>
                  <a:noFill/>
                </a:ln>
                <a:effectLst/>
                <a:latin typeface="Times New Roman" panose="02020603050405020304" pitchFamily="18" charset="0"/>
                <a:cs typeface="Times New Roman" panose="02020603050405020304" pitchFamily="18" charset="0"/>
              </a:rPr>
              <a:t>3</a:t>
            </a:r>
            <a:endParaRPr kumimoji="0" lang="en-US" altLang="en-US" b="0" i="0" u="none" strike="noStrike" cap="none" normalizeH="0" baseline="3000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3. Add mantissas:</a:t>
            </a:r>
            <a:endPar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The two mantissas are added in segment three.</a:t>
            </a:r>
            <a:endPar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Z = X + Y = 1.0324 * 10</a:t>
            </a:r>
            <a:r>
              <a:rPr kumimoji="0" lang="en-US" altLang="en-US" b="0" i="0" u="none" strike="noStrike" cap="none" normalizeH="0" baseline="30000" dirty="0">
                <a:ln>
                  <a:noFill/>
                </a:ln>
                <a:effectLst/>
                <a:latin typeface="Times New Roman" panose="02020603050405020304" pitchFamily="18" charset="0"/>
                <a:cs typeface="Times New Roman" panose="02020603050405020304" pitchFamily="18" charset="0"/>
              </a:rPr>
              <a:t>3</a:t>
            </a:r>
            <a:endParaRPr kumimoji="0" lang="en-US" altLang="en-US" b="0" i="0" u="none" strike="noStrike" cap="none" normalizeH="0" baseline="3000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4. Normalize the result:</a:t>
            </a:r>
            <a:endPar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Z = 1.0324 * 10</a:t>
            </a:r>
            <a:r>
              <a:rPr kumimoji="0" lang="en-US" altLang="en-US" b="0" i="0" u="none" strike="noStrike" cap="none" normalizeH="0" baseline="30000" dirty="0">
                <a:ln>
                  <a:noFill/>
                </a:ln>
                <a:effectLst/>
                <a:latin typeface="Times New Roman" panose="02020603050405020304" pitchFamily="18" charset="0"/>
                <a:cs typeface="Times New Roman" panose="02020603050405020304" pitchFamily="18" charset="0"/>
              </a:rPr>
              <a:t>3  </a:t>
            </a:r>
            <a:r>
              <a:rPr kumimoji="0" lang="en-US" altLang="en-US" sz="1800" b="0" i="0" u="none" strike="noStrike" cap="none" normalizeH="0" baseline="30000" dirty="0">
                <a:ln>
                  <a:noFill/>
                </a:ln>
                <a:effectLst/>
                <a:latin typeface="Times New Roman" panose="02020603050405020304" pitchFamily="18" charset="0"/>
                <a:cs typeface="Times New Roman" panose="02020603050405020304" pitchFamily="18" charset="0"/>
              </a:rPr>
              <a:t>  </a:t>
            </a:r>
            <a:r>
              <a:rPr kumimoji="0" lang="en-US" altLang="en-US" b="0" i="0" u="none" strike="noStrike" cap="none" normalizeH="0" baseline="30000" dirty="0">
                <a:ln>
                  <a:noFill/>
                </a:ln>
                <a:effectLst/>
                <a:latin typeface="Times New Roman" panose="02020603050405020304" pitchFamily="18" charset="0"/>
                <a:cs typeface="Times New Roman" panose="02020603050405020304" pitchFamily="18" charset="0"/>
              </a:rPr>
              <a:t>(Already </a:t>
            </a:r>
            <a:r>
              <a:rPr kumimoji="0" lang="en-US" altLang="en-US" b="0" i="0" u="none" strike="noStrike" cap="none" normalizeH="0" baseline="30000" dirty="0" err="1">
                <a:ln>
                  <a:noFill/>
                </a:ln>
                <a:effectLst/>
                <a:latin typeface="Times New Roman" panose="02020603050405020304" pitchFamily="18" charset="0"/>
                <a:cs typeface="Times New Roman" panose="02020603050405020304" pitchFamily="18" charset="0"/>
              </a:rPr>
              <a:t>Normalised</a:t>
            </a:r>
            <a:r>
              <a:rPr kumimoji="0" lang="en-US" altLang="en-US" b="0" i="0" u="none" strike="noStrike" cap="none" normalizeH="0" baseline="30000" dirty="0">
                <a:ln>
                  <a:noFill/>
                </a:ln>
                <a:effectLst/>
                <a:latin typeface="Times New Roman" panose="02020603050405020304" pitchFamily="18" charset="0"/>
                <a:cs typeface="Times New Roman" panose="02020603050405020304" pitchFamily="18" charset="0"/>
              </a:rPr>
              <a:t>)</a:t>
            </a:r>
            <a:endParaRPr kumimoji="0" lang="en-US" altLang="en-US" b="0" i="0" u="none" strike="noStrike" cap="none" normalizeH="0" baseline="30000" dirty="0">
              <a:ln>
                <a:noFill/>
              </a:ln>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loating point addition algorithm"/>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908810" y="815528"/>
            <a:ext cx="7769844" cy="54824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4588002" cy="1092708"/>
          </a:xfrm>
        </p:spPr>
        <p:txBody>
          <a:bodyPr>
            <a:normAutofit/>
          </a:bodyPr>
          <a:lstStyle/>
          <a:p>
            <a:r>
              <a:rPr lang="en-US" sz="2800" dirty="0"/>
              <a:t>Instruction level pipelining</a:t>
            </a:r>
            <a:endParaRPr lang="en-US" sz="2800" dirty="0"/>
          </a:p>
        </p:txBody>
      </p:sp>
      <p:sp>
        <p:nvSpPr>
          <p:cNvPr id="4" name="Rectangle 1"/>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endParaRPr lang="en-US"/>
          </a:p>
        </p:txBody>
      </p:sp>
      <p:sp>
        <p:nvSpPr>
          <p:cNvPr id="9" name="TextBox 8"/>
          <p:cNvSpPr txBox="1"/>
          <p:nvPr/>
        </p:nvSpPr>
        <p:spPr>
          <a:xfrm>
            <a:off x="754380" y="1577339"/>
            <a:ext cx="10367772" cy="4154984"/>
          </a:xfrm>
          <a:prstGeom prst="rect">
            <a:avLst/>
          </a:prstGeom>
          <a:noFill/>
        </p:spPr>
        <p:txBody>
          <a:bodyPr wrap="square">
            <a:spAutoFit/>
          </a:bodyPr>
          <a:lstStyle/>
          <a:p>
            <a:r>
              <a:rPr lang="en-US" sz="2400" dirty="0"/>
              <a:t>In instruction pipelining, a stream of instructions can be executed by overlapping fetch, decode and execute phases of an instruction cycle. This type of technique is used to increase the throughput of the computer system.</a:t>
            </a:r>
            <a:endParaRPr lang="en-US" sz="2400" dirty="0"/>
          </a:p>
          <a:p>
            <a:endParaRPr lang="en-US" sz="2400" dirty="0"/>
          </a:p>
          <a:p>
            <a:r>
              <a:rPr lang="en-US" sz="2400" dirty="0"/>
              <a:t>An instruction pipeline reads instruction from the memory while previous instructions are being executed in other segments of the pipeline. Thus we can execute multiple instructions simultaneously. </a:t>
            </a:r>
            <a:endParaRPr lang="en-US" sz="2400" dirty="0"/>
          </a:p>
          <a:p>
            <a:endParaRPr lang="en-US" sz="2400" dirty="0"/>
          </a:p>
          <a:p>
            <a:r>
              <a:rPr lang="en-US" sz="2400" dirty="0"/>
              <a:t>The pipeline will be more efficient if the instruction cycle is divided into segments of equal duration.</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220" y="491490"/>
            <a:ext cx="10511028" cy="6080760"/>
          </a:xfrm>
        </p:spPr>
        <p:txBody>
          <a:bodyPr>
            <a:normAutofit fontScale="77500" lnSpcReduction="20000"/>
          </a:bodyPr>
          <a:lstStyle/>
          <a:p>
            <a:pPr algn="l"/>
            <a:r>
              <a:rPr lang="en-US" sz="2900" b="0" i="0" dirty="0">
                <a:solidFill>
                  <a:srgbClr val="444444"/>
                </a:solidFill>
                <a:effectLst/>
                <a:latin typeface="Poppins" panose="00000500000000000000" pitchFamily="2" charset="0"/>
              </a:rPr>
              <a:t>Pipeline processing can happen not only in the data stream but also in the instruction stream. To perform tasks such as fetching, decoding and execution of instructions, most digital computers with complicated instructions would require an instruction pipeline.</a:t>
            </a:r>
            <a:endParaRPr lang="en-US" sz="2900" b="0" i="0" dirty="0">
              <a:solidFill>
                <a:srgbClr val="444444"/>
              </a:solidFill>
              <a:effectLst/>
              <a:latin typeface="Poppins" panose="00000500000000000000" pitchFamily="2" charset="0"/>
            </a:endParaRPr>
          </a:p>
          <a:p>
            <a:pPr algn="l"/>
            <a:r>
              <a:rPr lang="en-US" sz="2900" b="0" i="0" dirty="0">
                <a:solidFill>
                  <a:srgbClr val="444444"/>
                </a:solidFill>
                <a:effectLst/>
                <a:latin typeface="Poppins" panose="00000500000000000000" pitchFamily="2" charset="0"/>
              </a:rPr>
              <a:t>In general, each and every instruction must be processed by the computer in the following order:</a:t>
            </a:r>
            <a:endParaRPr lang="en-US" sz="2900" b="0" i="0" dirty="0">
              <a:solidFill>
                <a:srgbClr val="444444"/>
              </a:solidFill>
              <a:effectLst/>
              <a:latin typeface="Poppins" panose="00000500000000000000" pitchFamily="2" charset="0"/>
            </a:endParaRPr>
          </a:p>
          <a:p>
            <a:pPr marL="548640" lvl="2" indent="0">
              <a:buNone/>
            </a:pPr>
            <a:r>
              <a:rPr lang="en-US" sz="2500" b="0" i="0" dirty="0">
                <a:solidFill>
                  <a:srgbClr val="444444"/>
                </a:solidFill>
                <a:effectLst/>
                <a:latin typeface="Poppins" panose="00000500000000000000" pitchFamily="2" charset="0"/>
              </a:rPr>
              <a:t>1. Fetching the instruction from memory</a:t>
            </a:r>
            <a:endParaRPr lang="en-US" sz="2500" b="0" i="0" dirty="0">
              <a:solidFill>
                <a:srgbClr val="444444"/>
              </a:solidFill>
              <a:effectLst/>
              <a:latin typeface="Poppins" panose="00000500000000000000" pitchFamily="2" charset="0"/>
            </a:endParaRPr>
          </a:p>
          <a:p>
            <a:pPr marL="548640" lvl="2" indent="0">
              <a:buNone/>
            </a:pPr>
            <a:r>
              <a:rPr lang="en-US" sz="2500" b="0" i="0" dirty="0">
                <a:solidFill>
                  <a:srgbClr val="444444"/>
                </a:solidFill>
                <a:effectLst/>
                <a:latin typeface="Poppins" panose="00000500000000000000" pitchFamily="2" charset="0"/>
              </a:rPr>
              <a:t>2. Decoding the obtained instruction</a:t>
            </a:r>
            <a:endParaRPr lang="en-US" sz="2500" b="0" i="0" dirty="0">
              <a:solidFill>
                <a:srgbClr val="444444"/>
              </a:solidFill>
              <a:effectLst/>
              <a:latin typeface="Poppins" panose="00000500000000000000" pitchFamily="2" charset="0"/>
            </a:endParaRPr>
          </a:p>
          <a:p>
            <a:pPr marL="548640" lvl="2" indent="0">
              <a:buNone/>
            </a:pPr>
            <a:r>
              <a:rPr lang="en-US" sz="2500" b="0" i="0" dirty="0">
                <a:solidFill>
                  <a:srgbClr val="444444"/>
                </a:solidFill>
                <a:effectLst/>
                <a:latin typeface="Poppins" panose="00000500000000000000" pitchFamily="2" charset="0"/>
              </a:rPr>
              <a:t>3. Calculating the effective address</a:t>
            </a:r>
            <a:endParaRPr lang="en-US" sz="2500" b="0" i="0" dirty="0">
              <a:solidFill>
                <a:srgbClr val="444444"/>
              </a:solidFill>
              <a:effectLst/>
              <a:latin typeface="Poppins" panose="00000500000000000000" pitchFamily="2" charset="0"/>
            </a:endParaRPr>
          </a:p>
          <a:p>
            <a:pPr marL="548640" lvl="2" indent="0">
              <a:buNone/>
            </a:pPr>
            <a:r>
              <a:rPr lang="en-US" sz="2500" b="0" i="0" dirty="0">
                <a:solidFill>
                  <a:srgbClr val="444444"/>
                </a:solidFill>
                <a:effectLst/>
                <a:latin typeface="Poppins" panose="00000500000000000000" pitchFamily="2" charset="0"/>
              </a:rPr>
              <a:t>4. Fetching the operands from the given memory</a:t>
            </a:r>
            <a:endParaRPr lang="en-US" sz="2500" b="0" i="0" dirty="0">
              <a:solidFill>
                <a:srgbClr val="444444"/>
              </a:solidFill>
              <a:effectLst/>
              <a:latin typeface="Poppins" panose="00000500000000000000" pitchFamily="2" charset="0"/>
            </a:endParaRPr>
          </a:p>
          <a:p>
            <a:pPr marL="548640" lvl="2" indent="0">
              <a:buNone/>
            </a:pPr>
            <a:r>
              <a:rPr lang="en-US" sz="2500" b="0" i="0" dirty="0">
                <a:solidFill>
                  <a:srgbClr val="444444"/>
                </a:solidFill>
                <a:effectLst/>
                <a:latin typeface="Poppins" panose="00000500000000000000" pitchFamily="2" charset="0"/>
              </a:rPr>
              <a:t>5. Execution of the instruction</a:t>
            </a:r>
            <a:endParaRPr lang="en-US" sz="2500" b="0" i="0" dirty="0">
              <a:solidFill>
                <a:srgbClr val="444444"/>
              </a:solidFill>
              <a:effectLst/>
              <a:latin typeface="Poppins" panose="00000500000000000000" pitchFamily="2" charset="0"/>
            </a:endParaRPr>
          </a:p>
          <a:p>
            <a:pPr marL="548640" lvl="2" indent="0">
              <a:buNone/>
            </a:pPr>
            <a:r>
              <a:rPr lang="en-US" sz="2500" b="0" i="0" dirty="0">
                <a:solidFill>
                  <a:srgbClr val="444444"/>
                </a:solidFill>
                <a:effectLst/>
                <a:latin typeface="Poppins" panose="00000500000000000000" pitchFamily="2" charset="0"/>
              </a:rPr>
              <a:t>6. Storing the result in a proper place</a:t>
            </a:r>
            <a:endParaRPr lang="en-US" sz="2500" b="0" i="0" dirty="0">
              <a:solidFill>
                <a:srgbClr val="444444"/>
              </a:solidFill>
              <a:effectLst/>
              <a:latin typeface="Poppins" panose="00000500000000000000" pitchFamily="2" charset="0"/>
            </a:endParaRPr>
          </a:p>
          <a:p>
            <a:pPr algn="l"/>
            <a:r>
              <a:rPr lang="en-US" sz="2900" b="0" i="0" dirty="0">
                <a:solidFill>
                  <a:srgbClr val="444444"/>
                </a:solidFill>
                <a:effectLst/>
                <a:latin typeface="Poppins" panose="00000500000000000000" pitchFamily="2" charset="0"/>
              </a:rPr>
              <a:t>Each step is carried out in its own segment, and various segments may take different amounts of time to process the incoming data. Furthermore, there are occasions when multiple segments request memory access at the very same time, requiring one segment to wait unless and until the memory access of another is completed.</a:t>
            </a:r>
            <a:endParaRPr lang="en-US" sz="2900" b="0" i="0" dirty="0">
              <a:solidFill>
                <a:srgbClr val="444444"/>
              </a:solidFill>
              <a:effectLst/>
              <a:latin typeface="Poppins" panose="00000500000000000000" pitchFamily="2" charset="0"/>
            </a:endParaRPr>
          </a:p>
          <a:p>
            <a:pPr algn="l"/>
            <a:r>
              <a:rPr lang="en-US" sz="2900" b="0" i="0" dirty="0">
                <a:solidFill>
                  <a:srgbClr val="444444"/>
                </a:solidFill>
                <a:effectLst/>
                <a:latin typeface="Poppins" panose="00000500000000000000" pitchFamily="2" charset="0"/>
              </a:rPr>
              <a:t>If the instruction cycle is separated into equal-length segments, the </a:t>
            </a:r>
            <a:r>
              <a:rPr lang="en-US" sz="2900" b="0" i="0" dirty="0" err="1">
                <a:solidFill>
                  <a:srgbClr val="444444"/>
                </a:solidFill>
                <a:effectLst/>
                <a:latin typeface="Poppins" panose="00000500000000000000" pitchFamily="2" charset="0"/>
              </a:rPr>
              <a:t>organisation</a:t>
            </a:r>
            <a:r>
              <a:rPr lang="en-US" sz="2900" b="0" i="0" dirty="0">
                <a:solidFill>
                  <a:srgbClr val="444444"/>
                </a:solidFill>
                <a:effectLst/>
                <a:latin typeface="Poppins" panose="00000500000000000000" pitchFamily="2" charset="0"/>
              </a:rPr>
              <a:t> of an instruction pipeline will become much more efficient. A four-segment type of instruction pipeline refers to one of the most common instances of this style of </a:t>
            </a:r>
            <a:r>
              <a:rPr lang="en-US" sz="2900" b="0" i="0" dirty="0" err="1">
                <a:solidFill>
                  <a:srgbClr val="444444"/>
                </a:solidFill>
                <a:effectLst/>
                <a:latin typeface="Poppins" panose="00000500000000000000" pitchFamily="2" charset="0"/>
              </a:rPr>
              <a:t>organisation</a:t>
            </a:r>
            <a:r>
              <a:rPr lang="en-US" sz="2900" b="0" i="0" dirty="0">
                <a:solidFill>
                  <a:srgbClr val="444444"/>
                </a:solidFill>
                <a:effectLst/>
                <a:latin typeface="Poppins" panose="00000500000000000000" pitchFamily="2" charset="0"/>
              </a:rPr>
              <a:t>.</a:t>
            </a:r>
            <a:endParaRPr lang="en-US" sz="2900" b="0" i="0" dirty="0">
              <a:solidFill>
                <a:srgbClr val="444444"/>
              </a:solidFill>
              <a:effectLst/>
              <a:latin typeface="Poppins" panose="00000500000000000000" pitchFamily="2" charset="0"/>
            </a:endParaRP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4360" y="468630"/>
            <a:ext cx="10533888" cy="5703570"/>
          </a:xfrm>
        </p:spPr>
        <p:txBody>
          <a:bodyPr/>
          <a:lstStyle/>
          <a:p>
            <a:r>
              <a:rPr lang="en-US" b="0" i="0" dirty="0">
                <a:solidFill>
                  <a:srgbClr val="444444"/>
                </a:solidFill>
                <a:effectLst/>
                <a:latin typeface="Poppins" panose="00000500000000000000" pitchFamily="2" charset="0"/>
              </a:rPr>
              <a:t>A four-segment instruction pipeline unifies two or more distinct segments into a single unit. For example, the decoding of the instruction and the calculation of the effective address can be merged into a single segment.</a:t>
            </a:r>
            <a:endParaRPr lang="en-US" dirty="0"/>
          </a:p>
        </p:txBody>
      </p:sp>
      <p:pic>
        <p:nvPicPr>
          <p:cNvPr id="5" name="Picture 4"/>
          <p:cNvPicPr>
            <a:picLocks noChangeAspect="1"/>
          </p:cNvPicPr>
          <p:nvPr/>
        </p:nvPicPr>
        <p:blipFill rotWithShape="1">
          <a:blip r:embed="rId1"/>
          <a:srcRect r="13167"/>
          <a:stretch>
            <a:fillRect/>
          </a:stretch>
        </p:blipFill>
        <p:spPr>
          <a:xfrm>
            <a:off x="6931664" y="1360170"/>
            <a:ext cx="4292596" cy="5029200"/>
          </a:xfrm>
          <a:prstGeom prst="rect">
            <a:avLst/>
          </a:prstGeom>
        </p:spPr>
      </p:pic>
      <p:sp>
        <p:nvSpPr>
          <p:cNvPr id="7" name="TextBox 6"/>
          <p:cNvSpPr txBox="1"/>
          <p:nvPr/>
        </p:nvSpPr>
        <p:spPr>
          <a:xfrm>
            <a:off x="833760" y="1569571"/>
            <a:ext cx="6097904" cy="5016758"/>
          </a:xfrm>
          <a:prstGeom prst="rect">
            <a:avLst/>
          </a:prstGeom>
          <a:noFill/>
        </p:spPr>
        <p:txBody>
          <a:bodyPr wrap="square">
            <a:spAutoFit/>
          </a:bodyPr>
          <a:lstStyle/>
          <a:p>
            <a:pPr algn="l"/>
            <a:r>
              <a:rPr lang="en-US" sz="2000" b="1" i="0" dirty="0">
                <a:solidFill>
                  <a:srgbClr val="444444"/>
                </a:solidFill>
                <a:effectLst/>
                <a:highlight>
                  <a:srgbClr val="FFFF00"/>
                </a:highlight>
                <a:latin typeface="Poppins" panose="00000500000000000000" pitchFamily="2" charset="0"/>
              </a:rPr>
              <a:t>Segment 1</a:t>
            </a:r>
            <a:endParaRPr lang="en-US" sz="2000" b="1" i="0" dirty="0">
              <a:solidFill>
                <a:srgbClr val="444444"/>
              </a:solidFill>
              <a:effectLst/>
              <a:highlight>
                <a:srgbClr val="FFFF00"/>
              </a:highlight>
              <a:latin typeface="Poppins" panose="00000500000000000000" pitchFamily="2" charset="0"/>
            </a:endParaRPr>
          </a:p>
          <a:p>
            <a:pPr algn="l"/>
            <a:r>
              <a:rPr lang="en-US" sz="2000" b="0" i="0" dirty="0">
                <a:solidFill>
                  <a:srgbClr val="444444"/>
                </a:solidFill>
                <a:effectLst/>
                <a:highlight>
                  <a:srgbClr val="FFFF00"/>
                </a:highlight>
                <a:latin typeface="Poppins" panose="00000500000000000000" pitchFamily="2" charset="0"/>
              </a:rPr>
              <a:t>The implementation of the instruction fetch segment can be done using the FIFO or first-in, first-out buffer.</a:t>
            </a:r>
            <a:endParaRPr lang="en-US" sz="2000" b="0" i="0" dirty="0">
              <a:solidFill>
                <a:srgbClr val="444444"/>
              </a:solidFill>
              <a:effectLst/>
              <a:highlight>
                <a:srgbClr val="FFFF00"/>
              </a:highlight>
              <a:latin typeface="Poppins" panose="00000500000000000000" pitchFamily="2" charset="0"/>
            </a:endParaRPr>
          </a:p>
          <a:p>
            <a:pPr algn="l"/>
            <a:r>
              <a:rPr lang="en-US" sz="2000" b="1" i="0" dirty="0">
                <a:solidFill>
                  <a:srgbClr val="444444"/>
                </a:solidFill>
                <a:effectLst/>
                <a:highlight>
                  <a:srgbClr val="FFFF00"/>
                </a:highlight>
                <a:latin typeface="Poppins" panose="00000500000000000000" pitchFamily="2" charset="0"/>
              </a:rPr>
              <a:t>Segment 2</a:t>
            </a:r>
            <a:endParaRPr lang="en-US" sz="2000" b="1" i="0" dirty="0">
              <a:solidFill>
                <a:srgbClr val="444444"/>
              </a:solidFill>
              <a:effectLst/>
              <a:highlight>
                <a:srgbClr val="FFFF00"/>
              </a:highlight>
              <a:latin typeface="Poppins" panose="00000500000000000000" pitchFamily="2" charset="0"/>
            </a:endParaRPr>
          </a:p>
          <a:p>
            <a:pPr algn="l"/>
            <a:r>
              <a:rPr lang="en-US" sz="2000" b="0" i="0" dirty="0">
                <a:solidFill>
                  <a:srgbClr val="444444"/>
                </a:solidFill>
                <a:effectLst/>
                <a:highlight>
                  <a:srgbClr val="FFFF00"/>
                </a:highlight>
                <a:latin typeface="Poppins" panose="00000500000000000000" pitchFamily="2" charset="0"/>
              </a:rPr>
              <a:t>In the second segment, the memory instruction is decoded, and the effective address is then determined in a separate arithmetic circuit.</a:t>
            </a:r>
            <a:endParaRPr lang="en-US" sz="2000" b="0" i="0" dirty="0">
              <a:solidFill>
                <a:srgbClr val="444444"/>
              </a:solidFill>
              <a:effectLst/>
              <a:highlight>
                <a:srgbClr val="FFFF00"/>
              </a:highlight>
              <a:latin typeface="Poppins" panose="00000500000000000000" pitchFamily="2" charset="0"/>
            </a:endParaRPr>
          </a:p>
          <a:p>
            <a:pPr algn="l"/>
            <a:r>
              <a:rPr lang="en-US" sz="2000" b="1" i="0" dirty="0">
                <a:solidFill>
                  <a:srgbClr val="444444"/>
                </a:solidFill>
                <a:effectLst/>
                <a:highlight>
                  <a:srgbClr val="FFFF00"/>
                </a:highlight>
                <a:latin typeface="Poppins" panose="00000500000000000000" pitchFamily="2" charset="0"/>
              </a:rPr>
              <a:t>Segment 3</a:t>
            </a:r>
            <a:endParaRPr lang="en-US" sz="2000" b="1" i="0" dirty="0">
              <a:solidFill>
                <a:srgbClr val="444444"/>
              </a:solidFill>
              <a:effectLst/>
              <a:highlight>
                <a:srgbClr val="FFFF00"/>
              </a:highlight>
              <a:latin typeface="Poppins" panose="00000500000000000000" pitchFamily="2" charset="0"/>
            </a:endParaRPr>
          </a:p>
          <a:p>
            <a:pPr algn="l"/>
            <a:r>
              <a:rPr lang="en-US" sz="2000" b="0" i="0" dirty="0">
                <a:solidFill>
                  <a:srgbClr val="444444"/>
                </a:solidFill>
                <a:effectLst/>
                <a:highlight>
                  <a:srgbClr val="FFFF00"/>
                </a:highlight>
                <a:latin typeface="Poppins" panose="00000500000000000000" pitchFamily="2" charset="0"/>
              </a:rPr>
              <a:t>In the third segment, some operands would be fetched from memory.</a:t>
            </a:r>
            <a:endParaRPr lang="en-US" sz="2000" b="0" i="0" dirty="0">
              <a:solidFill>
                <a:srgbClr val="444444"/>
              </a:solidFill>
              <a:effectLst/>
              <a:highlight>
                <a:srgbClr val="FFFF00"/>
              </a:highlight>
              <a:latin typeface="Poppins" panose="00000500000000000000" pitchFamily="2" charset="0"/>
            </a:endParaRPr>
          </a:p>
          <a:p>
            <a:pPr algn="l"/>
            <a:r>
              <a:rPr lang="en-US" sz="2000" b="1" i="0" dirty="0">
                <a:solidFill>
                  <a:srgbClr val="444444"/>
                </a:solidFill>
                <a:effectLst/>
                <a:highlight>
                  <a:srgbClr val="FFFF00"/>
                </a:highlight>
                <a:latin typeface="Poppins" panose="00000500000000000000" pitchFamily="2" charset="0"/>
              </a:rPr>
              <a:t>Segment 4</a:t>
            </a:r>
            <a:endParaRPr lang="en-US" sz="2000" b="1" i="0" dirty="0">
              <a:solidFill>
                <a:srgbClr val="444444"/>
              </a:solidFill>
              <a:effectLst/>
              <a:highlight>
                <a:srgbClr val="FFFF00"/>
              </a:highlight>
              <a:latin typeface="Poppins" panose="00000500000000000000" pitchFamily="2" charset="0"/>
            </a:endParaRPr>
          </a:p>
          <a:p>
            <a:pPr algn="l"/>
            <a:r>
              <a:rPr lang="en-US" sz="2000" b="0" i="0" dirty="0">
                <a:solidFill>
                  <a:srgbClr val="444444"/>
                </a:solidFill>
                <a:effectLst/>
                <a:highlight>
                  <a:srgbClr val="FFFF00"/>
                </a:highlight>
                <a:latin typeface="Poppins" panose="00000500000000000000" pitchFamily="2" charset="0"/>
              </a:rPr>
              <a:t>The instructions would finally be executed in the very last segment of a pipeline </a:t>
            </a:r>
            <a:r>
              <a:rPr lang="en-US" sz="2000" b="0" i="0" dirty="0" err="1">
                <a:solidFill>
                  <a:srgbClr val="444444"/>
                </a:solidFill>
                <a:effectLst/>
                <a:highlight>
                  <a:srgbClr val="FFFF00"/>
                </a:highlight>
                <a:latin typeface="Poppins" panose="00000500000000000000" pitchFamily="2" charset="0"/>
              </a:rPr>
              <a:t>organisation</a:t>
            </a:r>
            <a:r>
              <a:rPr lang="en-US" sz="2000" b="0" i="0" dirty="0">
                <a:solidFill>
                  <a:srgbClr val="444444"/>
                </a:solidFill>
                <a:effectLst/>
                <a:highlight>
                  <a:srgbClr val="FFFF00"/>
                </a:highlight>
                <a:latin typeface="Poppins" panose="00000500000000000000" pitchFamily="2" charset="0"/>
              </a:rPr>
              <a:t>.</a:t>
            </a:r>
            <a:endParaRPr lang="en-US" sz="2000" b="0" i="0" dirty="0">
              <a:solidFill>
                <a:srgbClr val="444444"/>
              </a:solidFill>
              <a:effectLst/>
              <a:highlight>
                <a:srgbClr val="FFFF00"/>
              </a:highlight>
              <a:latin typeface="Poppins" panose="00000500000000000000" pitchFamily="2"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ightbox"/>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281741" y="468630"/>
            <a:ext cx="10781864" cy="228041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20090" y="3124051"/>
            <a:ext cx="10781864" cy="3170099"/>
          </a:xfrm>
          <a:prstGeom prst="rect">
            <a:avLst/>
          </a:prstGeom>
          <a:noFill/>
        </p:spPr>
        <p:txBody>
          <a:bodyPr wrap="square">
            <a:spAutoFit/>
          </a:bodyPr>
          <a:lstStyle/>
          <a:p>
            <a:pPr marL="285750" indent="-285750">
              <a:buFont typeface="Arial" panose="020B0604020202020204" pitchFamily="34" charset="0"/>
              <a:buChar char="•"/>
            </a:pPr>
            <a:r>
              <a:rPr lang="en-US" sz="2000" b="0" i="0" dirty="0">
                <a:solidFill>
                  <a:srgbClr val="273239"/>
                </a:solidFill>
                <a:effectLst/>
                <a:latin typeface="Nunito" pitchFamily="2" charset="0"/>
              </a:rPr>
              <a:t>Here the instruction is fetched on first clock cycle in segment 1. Now it is decoded in next clock cycle, then operands are fetched and finally the instruction is executed. We can see that here the fetch and decode phase overlap due to pipelining. </a:t>
            </a:r>
            <a:endParaRPr lang="en-US" sz="2000" b="0" i="0" dirty="0">
              <a:solidFill>
                <a:srgbClr val="273239"/>
              </a:solidFill>
              <a:effectLst/>
              <a:latin typeface="Nunito" pitchFamily="2" charset="0"/>
            </a:endParaRPr>
          </a:p>
          <a:p>
            <a:pPr marL="285750" indent="-285750">
              <a:buFont typeface="Arial" panose="020B0604020202020204" pitchFamily="34" charset="0"/>
              <a:buChar char="•"/>
            </a:pPr>
            <a:r>
              <a:rPr lang="en-US" sz="2000" b="0" i="0" dirty="0">
                <a:solidFill>
                  <a:srgbClr val="273239"/>
                </a:solidFill>
                <a:effectLst/>
                <a:latin typeface="Nunito" pitchFamily="2" charset="0"/>
              </a:rPr>
              <a:t>By the time the first instruction is being decoded, next instruction is fetched by the pipeline. In case of third instruction we see that it is a branched instruction. Here when it is being decoded 4th instruction is fetched simultaneously. </a:t>
            </a:r>
            <a:endParaRPr lang="en-US" sz="2000" b="0" i="0" dirty="0">
              <a:solidFill>
                <a:srgbClr val="273239"/>
              </a:solidFill>
              <a:effectLst/>
              <a:latin typeface="Nunito" pitchFamily="2" charset="0"/>
            </a:endParaRPr>
          </a:p>
          <a:p>
            <a:pPr marL="285750" indent="-285750">
              <a:buFont typeface="Arial" panose="020B0604020202020204" pitchFamily="34" charset="0"/>
              <a:buChar char="•"/>
            </a:pPr>
            <a:r>
              <a:rPr lang="en-US" sz="2000" b="0" i="0" dirty="0">
                <a:solidFill>
                  <a:srgbClr val="273239"/>
                </a:solidFill>
                <a:effectLst/>
                <a:latin typeface="Nunito" pitchFamily="2" charset="0"/>
              </a:rPr>
              <a:t>But as it is a branched instruction it may point to some other instruction when it is decoded. Thus fourth instruction is kept on hold until the branched instruction is executed. </a:t>
            </a:r>
            <a:endParaRPr lang="en-US" sz="2000" b="0" i="0" dirty="0">
              <a:solidFill>
                <a:srgbClr val="273239"/>
              </a:solidFill>
              <a:effectLst/>
              <a:latin typeface="Nunito" pitchFamily="2" charset="0"/>
            </a:endParaRPr>
          </a:p>
          <a:p>
            <a:pPr marL="285750" indent="-285750">
              <a:buFont typeface="Arial" panose="020B0604020202020204" pitchFamily="34" charset="0"/>
              <a:buChar char="•"/>
            </a:pPr>
            <a:r>
              <a:rPr lang="en-US" sz="2000" b="0" i="0" dirty="0">
                <a:solidFill>
                  <a:srgbClr val="273239"/>
                </a:solidFill>
                <a:effectLst/>
                <a:latin typeface="Nunito" pitchFamily="2" charset="0"/>
              </a:rPr>
              <a:t>When it gets executed then the fourth instruction is copied back and the other phases continue as usual.</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5445252" cy="578358"/>
          </a:xfrm>
        </p:spPr>
        <p:txBody>
          <a:bodyPr>
            <a:normAutofit fontScale="90000"/>
          </a:bodyPr>
          <a:lstStyle/>
          <a:p>
            <a:r>
              <a:rPr lang="en-US" sz="4000" dirty="0"/>
              <a:t>Pipeline conflicts</a:t>
            </a:r>
            <a:endParaRPr lang="en-US" sz="4000" dirty="0"/>
          </a:p>
        </p:txBody>
      </p:sp>
      <p:sp>
        <p:nvSpPr>
          <p:cNvPr id="3" name="Content Placeholder 2"/>
          <p:cNvSpPr>
            <a:spLocks noGrp="1"/>
          </p:cNvSpPr>
          <p:nvPr>
            <p:ph idx="1"/>
          </p:nvPr>
        </p:nvSpPr>
        <p:spPr>
          <a:xfrm>
            <a:off x="822960" y="1291590"/>
            <a:ext cx="10305288" cy="4880610"/>
          </a:xfrm>
        </p:spPr>
        <p:txBody>
          <a:bodyPr/>
          <a:lstStyle/>
          <a:p>
            <a:pPr algn="l"/>
            <a:r>
              <a:rPr lang="en-US" b="1" i="0" dirty="0">
                <a:solidFill>
                  <a:srgbClr val="212529"/>
                </a:solidFill>
                <a:effectLst/>
                <a:latin typeface="system-ui"/>
              </a:rPr>
              <a:t>Timing Variations</a:t>
            </a:r>
            <a:endParaRPr lang="en-US" b="1" i="0" dirty="0">
              <a:solidFill>
                <a:srgbClr val="212529"/>
              </a:solidFill>
              <a:effectLst/>
              <a:latin typeface="system-ui"/>
            </a:endParaRPr>
          </a:p>
          <a:p>
            <a:pPr marL="0" indent="0" algn="l">
              <a:buNone/>
            </a:pPr>
            <a:r>
              <a:rPr lang="en-US" b="0" i="0" dirty="0">
                <a:solidFill>
                  <a:srgbClr val="212529"/>
                </a:solidFill>
                <a:effectLst/>
                <a:latin typeface="system-ui"/>
              </a:rPr>
              <a:t>All stages cannot take same amount of time. This problem generally occurs in instruction processing where different instructions have different operand requirements and thus different processing time.</a:t>
            </a:r>
            <a:endParaRPr lang="en-US" b="0" i="0" dirty="0">
              <a:solidFill>
                <a:srgbClr val="212529"/>
              </a:solidFill>
              <a:effectLst/>
              <a:latin typeface="system-ui"/>
            </a:endParaRPr>
          </a:p>
          <a:p>
            <a:pPr algn="l"/>
            <a:r>
              <a:rPr lang="en-US" b="1" i="0" dirty="0">
                <a:solidFill>
                  <a:srgbClr val="212529"/>
                </a:solidFill>
                <a:effectLst/>
                <a:latin typeface="system-ui"/>
              </a:rPr>
              <a:t>Data Hazards</a:t>
            </a:r>
            <a:endParaRPr lang="en-US" b="1" i="0" dirty="0">
              <a:solidFill>
                <a:srgbClr val="212529"/>
              </a:solidFill>
              <a:effectLst/>
              <a:latin typeface="system-ui"/>
            </a:endParaRPr>
          </a:p>
          <a:p>
            <a:pPr marL="0" indent="0" algn="l">
              <a:buNone/>
            </a:pPr>
            <a:r>
              <a:rPr lang="en-US" b="0" i="0" dirty="0">
                <a:solidFill>
                  <a:srgbClr val="212529"/>
                </a:solidFill>
                <a:effectLst/>
                <a:latin typeface="system-ui"/>
              </a:rPr>
              <a:t>When several instructions are in partial execution, and if they reference same data then the problem arises. We must ensure that next instruction does not attempt to access data before the current instruction, because this will lead to incorrect results.</a:t>
            </a:r>
            <a:endParaRPr lang="en-US" b="0" i="0" dirty="0">
              <a:solidFill>
                <a:srgbClr val="212529"/>
              </a:solidFill>
              <a:effectLst/>
              <a:latin typeface="system-ui"/>
            </a:endParaRPr>
          </a:p>
          <a:p>
            <a:pPr algn="l"/>
            <a:r>
              <a:rPr lang="en-US" b="1" i="0" dirty="0">
                <a:solidFill>
                  <a:srgbClr val="212529"/>
                </a:solidFill>
                <a:effectLst/>
                <a:latin typeface="system-ui"/>
              </a:rPr>
              <a:t>Branching</a:t>
            </a:r>
            <a:endParaRPr lang="en-US" b="1" i="0" dirty="0">
              <a:solidFill>
                <a:srgbClr val="212529"/>
              </a:solidFill>
              <a:effectLst/>
              <a:latin typeface="system-ui"/>
            </a:endParaRPr>
          </a:p>
          <a:p>
            <a:pPr marL="0" indent="0" algn="l">
              <a:buNone/>
            </a:pPr>
            <a:r>
              <a:rPr lang="en-US" b="0" i="0" dirty="0">
                <a:solidFill>
                  <a:srgbClr val="212529"/>
                </a:solidFill>
                <a:effectLst/>
                <a:latin typeface="system-ui"/>
              </a:rPr>
              <a:t>In order to fetch and execute the next instruction, we must know what that instruction is. If the present instruction is a conditional branch, and its result will lead us to the next instruction, then the next instruction may not be known until the current one is processed.</a:t>
            </a:r>
            <a:endParaRPr lang="en-US" b="0" i="0" dirty="0">
              <a:solidFill>
                <a:srgbClr val="212529"/>
              </a:solidFill>
              <a:effectLst/>
              <a:latin typeface="system-ui"/>
            </a:endParaRPr>
          </a:p>
          <a:p>
            <a:pPr marL="0" indent="0" algn="l">
              <a:buNone/>
            </a:pPr>
            <a:endParaRPr lang="en-US" b="0" i="0" dirty="0">
              <a:solidFill>
                <a:srgbClr val="212529"/>
              </a:solidFill>
              <a:effectLst/>
              <a:latin typeface="system-ui"/>
            </a:endParaRP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8660" y="1120140"/>
            <a:ext cx="10419588" cy="5052060"/>
          </a:xfrm>
        </p:spPr>
        <p:txBody>
          <a:bodyPr>
            <a:normAutofit/>
          </a:bodyPr>
          <a:lstStyle/>
          <a:p>
            <a:pPr algn="l"/>
            <a:r>
              <a:rPr lang="en-US" sz="2400" b="1" i="0" dirty="0">
                <a:solidFill>
                  <a:srgbClr val="212529"/>
                </a:solidFill>
                <a:effectLst/>
                <a:latin typeface="Times New Roman" panose="02020603050405020304" pitchFamily="18" charset="0"/>
                <a:cs typeface="Times New Roman" panose="02020603050405020304" pitchFamily="18" charset="0"/>
              </a:rPr>
              <a:t> Interrupts</a:t>
            </a:r>
            <a:endParaRPr lang="en-US" sz="2400" b="1" i="0" dirty="0">
              <a:solidFill>
                <a:srgbClr val="212529"/>
              </a:solidFill>
              <a:effectLst/>
              <a:latin typeface="Times New Roman" panose="02020603050405020304" pitchFamily="18" charset="0"/>
              <a:cs typeface="Times New Roman" panose="02020603050405020304" pitchFamily="18" charset="0"/>
            </a:endParaRPr>
          </a:p>
          <a:p>
            <a:pPr marL="0" indent="0" algn="l">
              <a:buNone/>
            </a:pPr>
            <a:r>
              <a:rPr lang="en-US" sz="2400" b="0" i="0" dirty="0">
                <a:solidFill>
                  <a:srgbClr val="212529"/>
                </a:solidFill>
                <a:effectLst/>
                <a:latin typeface="Times New Roman" panose="02020603050405020304" pitchFamily="18" charset="0"/>
                <a:cs typeface="Times New Roman" panose="02020603050405020304" pitchFamily="18" charset="0"/>
              </a:rPr>
              <a:t>Interrupts set unwanted instruction into the instruction stream. Interrupts effect the execution of instruction.</a:t>
            </a:r>
            <a:endParaRPr lang="en-US" sz="2400" b="0" i="0" dirty="0">
              <a:solidFill>
                <a:srgbClr val="212529"/>
              </a:solidFill>
              <a:effectLst/>
              <a:latin typeface="Times New Roman" panose="02020603050405020304" pitchFamily="18" charset="0"/>
              <a:cs typeface="Times New Roman" panose="02020603050405020304" pitchFamily="18" charset="0"/>
            </a:endParaRPr>
          </a:p>
          <a:p>
            <a:r>
              <a:rPr lang="en-US" sz="2400" b="1" i="0" dirty="0">
                <a:solidFill>
                  <a:srgbClr val="212529"/>
                </a:solidFill>
                <a:effectLst/>
                <a:latin typeface="Times New Roman" panose="02020603050405020304" pitchFamily="18" charset="0"/>
                <a:cs typeface="Times New Roman" panose="02020603050405020304" pitchFamily="18" charset="0"/>
              </a:rPr>
              <a:t>Data Dependency</a:t>
            </a:r>
            <a:endParaRPr lang="en-US" sz="2400" b="1" i="0" dirty="0">
              <a:solidFill>
                <a:srgbClr val="212529"/>
              </a:solidFill>
              <a:effectLst/>
              <a:latin typeface="Times New Roman" panose="02020603050405020304" pitchFamily="18" charset="0"/>
              <a:cs typeface="Times New Roman" panose="02020603050405020304" pitchFamily="18" charset="0"/>
            </a:endParaRPr>
          </a:p>
          <a:p>
            <a:pPr marL="0" indent="0" algn="l">
              <a:buNone/>
            </a:pPr>
            <a:r>
              <a:rPr lang="en-US" sz="2400" b="0" i="0" dirty="0">
                <a:solidFill>
                  <a:srgbClr val="212529"/>
                </a:solidFill>
                <a:effectLst/>
                <a:latin typeface="Times New Roman" panose="02020603050405020304" pitchFamily="18" charset="0"/>
                <a:cs typeface="Times New Roman" panose="02020603050405020304" pitchFamily="18" charset="0"/>
              </a:rPr>
              <a:t>It arises when an instruction depends upon the result of a previous instruction but this result is not yet available.</a:t>
            </a:r>
            <a:endParaRPr lang="en-US" sz="2400" b="0" i="0" dirty="0">
              <a:solidFill>
                <a:srgbClr val="212529"/>
              </a:solidFill>
              <a:effectLst/>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Resource Limitation</a:t>
            </a:r>
            <a:endParaRPr lang="en-US" sz="2400" b="1"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If the two instructions request for accessing the same resource in the same clock cycle, then one of the instruction has to stall and let the other instruction to use the resource. This stalling is due to resource limitation. However, it can be prevented by adding more hardware.</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0070" y="262890"/>
            <a:ext cx="10568178" cy="6457950"/>
          </a:xfrm>
        </p:spPr>
        <p:txBody>
          <a:bodyPr>
            <a:normAutofit lnSpcReduction="20000"/>
          </a:bodyPr>
          <a:lstStyle/>
          <a:p>
            <a:endParaRPr lang="en-US" dirty="0"/>
          </a:p>
          <a:p>
            <a:pPr marL="0" indent="0">
              <a:buNone/>
            </a:pPr>
            <a:r>
              <a:rPr lang="en-US" sz="2400" b="1" dirty="0"/>
              <a:t>Pipeline conflicts solution</a:t>
            </a:r>
            <a:endParaRPr lang="en-US" sz="2400" b="1" dirty="0"/>
          </a:p>
          <a:p>
            <a:pPr algn="just"/>
            <a:r>
              <a:rPr lang="en-US" sz="2400" dirty="0"/>
              <a:t>Hardware Interlocks − </a:t>
            </a:r>
            <a:r>
              <a:rPr lang="en-US" altLang="en-US" sz="2400" dirty="0"/>
              <a:t>Hardware interlocks is a special circuits that detects an instruction which depends on results of the previous instructions.If this happens, the instruction waits (delays execution) until the required data is available. </a:t>
            </a:r>
            <a:endParaRPr lang="en-US" altLang="en-US" sz="2400" dirty="0"/>
          </a:p>
          <a:p>
            <a:pPr algn="just"/>
            <a:endParaRPr lang="en-US" altLang="en-US" sz="2400" dirty="0"/>
          </a:p>
          <a:p>
            <a:pPr algn="just"/>
            <a:r>
              <a:rPr lang="en-US" sz="2400" dirty="0"/>
              <a:t>Operand Forwarding − </a:t>
            </a:r>
            <a:r>
              <a:rPr lang="en-US" altLang="en-US" sz="2400" dirty="0"/>
              <a:t> Instead of waiting, the processor directly passes the needed data from one instruction to another without delay. This requires extra hardware (like multiplexers) to efficiently route the data within the pipeline.</a:t>
            </a:r>
            <a:endParaRPr lang="en-US" altLang="en-US" sz="2400" dirty="0"/>
          </a:p>
          <a:p>
            <a:pPr marL="0" indent="0">
              <a:buNone/>
            </a:pPr>
            <a:r>
              <a:rPr lang="en-US" sz="2400" dirty="0"/>
              <a:t>Example:</a:t>
            </a:r>
            <a:endParaRPr lang="en-US" sz="2400" dirty="0"/>
          </a:p>
          <a:p>
            <a:r>
              <a:rPr lang="en-US" sz="2400" dirty="0"/>
              <a:t> Instruction A: ADD R1, R2, R3 (produces result in R1)</a:t>
            </a:r>
            <a:endParaRPr lang="en-US" sz="2400" dirty="0"/>
          </a:p>
          <a:p>
            <a:r>
              <a:rPr lang="en-US" sz="2400" dirty="0"/>
              <a:t>                    |</a:t>
            </a:r>
            <a:endParaRPr lang="en-US" sz="2400" dirty="0"/>
          </a:p>
          <a:p>
            <a:r>
              <a:rPr lang="en-US" sz="2400" dirty="0"/>
              <a:t>             Forward Result</a:t>
            </a:r>
            <a:endParaRPr lang="en-US" sz="2400" dirty="0"/>
          </a:p>
          <a:p>
            <a:r>
              <a:rPr lang="en-US" sz="2400" dirty="0"/>
              <a:t>                    |</a:t>
            </a:r>
            <a:endParaRPr lang="en-US" sz="2400" dirty="0"/>
          </a:p>
          <a:p>
            <a:r>
              <a:rPr lang="en-US" sz="2400" dirty="0"/>
              <a:t> Instruction B: SUB R4, R1, R5 (needs R1 from Instruction A)</a:t>
            </a:r>
            <a:endParaRPr lang="en-US" sz="2400" dirty="0"/>
          </a:p>
          <a:p>
            <a:pPr marL="0" indent="0">
              <a:buNone/>
            </a:pPr>
            <a:endParaRPr lang="en-US" sz="2400" dirty="0"/>
          </a:p>
        </p:txBody>
      </p:sp>
      <p:sp>
        <p:nvSpPr>
          <p:cNvPr id="4" name="TextBox 3"/>
          <p:cNvSpPr txBox="1"/>
          <p:nvPr/>
        </p:nvSpPr>
        <p:spPr>
          <a:xfrm>
            <a:off x="6283643" y="4714786"/>
            <a:ext cx="6097904" cy="1200329"/>
          </a:xfrm>
          <a:prstGeom prst="rect">
            <a:avLst/>
          </a:prstGeom>
          <a:noFill/>
        </p:spPr>
        <p:txBody>
          <a:bodyPr wrap="square">
            <a:spAutoFit/>
          </a:bodyPr>
          <a:lstStyle/>
          <a:p>
            <a:r>
              <a:rPr lang="en-US" dirty="0">
                <a:highlight>
                  <a:srgbClr val="FFFF00"/>
                </a:highlight>
              </a:rPr>
              <a:t>In this example, instead of waiting for Instruction A to write the result to R1, Instruction B gets the result directly from the pipeline stage where Instruction A produced it.</a:t>
            </a:r>
            <a:endParaRPr lang="en-US" dirty="0">
              <a:highlight>
                <a:srgbClr val="FFFF00"/>
              </a:highligh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8680" y="1012698"/>
            <a:ext cx="10076688" cy="4850892"/>
          </a:xfrm>
        </p:spPr>
        <p:txBody>
          <a:bodyPr>
            <a:normAutofit/>
          </a:bodyPr>
          <a:lstStyle/>
          <a:p>
            <a:r>
              <a:rPr lang="en-US" sz="2400" dirty="0"/>
              <a:t>Branch Prediction − This method utilizes some sort of intelligent forecasting through appropriate logic. A pipeline with branch prediction guesses the result of a conditional branch instruction before it is implemented. The pipeline fetches the stream of instructions from a predicted path, thus saving the time that is wasted by branch penalties.</a:t>
            </a:r>
            <a:endParaRPr lang="en-US" sz="2400" dirty="0"/>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5400" dirty="0"/>
              <a:t>The End</a:t>
            </a:r>
            <a:endParaRPr lang="en-US" sz="54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0</TotalTime>
  <Words>18558</Words>
  <Application>WPS Slides</Application>
  <PresentationFormat>Widescreen</PresentationFormat>
  <Paragraphs>249</Paragraphs>
  <Slides>38</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38</vt:i4>
      </vt:variant>
    </vt:vector>
  </HeadingPairs>
  <TitlesOfParts>
    <vt:vector size="57" baseType="lpstr">
      <vt:lpstr>Arial</vt:lpstr>
      <vt:lpstr>SimSun</vt:lpstr>
      <vt:lpstr>Wingdings</vt:lpstr>
      <vt:lpstr>PT Serif</vt:lpstr>
      <vt:lpstr>Segoe Print</vt:lpstr>
      <vt:lpstr>inter-regular</vt:lpstr>
      <vt:lpstr>erdana</vt:lpstr>
      <vt:lpstr>Times New Roman</vt:lpstr>
      <vt:lpstr>inter-bold</vt:lpstr>
      <vt:lpstr>Rockwell Condensed</vt:lpstr>
      <vt:lpstr>Rockwell</vt:lpstr>
      <vt:lpstr>Microsoft YaHei</vt:lpstr>
      <vt:lpstr>Arial Unicode MS</vt:lpstr>
      <vt:lpstr>Calibri</vt:lpstr>
      <vt:lpstr>Lato</vt:lpstr>
      <vt:lpstr>Nunito</vt:lpstr>
      <vt:lpstr>Poppins</vt:lpstr>
      <vt:lpstr>system-ui</vt:lpstr>
      <vt:lpstr>Wood Type</vt:lpstr>
      <vt:lpstr>pipelining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PIPELINING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Instruction level pipelining</vt:lpstr>
      <vt:lpstr>PowerPoint 演示文稿</vt:lpstr>
      <vt:lpstr>PowerPoint 演示文稿</vt:lpstr>
      <vt:lpstr>PowerPoint 演示文稿</vt:lpstr>
      <vt:lpstr>Pipeline conflicts</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pipelining</dc:title>
  <dc:creator>Anup Raj Poudel</dc:creator>
  <cp:lastModifiedBy>Sameer</cp:lastModifiedBy>
  <cp:revision>42</cp:revision>
  <dcterms:created xsi:type="dcterms:W3CDTF">2024-03-12T11:05:00Z</dcterms:created>
  <dcterms:modified xsi:type="dcterms:W3CDTF">2025-03-30T02:50:30Z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92F46CD58FDC404A9B4488FF1288E261_12</vt:lpwstr>
  </property>
  <property fmtid="{D5CDD505-2E9C-101B-9397-08002B2CF9AE}" pid="3" name="KSOProductBuildVer">
    <vt:lpwstr>1033-12.2.0.20782</vt:lpwstr>
  </property>
</Properties>
</file>