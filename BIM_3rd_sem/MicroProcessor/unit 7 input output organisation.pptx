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8" r:id="rId3"/>
    <p:sldId id="289" r:id="rId4"/>
    <p:sldId id="294" r:id="rId5"/>
    <p:sldId id="290" r:id="rId6"/>
    <p:sldId id="291" r:id="rId7"/>
    <p:sldId id="292" r:id="rId8"/>
    <p:sldId id="293" r:id="rId9"/>
    <p:sldId id="268" r:id="rId10"/>
    <p:sldId id="257" r:id="rId11"/>
    <p:sldId id="258" r:id="rId12"/>
    <p:sldId id="259" r:id="rId13"/>
    <p:sldId id="265" r:id="rId14"/>
    <p:sldId id="260" r:id="rId15"/>
    <p:sldId id="261" r:id="rId16"/>
    <p:sldId id="262" r:id="rId17"/>
    <p:sldId id="263" r:id="rId18"/>
    <p:sldId id="264" r:id="rId19"/>
    <p:sldId id="266" r:id="rId20"/>
    <p:sldId id="267" r:id="rId21"/>
    <p:sldId id="269" r:id="rId22"/>
    <p:sldId id="270" r:id="rId23"/>
    <p:sldId id="295" r:id="rId24"/>
    <p:sldId id="271" r:id="rId25"/>
    <p:sldId id="296" r:id="rId26"/>
    <p:sldId id="272" r:id="rId27"/>
    <p:sldId id="273" r:id="rId28"/>
    <p:sldId id="274" r:id="rId29"/>
    <p:sldId id="277" r:id="rId30"/>
    <p:sldId id="275" r:id="rId31"/>
    <p:sldId id="276" r:id="rId32"/>
    <p:sldId id="278" r:id="rId33"/>
    <p:sldId id="279" r:id="rId34"/>
    <p:sldId id="283" r:id="rId35"/>
    <p:sldId id="280" r:id="rId36"/>
    <p:sldId id="285" r:id="rId37"/>
    <p:sldId id="286" r:id="rId38"/>
    <p:sldId id="297" r:id="rId39"/>
    <p:sldId id="298" r:id="rId40"/>
    <p:sldId id="299" r:id="rId41"/>
    <p:sldId id="300"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2103FE-EA13-4D40-BA8C-FC310D68D64D}"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5C05CFE-B9AB-45CD-AE82-A949F977771A}" type="slidenum">
              <a:rPr lang="en-US" smtClean="0"/>
              <a:t>‹#›</a:t>
            </a:fld>
            <a:endParaRPr lang="en-US"/>
          </a:p>
        </p:txBody>
      </p:sp>
    </p:spTree>
    <p:extLst>
      <p:ext uri="{BB962C8B-B14F-4D97-AF65-F5344CB8AC3E}">
        <p14:creationId xmlns:p14="http://schemas.microsoft.com/office/powerpoint/2010/main" val="1303847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2103FE-EA13-4D40-BA8C-FC310D68D64D}"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289333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E2103FE-EA13-4D40-BA8C-FC310D68D64D}" type="datetimeFigureOut">
              <a:rPr lang="en-US" smtClean="0"/>
              <a:t>2/15/2025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5C05CFE-B9AB-45CD-AE82-A949F977771A}" type="slidenum">
              <a:rPr lang="en-US" smtClean="0"/>
              <a:t>‹#›</a:t>
            </a:fld>
            <a:endParaRPr lang="en-US"/>
          </a:p>
        </p:txBody>
      </p:sp>
    </p:spTree>
    <p:extLst>
      <p:ext uri="{BB962C8B-B14F-4D97-AF65-F5344CB8AC3E}">
        <p14:creationId xmlns:p14="http://schemas.microsoft.com/office/powerpoint/2010/main" val="306270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2103FE-EA13-4D40-BA8C-FC310D68D64D}"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1531280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2103FE-EA13-4D40-BA8C-FC310D68D64D}" type="datetimeFigureOut">
              <a:rPr lang="en-US" smtClean="0"/>
              <a:t>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152270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2103FE-EA13-4D40-BA8C-FC310D68D64D}" type="datetimeFigureOut">
              <a:rPr lang="en-US" smtClean="0"/>
              <a:t>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806465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103FE-EA13-4D40-BA8C-FC310D68D64D}" type="datetimeFigureOut">
              <a:rPr lang="en-US" smtClean="0"/>
              <a:t>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425911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2103FE-EA13-4D40-BA8C-FC310D68D64D}" type="datetimeFigureOut">
              <a:rPr lang="en-US" smtClean="0"/>
              <a:t>2/15/2025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781866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2103FE-EA13-4D40-BA8C-FC310D68D64D}" type="datetimeFigureOut">
              <a:rPr lang="en-US" smtClean="0"/>
              <a:t>2/15/2025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427901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2103FE-EA13-4D40-BA8C-FC310D68D64D}"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3058536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2103FE-EA13-4D40-BA8C-FC310D68D64D}" type="datetimeFigureOut">
              <a:rPr lang="en-US" smtClean="0"/>
              <a:t>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C05CFE-B9AB-45CD-AE82-A949F977771A}" type="slidenum">
              <a:rPr lang="en-US" smtClean="0"/>
              <a:t>‹#›</a:t>
            </a:fld>
            <a:endParaRPr lang="en-US"/>
          </a:p>
        </p:txBody>
      </p:sp>
    </p:spTree>
    <p:extLst>
      <p:ext uri="{BB962C8B-B14F-4D97-AF65-F5344CB8AC3E}">
        <p14:creationId xmlns:p14="http://schemas.microsoft.com/office/powerpoint/2010/main" val="336317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E2103FE-EA13-4D40-BA8C-FC310D68D64D}" type="datetimeFigureOut">
              <a:rPr lang="en-US" smtClean="0"/>
              <a:t>2/15/2025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5C05CFE-B9AB-45CD-AE82-A949F977771A}" type="slidenum">
              <a:rPr lang="en-US" smtClean="0"/>
              <a:t>‹#›</a:t>
            </a:fld>
            <a:endParaRPr lang="en-US"/>
          </a:p>
        </p:txBody>
      </p:sp>
    </p:spTree>
    <p:extLst>
      <p:ext uri="{BB962C8B-B14F-4D97-AF65-F5344CB8AC3E}">
        <p14:creationId xmlns:p14="http://schemas.microsoft.com/office/powerpoint/2010/main" val="1957058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B9B3-D381-4BB3-805F-3BB5BB943FA8}"/>
              </a:ext>
            </a:extLst>
          </p:cNvPr>
          <p:cNvSpPr>
            <a:spLocks noGrp="1"/>
          </p:cNvSpPr>
          <p:nvPr>
            <p:ph type="ctrTitle"/>
          </p:nvPr>
        </p:nvSpPr>
        <p:spPr/>
        <p:txBody>
          <a:bodyPr/>
          <a:lstStyle/>
          <a:p>
            <a:r>
              <a:rPr lang="en-US" sz="7200" dirty="0"/>
              <a:t>Input output </a:t>
            </a:r>
            <a:r>
              <a:rPr lang="en-US" sz="7200" dirty="0" err="1"/>
              <a:t>organisation</a:t>
            </a:r>
            <a:endParaRPr lang="en-US" sz="7200" dirty="0"/>
          </a:p>
        </p:txBody>
      </p:sp>
      <p:sp>
        <p:nvSpPr>
          <p:cNvPr id="3" name="Subtitle 2">
            <a:extLst>
              <a:ext uri="{FF2B5EF4-FFF2-40B4-BE49-F238E27FC236}">
                <a16:creationId xmlns:a16="http://schemas.microsoft.com/office/drawing/2014/main" id="{4A404ECD-8950-B9B3-8839-E4ECFCC1C00B}"/>
              </a:ext>
            </a:extLst>
          </p:cNvPr>
          <p:cNvSpPr>
            <a:spLocks noGrp="1"/>
          </p:cNvSpPr>
          <p:nvPr>
            <p:ph type="subTitle" idx="1"/>
          </p:nvPr>
        </p:nvSpPr>
        <p:spPr/>
        <p:txBody>
          <a:bodyPr/>
          <a:lstStyle/>
          <a:p>
            <a:r>
              <a:rPr lang="en-US" dirty="0"/>
              <a:t>Unit 8</a:t>
            </a:r>
          </a:p>
        </p:txBody>
      </p:sp>
    </p:spTree>
    <p:extLst>
      <p:ext uri="{BB962C8B-B14F-4D97-AF65-F5344CB8AC3E}">
        <p14:creationId xmlns:p14="http://schemas.microsoft.com/office/powerpoint/2010/main" val="3055969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CAD2F-38B8-2990-7602-1B8E0AC8EB69}"/>
              </a:ext>
            </a:extLst>
          </p:cNvPr>
          <p:cNvSpPr>
            <a:spLocks noGrp="1"/>
          </p:cNvSpPr>
          <p:nvPr>
            <p:ph idx="1"/>
          </p:nvPr>
        </p:nvSpPr>
        <p:spPr>
          <a:xfrm>
            <a:off x="651510" y="582930"/>
            <a:ext cx="10476738" cy="5589270"/>
          </a:xfrm>
        </p:spPr>
        <p:txBody>
          <a:bodyPr>
            <a:normAutofit/>
          </a:bodyPr>
          <a:lstStyle/>
          <a:p>
            <a:pPr marL="0" indent="0">
              <a:buNone/>
            </a:pPr>
            <a:r>
              <a:rPr lang="en-US" sz="2400" b="1" dirty="0"/>
              <a:t>Peripheral Devices</a:t>
            </a:r>
          </a:p>
          <a:p>
            <a:r>
              <a:rPr lang="en-US" sz="2400" dirty="0"/>
              <a:t>A peripheral device is an internal or external hardware component that connects to a computer to extend its capabilities. Peripheral devices can be purchased after manufacturing to provide input/output (I/O) functions or improve the way the computer carries out specific processing or storage tasks.</a:t>
            </a:r>
          </a:p>
          <a:p>
            <a:endParaRPr lang="en-US" sz="2400" dirty="0"/>
          </a:p>
          <a:p>
            <a:r>
              <a:rPr lang="en-US" sz="2400" dirty="0"/>
              <a:t>Peripherals allow users to interact with a computer and use it for practical purposes. Without peripherals, a computer would be a closed system. Users would not be able to input data, and the computer would not be able to communicate with its external environment or other computer devices.</a:t>
            </a:r>
          </a:p>
        </p:txBody>
      </p:sp>
    </p:spTree>
    <p:extLst>
      <p:ext uri="{BB962C8B-B14F-4D97-AF65-F5344CB8AC3E}">
        <p14:creationId xmlns:p14="http://schemas.microsoft.com/office/powerpoint/2010/main" val="2144051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1284E-DDD3-4290-3453-F186BF8B6294}"/>
              </a:ext>
            </a:extLst>
          </p:cNvPr>
          <p:cNvSpPr>
            <a:spLocks noGrp="1"/>
          </p:cNvSpPr>
          <p:nvPr>
            <p:ph idx="1"/>
          </p:nvPr>
        </p:nvSpPr>
        <p:spPr>
          <a:xfrm>
            <a:off x="662940" y="582930"/>
            <a:ext cx="10465308" cy="5589270"/>
          </a:xfrm>
        </p:spPr>
        <p:txBody>
          <a:bodyPr>
            <a:normAutofit/>
          </a:bodyPr>
          <a:lstStyle/>
          <a:p>
            <a:r>
              <a:rPr lang="en-US" sz="2400" dirty="0"/>
              <a:t>In peripheral device definitions, the adjective “peripheral” is used as a synonym for “extra.” The word choice implies that the computer could still function without the peripheral hardware.</a:t>
            </a:r>
          </a:p>
          <a:p>
            <a:r>
              <a:rPr lang="en-US" sz="2400" dirty="0"/>
              <a:t>What is considered a “peripheral” device in computing has evolved over time and continues to change. Historically, input/output hardware like CRT monitors, QWERTY keyboards, and mechanical mice were considered peripherals because they could be purchased separately and connected to the computer with a VGA, PS/2, or serial port cable.</a:t>
            </a:r>
          </a:p>
          <a:p>
            <a:r>
              <a:rPr lang="en-US" sz="2400" dirty="0"/>
              <a:t>As technology advanced and user needs evolved. However, an increasing number of peripheral devices have become integrated and are no longer regarded as peripherals unless they are external hardware devices that can be disconnected from a computer. For example, it can be argued that monitors and keyboards on laptops are standard features and not peripheral devices</a:t>
            </a:r>
          </a:p>
        </p:txBody>
      </p:sp>
    </p:spTree>
    <p:extLst>
      <p:ext uri="{BB962C8B-B14F-4D97-AF65-F5344CB8AC3E}">
        <p14:creationId xmlns:p14="http://schemas.microsoft.com/office/powerpoint/2010/main" val="1444611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2C3566-2F48-F5F3-59D6-82B14957ABD4}"/>
              </a:ext>
            </a:extLst>
          </p:cNvPr>
          <p:cNvPicPr>
            <a:picLocks noGrp="1" noChangeAspect="1"/>
          </p:cNvPicPr>
          <p:nvPr>
            <p:ph idx="1"/>
          </p:nvPr>
        </p:nvPicPr>
        <p:blipFill>
          <a:blip r:embed="rId2"/>
          <a:srcRect t="5958" b="45319"/>
          <a:stretch/>
        </p:blipFill>
        <p:spPr>
          <a:xfrm>
            <a:off x="21626" y="337185"/>
            <a:ext cx="6515358" cy="6183630"/>
          </a:xfrm>
          <a:prstGeom prst="rect">
            <a:avLst/>
          </a:prstGeom>
        </p:spPr>
      </p:pic>
      <p:pic>
        <p:nvPicPr>
          <p:cNvPr id="6" name="Content Placeholder 4">
            <a:extLst>
              <a:ext uri="{FF2B5EF4-FFF2-40B4-BE49-F238E27FC236}">
                <a16:creationId xmlns:a16="http://schemas.microsoft.com/office/drawing/2014/main" id="{82744D06-9425-2784-8589-392D4A6E182F}"/>
              </a:ext>
            </a:extLst>
          </p:cNvPr>
          <p:cNvPicPr>
            <a:picLocks noChangeAspect="1"/>
          </p:cNvPicPr>
          <p:nvPr/>
        </p:nvPicPr>
        <p:blipFill>
          <a:blip r:embed="rId2"/>
          <a:srcRect l="1" t="54348" r="-8361"/>
          <a:stretch/>
        </p:blipFill>
        <p:spPr>
          <a:xfrm>
            <a:off x="6536984" y="251460"/>
            <a:ext cx="5544525" cy="6606540"/>
          </a:xfrm>
          <a:prstGeom prst="rect">
            <a:avLst/>
          </a:prstGeom>
        </p:spPr>
      </p:pic>
    </p:spTree>
    <p:extLst>
      <p:ext uri="{BB962C8B-B14F-4D97-AF65-F5344CB8AC3E}">
        <p14:creationId xmlns:p14="http://schemas.microsoft.com/office/powerpoint/2010/main" val="1436822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14083-3C5B-BF86-F040-B5B5798C04EC}"/>
              </a:ext>
            </a:extLst>
          </p:cNvPr>
          <p:cNvSpPr>
            <a:spLocks noGrp="1"/>
          </p:cNvSpPr>
          <p:nvPr>
            <p:ph idx="1"/>
          </p:nvPr>
        </p:nvSpPr>
        <p:spPr>
          <a:xfrm>
            <a:off x="605790" y="342900"/>
            <a:ext cx="10522458" cy="5829300"/>
          </a:xfrm>
        </p:spPr>
        <p:txBody>
          <a:bodyPr numCol="2">
            <a:normAutofit/>
          </a:bodyPr>
          <a:lstStyle/>
          <a:p>
            <a:pPr algn="l">
              <a:spcAft>
                <a:spcPts val="1125"/>
              </a:spcAft>
            </a:pPr>
            <a:r>
              <a:rPr lang="en-US" sz="2400" b="1" i="0" dirty="0">
                <a:solidFill>
                  <a:srgbClr val="1C2642"/>
                </a:solidFill>
                <a:effectLst/>
                <a:latin typeface="Inter"/>
              </a:rPr>
              <a:t>Input peripherals</a:t>
            </a:r>
          </a:p>
          <a:p>
            <a:pPr algn="l">
              <a:lnSpc>
                <a:spcPts val="1800"/>
              </a:lnSpc>
              <a:spcAft>
                <a:spcPts val="1500"/>
              </a:spcAft>
            </a:pPr>
            <a:r>
              <a:rPr lang="en-US" b="0" i="0" dirty="0">
                <a:solidFill>
                  <a:srgbClr val="2E364E"/>
                </a:solidFill>
                <a:effectLst/>
                <a:latin typeface="helveticaregular"/>
              </a:rPr>
              <a:t>Input peripherals allow users to provide the computer with data. Common input peripherals include:</a:t>
            </a:r>
          </a:p>
          <a:p>
            <a:pPr algn="l">
              <a:lnSpc>
                <a:spcPts val="1800"/>
              </a:lnSpc>
              <a:spcAft>
                <a:spcPts val="1500"/>
              </a:spcAft>
            </a:pPr>
            <a:r>
              <a:rPr lang="en-US" sz="2400" b="1" i="0" dirty="0">
                <a:solidFill>
                  <a:srgbClr val="2E364E"/>
                </a:solidFill>
                <a:effectLst/>
                <a:latin typeface="Inter"/>
              </a:rPr>
              <a:t>Human Interface Devices (HIDs)</a:t>
            </a:r>
            <a:endParaRPr lang="en-US" sz="2400" b="0" i="0" dirty="0">
              <a:solidFill>
                <a:srgbClr val="2E364E"/>
              </a:solidFill>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Keyboards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Mice</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Trackpads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Joysticks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Gamepads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strike="noStrike" dirty="0">
                <a:effectLst/>
                <a:latin typeface="helveticaregular"/>
              </a:rPr>
              <a:t>Touchscreens</a:t>
            </a:r>
            <a:endParaRPr lang="en-US" b="0" i="0" dirty="0">
              <a:effectLst/>
              <a:latin typeface="helveticaregular"/>
            </a:endParaRPr>
          </a:p>
          <a:p>
            <a:pPr algn="l">
              <a:lnSpc>
                <a:spcPts val="1800"/>
              </a:lnSpc>
              <a:spcAft>
                <a:spcPts val="1500"/>
              </a:spcAft>
            </a:pPr>
            <a:endParaRPr lang="en-US" b="1" i="0" dirty="0">
              <a:solidFill>
                <a:srgbClr val="2E364E"/>
              </a:solidFill>
              <a:effectLst/>
              <a:latin typeface="Inter"/>
            </a:endParaRPr>
          </a:p>
          <a:p>
            <a:pPr algn="l">
              <a:lnSpc>
                <a:spcPts val="1800"/>
              </a:lnSpc>
              <a:spcAft>
                <a:spcPts val="1500"/>
              </a:spcAft>
            </a:pPr>
            <a:endParaRPr lang="en-US" b="1" dirty="0">
              <a:solidFill>
                <a:srgbClr val="2E364E"/>
              </a:solidFill>
              <a:latin typeface="Inter"/>
            </a:endParaRPr>
          </a:p>
          <a:p>
            <a:pPr algn="l">
              <a:lnSpc>
                <a:spcPts val="1800"/>
              </a:lnSpc>
              <a:spcAft>
                <a:spcPts val="1500"/>
              </a:spcAft>
            </a:pPr>
            <a:endParaRPr lang="en-US" b="1" i="0" dirty="0">
              <a:solidFill>
                <a:srgbClr val="2E364E"/>
              </a:solidFill>
              <a:effectLst/>
              <a:latin typeface="Inter"/>
            </a:endParaRPr>
          </a:p>
          <a:p>
            <a:pPr algn="l">
              <a:lnSpc>
                <a:spcPts val="1800"/>
              </a:lnSpc>
              <a:spcAft>
                <a:spcPts val="1500"/>
              </a:spcAft>
            </a:pPr>
            <a:endParaRPr lang="en-US" b="1" dirty="0">
              <a:solidFill>
                <a:srgbClr val="2E364E"/>
              </a:solidFill>
              <a:latin typeface="Inter"/>
            </a:endParaRPr>
          </a:p>
          <a:p>
            <a:pPr algn="l">
              <a:lnSpc>
                <a:spcPts val="1800"/>
              </a:lnSpc>
              <a:spcAft>
                <a:spcPts val="1500"/>
              </a:spcAft>
            </a:pPr>
            <a:endParaRPr lang="en-US" b="1" i="0" dirty="0">
              <a:solidFill>
                <a:srgbClr val="2E364E"/>
              </a:solidFill>
              <a:effectLst/>
              <a:latin typeface="Inter"/>
            </a:endParaRPr>
          </a:p>
          <a:p>
            <a:pPr algn="l">
              <a:lnSpc>
                <a:spcPts val="1800"/>
              </a:lnSpc>
              <a:spcAft>
                <a:spcPts val="1500"/>
              </a:spcAft>
            </a:pPr>
            <a:endParaRPr lang="en-US" b="1" dirty="0">
              <a:solidFill>
                <a:srgbClr val="2E364E"/>
              </a:solidFill>
              <a:latin typeface="Inter"/>
            </a:endParaRPr>
          </a:p>
          <a:p>
            <a:pPr algn="l">
              <a:lnSpc>
                <a:spcPts val="1800"/>
              </a:lnSpc>
              <a:spcAft>
                <a:spcPts val="1500"/>
              </a:spcAft>
            </a:pPr>
            <a:r>
              <a:rPr lang="en-US" sz="2400" b="1" i="0" dirty="0">
                <a:solidFill>
                  <a:srgbClr val="2E364E"/>
                </a:solidFill>
                <a:effectLst/>
                <a:latin typeface="Inter"/>
              </a:rPr>
              <a:t>Image/Video Input</a:t>
            </a:r>
            <a:endParaRPr lang="en-US" b="0" i="0" dirty="0">
              <a:solidFill>
                <a:srgbClr val="2E364E"/>
              </a:solidFill>
              <a:effectLst/>
              <a:latin typeface="helveticaregular"/>
            </a:endParaRPr>
          </a:p>
          <a:p>
            <a:pPr algn="l">
              <a:lnSpc>
                <a:spcPts val="1800"/>
              </a:lnSpc>
              <a:spcAft>
                <a:spcPts val="375"/>
              </a:spcAft>
              <a:buFont typeface="Arial" panose="020B0604020202020204" pitchFamily="34" charset="0"/>
              <a:buChar char="•"/>
            </a:pPr>
            <a:r>
              <a:rPr lang="en-US" b="0" i="0" u="none" strike="noStrike" dirty="0">
                <a:effectLst/>
                <a:latin typeface="helveticaregular"/>
              </a:rPr>
              <a:t>Webcams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u="none" strike="noStrike" dirty="0">
                <a:effectLst/>
                <a:latin typeface="helveticaregular"/>
              </a:rPr>
              <a:t>Scanners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u="none" strike="noStrike" dirty="0">
                <a:effectLst/>
                <a:latin typeface="helveticaregular"/>
              </a:rPr>
              <a:t>Microphones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u="none" strike="noStrike" dirty="0">
                <a:effectLst/>
                <a:latin typeface="helveticaregular"/>
              </a:rPr>
              <a:t>Graphics tablets</a:t>
            </a:r>
            <a:endParaRPr lang="en-US" b="0" i="0" dirty="0">
              <a:effectLst/>
              <a:latin typeface="helveticaregular"/>
            </a:endParaRPr>
          </a:p>
          <a:p>
            <a:pPr algn="l">
              <a:lnSpc>
                <a:spcPts val="1800"/>
              </a:lnSpc>
              <a:spcAft>
                <a:spcPts val="375"/>
              </a:spcAft>
              <a:buFont typeface="Arial" panose="020B0604020202020204" pitchFamily="34" charset="0"/>
              <a:buChar char="•"/>
            </a:pPr>
            <a:r>
              <a:rPr lang="en-US" b="0" i="0" u="none" strike="noStrike" dirty="0">
                <a:effectLst/>
                <a:latin typeface="helveticaregular"/>
              </a:rPr>
              <a:t>Digital cameras</a:t>
            </a:r>
            <a:endParaRPr lang="en-US" b="0" i="0" dirty="0">
              <a:effectLst/>
              <a:latin typeface="helveticaregular"/>
            </a:endParaRPr>
          </a:p>
          <a:p>
            <a:endParaRPr lang="en-US" dirty="0"/>
          </a:p>
        </p:txBody>
      </p:sp>
    </p:spTree>
    <p:extLst>
      <p:ext uri="{BB962C8B-B14F-4D97-AF65-F5344CB8AC3E}">
        <p14:creationId xmlns:p14="http://schemas.microsoft.com/office/powerpoint/2010/main" val="1807256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13E21B-3522-50BD-7CBF-59199EF6721B}"/>
              </a:ext>
            </a:extLst>
          </p:cNvPr>
          <p:cNvSpPr>
            <a:spLocks noGrp="1"/>
          </p:cNvSpPr>
          <p:nvPr>
            <p:ph idx="1"/>
          </p:nvPr>
        </p:nvSpPr>
        <p:spPr>
          <a:xfrm>
            <a:off x="685800" y="365760"/>
            <a:ext cx="10442448" cy="5806440"/>
          </a:xfrm>
        </p:spPr>
        <p:txBody>
          <a:bodyPr>
            <a:normAutofit fontScale="92500" lnSpcReduction="20000"/>
          </a:bodyPr>
          <a:lstStyle/>
          <a:p>
            <a:pPr marL="0" indent="0">
              <a:buNone/>
            </a:pPr>
            <a:r>
              <a:rPr lang="en-US" b="1" dirty="0"/>
              <a:t>Output Peripherals</a:t>
            </a:r>
          </a:p>
          <a:p>
            <a:pPr>
              <a:lnSpc>
                <a:spcPct val="170000"/>
              </a:lnSpc>
            </a:pPr>
            <a:r>
              <a:rPr lang="en-US" sz="2100" dirty="0"/>
              <a:t>Output Peripherals communicate the results of a computer’s processes to the user. Examples of output peripherals include:</a:t>
            </a:r>
          </a:p>
          <a:p>
            <a:endParaRPr lang="en-US" dirty="0"/>
          </a:p>
          <a:p>
            <a:pPr marL="0" indent="0">
              <a:buNone/>
            </a:pPr>
            <a:r>
              <a:rPr lang="en-US" b="1" dirty="0"/>
              <a:t>Visual</a:t>
            </a:r>
          </a:p>
          <a:p>
            <a:r>
              <a:rPr lang="en-US" dirty="0"/>
              <a:t>Monitors</a:t>
            </a:r>
          </a:p>
          <a:p>
            <a:r>
              <a:rPr lang="en-US" dirty="0"/>
              <a:t>Projectors</a:t>
            </a:r>
          </a:p>
          <a:p>
            <a:r>
              <a:rPr lang="en-US" dirty="0"/>
              <a:t>Color printers</a:t>
            </a:r>
          </a:p>
          <a:p>
            <a:r>
              <a:rPr lang="en-US" dirty="0"/>
              <a:t>VR headsets</a:t>
            </a:r>
          </a:p>
          <a:p>
            <a:r>
              <a:rPr lang="en-US" dirty="0"/>
              <a:t>AR headsets</a:t>
            </a:r>
          </a:p>
          <a:p>
            <a:pPr marL="0" indent="0">
              <a:buNone/>
            </a:pPr>
            <a:endParaRPr lang="en-US" b="1" dirty="0"/>
          </a:p>
          <a:p>
            <a:pPr marL="0" indent="0">
              <a:buNone/>
            </a:pPr>
            <a:r>
              <a:rPr lang="en-US" b="1" dirty="0"/>
              <a:t>Audio</a:t>
            </a:r>
          </a:p>
          <a:p>
            <a:r>
              <a:rPr lang="en-US" dirty="0"/>
              <a:t>Surround sound speakers</a:t>
            </a:r>
          </a:p>
          <a:p>
            <a:r>
              <a:rPr lang="en-US" dirty="0"/>
              <a:t>Headphones</a:t>
            </a:r>
          </a:p>
          <a:p>
            <a:r>
              <a:rPr lang="en-US" dirty="0"/>
              <a:t>Earbuds</a:t>
            </a:r>
          </a:p>
        </p:txBody>
      </p:sp>
    </p:spTree>
    <p:extLst>
      <p:ext uri="{BB962C8B-B14F-4D97-AF65-F5344CB8AC3E}">
        <p14:creationId xmlns:p14="http://schemas.microsoft.com/office/powerpoint/2010/main" val="323183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80B32-766C-17E8-2DCE-1E319D60D73B}"/>
              </a:ext>
            </a:extLst>
          </p:cNvPr>
          <p:cNvSpPr>
            <a:spLocks noGrp="1"/>
          </p:cNvSpPr>
          <p:nvPr>
            <p:ph idx="1"/>
          </p:nvPr>
        </p:nvSpPr>
        <p:spPr>
          <a:xfrm>
            <a:off x="571500" y="411480"/>
            <a:ext cx="10556748" cy="5760720"/>
          </a:xfrm>
        </p:spPr>
        <p:txBody>
          <a:bodyPr>
            <a:normAutofit/>
          </a:bodyPr>
          <a:lstStyle/>
          <a:p>
            <a:pPr marL="0" indent="0">
              <a:buNone/>
            </a:pPr>
            <a:r>
              <a:rPr lang="en-US" b="1" dirty="0"/>
              <a:t>Storage Peripherals</a:t>
            </a:r>
          </a:p>
          <a:p>
            <a:r>
              <a:rPr lang="en-US" dirty="0"/>
              <a:t>Storage peripherals provide additional memory storage capacity beyond what is built into the computer. Storage devices include:</a:t>
            </a:r>
          </a:p>
          <a:p>
            <a:pPr marL="0" indent="0">
              <a:buNone/>
            </a:pPr>
            <a:r>
              <a:rPr lang="en-US" b="1" dirty="0"/>
              <a:t>Internal</a:t>
            </a:r>
          </a:p>
          <a:p>
            <a:r>
              <a:rPr lang="en-US" dirty="0"/>
              <a:t>Hard disk drives</a:t>
            </a:r>
          </a:p>
          <a:p>
            <a:r>
              <a:rPr lang="en-US" dirty="0"/>
              <a:t>Solid-state drives</a:t>
            </a:r>
          </a:p>
          <a:p>
            <a:r>
              <a:rPr lang="en-US" dirty="0"/>
              <a:t>Optical drives</a:t>
            </a:r>
          </a:p>
          <a:p>
            <a:pPr marL="0" indent="0">
              <a:buNone/>
            </a:pPr>
            <a:endParaRPr lang="en-US" b="1" dirty="0"/>
          </a:p>
          <a:p>
            <a:pPr marL="0" indent="0">
              <a:buNone/>
            </a:pPr>
            <a:r>
              <a:rPr lang="en-US" b="1" dirty="0"/>
              <a:t>External</a:t>
            </a:r>
          </a:p>
          <a:p>
            <a:r>
              <a:rPr lang="en-US" dirty="0"/>
              <a:t>USB flash drives</a:t>
            </a:r>
          </a:p>
          <a:p>
            <a:r>
              <a:rPr lang="en-US" dirty="0"/>
              <a:t>External hard drives</a:t>
            </a:r>
          </a:p>
          <a:p>
            <a:r>
              <a:rPr lang="en-US" dirty="0"/>
              <a:t>Memory cards</a:t>
            </a:r>
          </a:p>
        </p:txBody>
      </p:sp>
    </p:spTree>
    <p:extLst>
      <p:ext uri="{BB962C8B-B14F-4D97-AF65-F5344CB8AC3E}">
        <p14:creationId xmlns:p14="http://schemas.microsoft.com/office/powerpoint/2010/main" val="3207385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46D20-8AAC-A724-78E0-8BA93D6FE9F8}"/>
              </a:ext>
            </a:extLst>
          </p:cNvPr>
          <p:cNvSpPr>
            <a:spLocks noGrp="1"/>
          </p:cNvSpPr>
          <p:nvPr>
            <p:ph idx="1"/>
          </p:nvPr>
        </p:nvSpPr>
        <p:spPr>
          <a:xfrm>
            <a:off x="697230" y="560070"/>
            <a:ext cx="10431018" cy="5612130"/>
          </a:xfrm>
        </p:spPr>
        <p:txBody>
          <a:bodyPr>
            <a:normAutofit/>
          </a:bodyPr>
          <a:lstStyle/>
          <a:p>
            <a:pPr marL="0" indent="0">
              <a:buNone/>
            </a:pPr>
            <a:r>
              <a:rPr lang="en-US" b="1" dirty="0"/>
              <a:t>Networking Peripherals</a:t>
            </a:r>
          </a:p>
          <a:p>
            <a:r>
              <a:rPr lang="en-US" dirty="0"/>
              <a:t>Networking peripherals, which may also be called communication peripherals, enable a computer to connect with other computers or network systems. Examples include:</a:t>
            </a:r>
          </a:p>
          <a:p>
            <a:endParaRPr lang="en-US" dirty="0"/>
          </a:p>
          <a:p>
            <a:pPr marL="0" indent="0">
              <a:buNone/>
            </a:pPr>
            <a:r>
              <a:rPr lang="en-US" b="1" dirty="0"/>
              <a:t>Wired</a:t>
            </a:r>
          </a:p>
          <a:p>
            <a:r>
              <a:rPr lang="en-US" dirty="0"/>
              <a:t>Network interface cards</a:t>
            </a:r>
          </a:p>
          <a:p>
            <a:r>
              <a:rPr lang="en-US" dirty="0"/>
              <a:t>Routers</a:t>
            </a:r>
          </a:p>
          <a:p>
            <a:r>
              <a:rPr lang="en-US" dirty="0"/>
              <a:t>Modems</a:t>
            </a:r>
          </a:p>
          <a:p>
            <a:pPr marL="0" indent="0">
              <a:buNone/>
            </a:pPr>
            <a:r>
              <a:rPr lang="en-US" b="1" dirty="0"/>
              <a:t>Wireless</a:t>
            </a:r>
          </a:p>
          <a:p>
            <a:r>
              <a:rPr lang="en-US" dirty="0"/>
              <a:t>Wi-Fi adapters</a:t>
            </a:r>
          </a:p>
          <a:p>
            <a:r>
              <a:rPr lang="en-US" dirty="0"/>
              <a:t>Bluetooth adapters</a:t>
            </a:r>
          </a:p>
          <a:p>
            <a:r>
              <a:rPr lang="en-US" dirty="0"/>
              <a:t>Wi-Fi extenders</a:t>
            </a:r>
          </a:p>
        </p:txBody>
      </p:sp>
    </p:spTree>
    <p:extLst>
      <p:ext uri="{BB962C8B-B14F-4D97-AF65-F5344CB8AC3E}">
        <p14:creationId xmlns:p14="http://schemas.microsoft.com/office/powerpoint/2010/main" val="275561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112EB-7DA9-BD7D-EE9E-B95E4E52B6ED}"/>
              </a:ext>
            </a:extLst>
          </p:cNvPr>
          <p:cNvSpPr>
            <a:spLocks noGrp="1"/>
          </p:cNvSpPr>
          <p:nvPr>
            <p:ph idx="1"/>
          </p:nvPr>
        </p:nvSpPr>
        <p:spPr>
          <a:xfrm>
            <a:off x="822960" y="674370"/>
            <a:ext cx="10305288" cy="5497830"/>
          </a:xfrm>
        </p:spPr>
        <p:txBody>
          <a:bodyPr>
            <a:normAutofit/>
          </a:bodyPr>
          <a:lstStyle/>
          <a:p>
            <a:pPr algn="l" fontAlgn="base">
              <a:buFont typeface="Arial" panose="020B0604020202020204" pitchFamily="34" charset="0"/>
              <a:buChar char="•"/>
            </a:pPr>
            <a:r>
              <a:rPr lang="en-US" sz="2400" b="1" i="0" dirty="0">
                <a:solidFill>
                  <a:srgbClr val="3D3D3D"/>
                </a:solidFill>
                <a:effectLst/>
                <a:highlight>
                  <a:srgbClr val="FFFF00"/>
                </a:highlight>
                <a:latin typeface="inherit"/>
              </a:rPr>
              <a:t>I/O Interface</a:t>
            </a:r>
          </a:p>
          <a:p>
            <a:pPr algn="l" fontAlgn="base">
              <a:buFont typeface="Arial" panose="020B0604020202020204" pitchFamily="34" charset="0"/>
              <a:buChar char="•"/>
            </a:pPr>
            <a:r>
              <a:rPr lang="en-US" sz="2400" b="0" i="0" dirty="0">
                <a:solidFill>
                  <a:srgbClr val="3D3D3D"/>
                </a:solidFill>
                <a:effectLst/>
                <a:highlight>
                  <a:srgbClr val="FFFF00"/>
                </a:highlight>
                <a:latin typeface="inherit"/>
              </a:rPr>
              <a:t>The method used t</a:t>
            </a:r>
            <a:r>
              <a:rPr lang="el-GR" sz="2400" b="0" i="0" dirty="0">
                <a:solidFill>
                  <a:srgbClr val="3D3D3D"/>
                </a:solidFill>
                <a:effectLst/>
                <a:highlight>
                  <a:srgbClr val="FFFF00"/>
                </a:highlight>
                <a:latin typeface="inherit"/>
              </a:rPr>
              <a:t>ο </a:t>
            </a:r>
            <a:r>
              <a:rPr lang="en-US" sz="2400" b="0" i="0" dirty="0" err="1">
                <a:solidFill>
                  <a:srgbClr val="3D3D3D"/>
                </a:solidFill>
                <a:effectLst/>
                <a:highlight>
                  <a:srgbClr val="FFFF00"/>
                </a:highlight>
                <a:latin typeface="inherit"/>
              </a:rPr>
              <a:t>transf</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r inf</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rmati</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n b</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tw</a:t>
            </a:r>
            <a:r>
              <a:rPr lang="az-Cyrl-AZ" sz="2400" b="0" i="0" dirty="0">
                <a:solidFill>
                  <a:srgbClr val="3D3D3D"/>
                </a:solidFill>
                <a:effectLst/>
                <a:highlight>
                  <a:srgbClr val="FFFF00"/>
                </a:highlight>
                <a:latin typeface="inherit"/>
              </a:rPr>
              <a:t>ее</a:t>
            </a:r>
            <a:r>
              <a:rPr lang="en-US" sz="2400" b="0" i="0" dirty="0">
                <a:solidFill>
                  <a:srgbClr val="3D3D3D"/>
                </a:solidFill>
                <a:effectLst/>
                <a:highlight>
                  <a:srgbClr val="FFFF00"/>
                </a:highlight>
                <a:latin typeface="inherit"/>
              </a:rPr>
              <a:t>n int</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rnal</a:t>
            </a:r>
            <a:r>
              <a:rPr lang="en-US" sz="2400" b="0" i="0" dirty="0">
                <a:solidFill>
                  <a:srgbClr val="3D3D3D"/>
                </a:solidFill>
                <a:effectLst/>
                <a:highlight>
                  <a:srgbClr val="FFFF00"/>
                </a:highlight>
                <a:latin typeface="inherit"/>
              </a:rPr>
              <a:t> </a:t>
            </a:r>
            <a:r>
              <a:rPr lang="en-US" sz="2400" b="0" i="0" dirty="0" err="1">
                <a:solidFill>
                  <a:srgbClr val="3D3D3D"/>
                </a:solidFill>
                <a:effectLst/>
                <a:highlight>
                  <a:srgbClr val="FFFF00"/>
                </a:highlight>
                <a:latin typeface="inherit"/>
              </a:rPr>
              <a:t>st</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rag</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and </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xt</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rnal</a:t>
            </a:r>
            <a:r>
              <a:rPr lang="en-US" sz="2400" b="0" i="0" dirty="0">
                <a:solidFill>
                  <a:srgbClr val="3D3D3D"/>
                </a:solidFill>
                <a:effectLst/>
                <a:highlight>
                  <a:srgbClr val="FFFF00"/>
                </a:highlight>
                <a:latin typeface="inherit"/>
              </a:rPr>
              <a:t> I/</a:t>
            </a:r>
            <a:r>
              <a:rPr lang="el-GR" sz="2400" b="0" i="0" dirty="0">
                <a:solidFill>
                  <a:srgbClr val="3D3D3D"/>
                </a:solidFill>
                <a:effectLst/>
                <a:highlight>
                  <a:srgbClr val="FFFF00"/>
                </a:highlight>
                <a:latin typeface="inherit"/>
              </a:rPr>
              <a:t>Ο </a:t>
            </a:r>
            <a:r>
              <a:rPr lang="en-US" sz="2400" b="0" i="0" dirty="0">
                <a:solidFill>
                  <a:srgbClr val="3D3D3D"/>
                </a:solidFill>
                <a:effectLst/>
                <a:highlight>
                  <a:srgbClr val="FFFF00"/>
                </a:highlight>
                <a:latin typeface="inherit"/>
              </a:rPr>
              <a:t>d</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vic</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s. is </a:t>
            </a:r>
            <a:r>
              <a:rPr lang="en-US" sz="2400" b="0" i="0" dirty="0" err="1">
                <a:solidFill>
                  <a:srgbClr val="3D3D3D"/>
                </a:solidFill>
                <a:effectLst/>
                <a:highlight>
                  <a:srgbClr val="FFFF00"/>
                </a:highlight>
                <a:latin typeface="inherit"/>
              </a:rPr>
              <a:t>kn</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wn</a:t>
            </a:r>
            <a:r>
              <a:rPr lang="en-US" sz="2400" b="0" i="0" dirty="0">
                <a:solidFill>
                  <a:srgbClr val="3D3D3D"/>
                </a:solidFill>
                <a:effectLst/>
                <a:highlight>
                  <a:srgbClr val="FFFF00"/>
                </a:highlight>
                <a:latin typeface="inherit"/>
              </a:rPr>
              <a:t> as</a:t>
            </a:r>
            <a:r>
              <a:rPr lang="en-US" sz="2400" b="1" i="0" dirty="0">
                <a:solidFill>
                  <a:srgbClr val="3D3D3D"/>
                </a:solidFill>
                <a:effectLst/>
                <a:highlight>
                  <a:srgbClr val="FFFF00"/>
                </a:highlight>
                <a:latin typeface="inherit"/>
              </a:rPr>
              <a:t> I/</a:t>
            </a:r>
            <a:r>
              <a:rPr lang="el-GR" sz="2400" b="1" i="0" dirty="0">
                <a:solidFill>
                  <a:srgbClr val="3D3D3D"/>
                </a:solidFill>
                <a:effectLst/>
                <a:highlight>
                  <a:srgbClr val="FFFF00"/>
                </a:highlight>
                <a:latin typeface="inherit"/>
              </a:rPr>
              <a:t>Ο </a:t>
            </a:r>
            <a:r>
              <a:rPr lang="en-US" sz="2400" b="1" i="0" dirty="0">
                <a:solidFill>
                  <a:srgbClr val="3D3D3D"/>
                </a:solidFill>
                <a:effectLst/>
                <a:highlight>
                  <a:srgbClr val="FFFF00"/>
                </a:highlight>
                <a:latin typeface="inherit"/>
              </a:rPr>
              <a:t>int</a:t>
            </a:r>
            <a:r>
              <a:rPr lang="az-Cyrl-AZ" sz="2400" b="1" i="0" dirty="0">
                <a:solidFill>
                  <a:srgbClr val="3D3D3D"/>
                </a:solidFill>
                <a:effectLst/>
                <a:highlight>
                  <a:srgbClr val="FFFF00"/>
                </a:highlight>
                <a:latin typeface="inherit"/>
              </a:rPr>
              <a:t>е</a:t>
            </a:r>
            <a:r>
              <a:rPr lang="en-US" sz="2400" b="1" i="0" dirty="0" err="1">
                <a:solidFill>
                  <a:srgbClr val="3D3D3D"/>
                </a:solidFill>
                <a:effectLst/>
                <a:highlight>
                  <a:srgbClr val="FFFF00"/>
                </a:highlight>
                <a:latin typeface="inherit"/>
              </a:rPr>
              <a:t>rfac</a:t>
            </a:r>
            <a:r>
              <a:rPr lang="az-Cyrl-AZ" sz="2400" b="1" i="0" dirty="0">
                <a:solidFill>
                  <a:srgbClr val="3D3D3D"/>
                </a:solidFill>
                <a:effectLst/>
                <a:highlight>
                  <a:srgbClr val="FFFF00"/>
                </a:highlight>
                <a:latin typeface="inherit"/>
              </a:rPr>
              <a:t>е.</a:t>
            </a:r>
            <a:endParaRPr lang="az-Cyrl-AZ" sz="2400" b="0" i="0" dirty="0">
              <a:solidFill>
                <a:srgbClr val="3D3D3D"/>
              </a:solidFill>
              <a:effectLst/>
              <a:highlight>
                <a:srgbClr val="FFFF00"/>
              </a:highlight>
              <a:latin typeface="inherit"/>
            </a:endParaRPr>
          </a:p>
          <a:p>
            <a:pPr algn="just" fontAlgn="base">
              <a:buFont typeface="Arial" panose="020B0604020202020204" pitchFamily="34" charset="0"/>
              <a:buChar char="•"/>
            </a:pPr>
            <a:r>
              <a:rPr lang="en-US" sz="2400" b="0" i="0" dirty="0">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CPU is int</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rfac</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d using </a:t>
            </a:r>
            <a:r>
              <a:rPr lang="en-US" sz="2400" b="0" i="0" dirty="0" err="1">
                <a:solidFill>
                  <a:srgbClr val="3D3D3D"/>
                </a:solidFill>
                <a:effectLst/>
                <a:highlight>
                  <a:srgbClr val="FFFF00"/>
                </a:highlight>
                <a:latin typeface="inherit"/>
              </a:rPr>
              <a:t>sp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cial</a:t>
            </a:r>
            <a:r>
              <a:rPr lang="en-US" sz="2400" b="0" i="0" dirty="0">
                <a:solidFill>
                  <a:srgbClr val="3D3D3D"/>
                </a:solidFill>
                <a:effectLst/>
                <a:highlight>
                  <a:srgbClr val="FFFF00"/>
                </a:highlight>
                <a:latin typeface="inherit"/>
              </a:rPr>
              <a:t> c</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mmunicati</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n links by </a:t>
            </a:r>
            <a:r>
              <a:rPr lang="en-US" sz="2400" b="0" i="0" dirty="0" err="1">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riph</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rals</a:t>
            </a:r>
            <a:r>
              <a:rPr lang="en-US" sz="2400" b="0" i="0" dirty="0">
                <a:solidFill>
                  <a:srgbClr val="3D3D3D"/>
                </a:solidFill>
                <a:effectLst/>
                <a:highlight>
                  <a:srgbClr val="FFFF00"/>
                </a:highlight>
                <a:latin typeface="inherit"/>
              </a:rPr>
              <a:t> c</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nn</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ct</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d t</a:t>
            </a:r>
            <a:r>
              <a:rPr lang="el-GR" sz="2400" b="0" i="0" dirty="0">
                <a:solidFill>
                  <a:srgbClr val="3D3D3D"/>
                </a:solidFill>
                <a:effectLst/>
                <a:highlight>
                  <a:srgbClr val="FFFF00"/>
                </a:highlight>
                <a:latin typeface="inherit"/>
              </a:rPr>
              <a:t>ο </a:t>
            </a:r>
            <a:r>
              <a:rPr lang="en-US" sz="2400" b="0" i="0" dirty="0">
                <a:solidFill>
                  <a:srgbClr val="3D3D3D"/>
                </a:solidFill>
                <a:effectLst/>
                <a:highlight>
                  <a:srgbClr val="FFFF00"/>
                </a:highlight>
                <a:latin typeface="inherit"/>
              </a:rPr>
              <a:t>any c</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mput</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r syst</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m.</a:t>
            </a:r>
          </a:p>
          <a:p>
            <a:pPr algn="just" fontAlgn="base">
              <a:buFont typeface="Arial" panose="020B0604020202020204" pitchFamily="34" charset="0"/>
              <a:buChar char="•"/>
            </a:pPr>
            <a:r>
              <a:rPr lang="en-US" sz="2400" b="0" i="0" dirty="0">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s</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c</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mmunicati</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n links </a:t>
            </a:r>
            <a:r>
              <a:rPr lang="en-US" sz="2400" b="0" i="0" dirty="0" err="1">
                <a:solidFill>
                  <a:srgbClr val="3D3D3D"/>
                </a:solidFill>
                <a:effectLst/>
                <a:highlight>
                  <a:srgbClr val="FFFF00"/>
                </a:highlight>
                <a:latin typeface="inherit"/>
              </a:rPr>
              <a:t>ar</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us</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d t</a:t>
            </a:r>
            <a:r>
              <a:rPr lang="el-GR" sz="2400" b="0" i="0" dirty="0">
                <a:solidFill>
                  <a:srgbClr val="3D3D3D"/>
                </a:solidFill>
                <a:effectLst/>
                <a:highlight>
                  <a:srgbClr val="FFFF00"/>
                </a:highlight>
                <a:latin typeface="inherit"/>
              </a:rPr>
              <a:t>ο </a:t>
            </a:r>
            <a:r>
              <a:rPr lang="en-US" sz="2400" b="0" i="0" dirty="0">
                <a:solidFill>
                  <a:srgbClr val="3D3D3D"/>
                </a:solidFill>
                <a:effectLst/>
                <a:highlight>
                  <a:srgbClr val="FFFF00"/>
                </a:highlight>
                <a:latin typeface="inherit"/>
              </a:rPr>
              <a:t>r</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s</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lv</a:t>
            </a:r>
            <a:r>
              <a:rPr lang="az-Cyrl-AZ" sz="2400" b="0" i="0" dirty="0">
                <a:solidFill>
                  <a:srgbClr val="3D3D3D"/>
                </a:solidFill>
                <a:effectLst/>
                <a:highlight>
                  <a:srgbClr val="FFFF00"/>
                </a:highlight>
                <a:latin typeface="inherit"/>
              </a:rPr>
              <a:t>е </a:t>
            </a:r>
            <a:r>
              <a:rPr lang="en-US" sz="2400" b="0" i="0" dirty="0" err="1">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diff</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r</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nc</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s b</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tw</a:t>
            </a:r>
            <a:r>
              <a:rPr lang="az-Cyrl-AZ" sz="2400" b="0" i="0" dirty="0">
                <a:solidFill>
                  <a:srgbClr val="3D3D3D"/>
                </a:solidFill>
                <a:effectLst/>
                <a:highlight>
                  <a:srgbClr val="FFFF00"/>
                </a:highlight>
                <a:latin typeface="inherit"/>
              </a:rPr>
              <a:t>ее</a:t>
            </a:r>
            <a:r>
              <a:rPr lang="en-US" sz="2400" b="0" i="0" dirty="0">
                <a:solidFill>
                  <a:srgbClr val="3D3D3D"/>
                </a:solidFill>
                <a:effectLst/>
                <a:highlight>
                  <a:srgbClr val="FFFF00"/>
                </a:highlight>
                <a:latin typeface="inherit"/>
              </a:rPr>
              <a:t>n </a:t>
            </a:r>
            <a:r>
              <a:rPr lang="en-US" sz="2400" b="1" i="0" dirty="0">
                <a:solidFill>
                  <a:srgbClr val="3D3D3D"/>
                </a:solidFill>
                <a:effectLst/>
                <a:highlight>
                  <a:srgbClr val="FFFF00"/>
                </a:highlight>
                <a:latin typeface="inherit"/>
              </a:rPr>
              <a:t>CPU</a:t>
            </a:r>
            <a:r>
              <a:rPr lang="en-US" sz="2400" b="0" i="0" dirty="0">
                <a:solidFill>
                  <a:srgbClr val="3D3D3D"/>
                </a:solidFill>
                <a:effectLst/>
                <a:highlight>
                  <a:srgbClr val="FFFF00"/>
                </a:highlight>
                <a:latin typeface="inherit"/>
              </a:rPr>
              <a:t> and 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riph</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ral</a:t>
            </a:r>
            <a:r>
              <a:rPr lang="en-US" sz="2400" b="0" i="0" dirty="0">
                <a:solidFill>
                  <a:srgbClr val="3D3D3D"/>
                </a:solidFill>
                <a:effectLst/>
                <a:highlight>
                  <a:srgbClr val="FFFF00"/>
                </a:highlight>
                <a:latin typeface="inherit"/>
              </a:rPr>
              <a:t>.</a:t>
            </a:r>
          </a:p>
          <a:p>
            <a:pPr algn="just" fontAlgn="base">
              <a:buFont typeface="Arial" panose="020B0604020202020204" pitchFamily="34" charset="0"/>
              <a:buChar char="•"/>
            </a:pPr>
            <a:r>
              <a:rPr lang="en-US" sz="2400" b="0" i="0" dirty="0">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r</a:t>
            </a:r>
            <a:r>
              <a:rPr lang="az-Cyrl-AZ" sz="2400" b="0" i="0" dirty="0">
                <a:solidFill>
                  <a:srgbClr val="3D3D3D"/>
                </a:solidFill>
                <a:effectLst/>
                <a:highlight>
                  <a:srgbClr val="FFFF00"/>
                </a:highlight>
                <a:latin typeface="inherit"/>
              </a:rPr>
              <a:t>е е</a:t>
            </a:r>
            <a:r>
              <a:rPr lang="en-US" sz="2400" b="0" i="0" dirty="0" err="1">
                <a:solidFill>
                  <a:srgbClr val="3D3D3D"/>
                </a:solidFill>
                <a:effectLst/>
                <a:highlight>
                  <a:srgbClr val="FFFF00"/>
                </a:highlight>
                <a:latin typeface="inherit"/>
              </a:rPr>
              <a:t>xists</a:t>
            </a:r>
            <a:r>
              <a:rPr lang="en-US" sz="2400" b="0" i="0" dirty="0">
                <a:solidFill>
                  <a:srgbClr val="3D3D3D"/>
                </a:solidFill>
                <a:effectLst/>
                <a:highlight>
                  <a:srgbClr val="FFFF00"/>
                </a:highlight>
                <a:latin typeface="inherit"/>
              </a:rPr>
              <a:t> </a:t>
            </a:r>
            <a:r>
              <a:rPr lang="en-US" sz="2400" b="0" i="0" dirty="0" err="1">
                <a:solidFill>
                  <a:srgbClr val="3D3D3D"/>
                </a:solidFill>
                <a:effectLst/>
                <a:highlight>
                  <a:srgbClr val="FFFF00"/>
                </a:highlight>
                <a:latin typeface="inherit"/>
              </a:rPr>
              <a:t>sp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cial</a:t>
            </a:r>
            <a:r>
              <a:rPr lang="en-US" sz="2400" b="0" i="0" dirty="0">
                <a:solidFill>
                  <a:srgbClr val="3D3D3D"/>
                </a:solidFill>
                <a:effectLst/>
                <a:highlight>
                  <a:srgbClr val="FFFF00"/>
                </a:highlight>
                <a:latin typeface="inherit"/>
              </a:rPr>
              <a:t> </a:t>
            </a:r>
            <a:r>
              <a:rPr lang="en-US" sz="2400" b="0" i="0" dirty="0" err="1">
                <a:solidFill>
                  <a:srgbClr val="3D3D3D"/>
                </a:solidFill>
                <a:effectLst/>
                <a:highlight>
                  <a:srgbClr val="FFFF00"/>
                </a:highlight>
                <a:latin typeface="inherit"/>
              </a:rPr>
              <a:t>hardwar</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c</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mp</a:t>
            </a:r>
            <a:r>
              <a:rPr lang="el-GR" sz="2400" b="0" i="0" dirty="0">
                <a:solidFill>
                  <a:srgbClr val="3D3D3D"/>
                </a:solidFill>
                <a:effectLst/>
                <a:highlight>
                  <a:srgbClr val="FFFF00"/>
                </a:highlight>
                <a:latin typeface="inherit"/>
              </a:rPr>
              <a:t>ο</a:t>
            </a:r>
            <a:r>
              <a:rPr lang="en-US" sz="2400" b="0" i="0" dirty="0">
                <a:solidFill>
                  <a:srgbClr val="3D3D3D"/>
                </a:solidFill>
                <a:effectLst/>
                <a:highlight>
                  <a:srgbClr val="FFFF00"/>
                </a:highlight>
                <a:latin typeface="inherit"/>
              </a:rPr>
              <a:t>n</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nts</a:t>
            </a:r>
            <a:r>
              <a:rPr lang="en-US" sz="2400" b="0" i="0" dirty="0">
                <a:solidFill>
                  <a:srgbClr val="3D3D3D"/>
                </a:solidFill>
                <a:effectLst/>
                <a:highlight>
                  <a:srgbClr val="FFFF00"/>
                </a:highlight>
                <a:latin typeface="inherit"/>
              </a:rPr>
              <a:t> b</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tw</a:t>
            </a:r>
            <a:r>
              <a:rPr lang="az-Cyrl-AZ" sz="2400" b="0" i="0" dirty="0">
                <a:solidFill>
                  <a:srgbClr val="3D3D3D"/>
                </a:solidFill>
                <a:effectLst/>
                <a:highlight>
                  <a:srgbClr val="FFFF00"/>
                </a:highlight>
                <a:latin typeface="inherit"/>
              </a:rPr>
              <a:t>ее</a:t>
            </a:r>
            <a:r>
              <a:rPr lang="en-US" sz="2400" b="0" i="0" dirty="0">
                <a:solidFill>
                  <a:srgbClr val="3D3D3D"/>
                </a:solidFill>
                <a:effectLst/>
                <a:highlight>
                  <a:srgbClr val="FFFF00"/>
                </a:highlight>
                <a:latin typeface="inherit"/>
              </a:rPr>
              <a:t>n CPU and 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riph</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rals</a:t>
            </a:r>
            <a:r>
              <a:rPr lang="en-US" sz="2400" b="0" i="0" dirty="0">
                <a:solidFill>
                  <a:srgbClr val="3D3D3D"/>
                </a:solidFill>
                <a:effectLst/>
                <a:highlight>
                  <a:srgbClr val="FFFF00"/>
                </a:highlight>
                <a:latin typeface="inherit"/>
              </a:rPr>
              <a:t> t</a:t>
            </a:r>
            <a:r>
              <a:rPr lang="el-GR" sz="2400" b="0" i="0" dirty="0">
                <a:solidFill>
                  <a:srgbClr val="3D3D3D"/>
                </a:solidFill>
                <a:effectLst/>
                <a:highlight>
                  <a:srgbClr val="FFFF00"/>
                </a:highlight>
                <a:latin typeface="inherit"/>
              </a:rPr>
              <a:t>ο </a:t>
            </a:r>
            <a:r>
              <a:rPr lang="en-US" sz="2400" b="0" i="0" dirty="0">
                <a:solidFill>
                  <a:srgbClr val="3D3D3D"/>
                </a:solidFill>
                <a:effectLst/>
                <a:highlight>
                  <a:srgbClr val="FFFF00"/>
                </a:highlight>
                <a:latin typeface="inherit"/>
              </a:rPr>
              <a:t>sup</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rvis</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and </a:t>
            </a:r>
            <a:r>
              <a:rPr lang="en-US" sz="2400" b="0" i="0" dirty="0" err="1">
                <a:solidFill>
                  <a:srgbClr val="3D3D3D"/>
                </a:solidFill>
                <a:effectLst/>
                <a:highlight>
                  <a:srgbClr val="FFFF00"/>
                </a:highlight>
                <a:latin typeface="inherit"/>
              </a:rPr>
              <a:t>synchr</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niz</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all </a:t>
            </a:r>
            <a:r>
              <a:rPr lang="en-US" sz="2400" b="0" i="0" dirty="0" err="1">
                <a:solidFill>
                  <a:srgbClr val="3D3D3D"/>
                </a:solidFill>
                <a:effectLst/>
                <a:highlight>
                  <a:srgbClr val="FFFF00"/>
                </a:highlight>
                <a:latin typeface="inherit"/>
              </a:rPr>
              <a:t>th</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input and </a:t>
            </a:r>
            <a:r>
              <a:rPr lang="el-GR" sz="2400" b="0" i="0" dirty="0">
                <a:solidFill>
                  <a:srgbClr val="3D3D3D"/>
                </a:solidFill>
                <a:effectLst/>
                <a:highlight>
                  <a:srgbClr val="FFFF00"/>
                </a:highlight>
                <a:latin typeface="inherit"/>
              </a:rPr>
              <a:t>ο</a:t>
            </a:r>
            <a:r>
              <a:rPr lang="en-US" sz="2400" b="0" i="0" dirty="0" err="1">
                <a:solidFill>
                  <a:srgbClr val="3D3D3D"/>
                </a:solidFill>
                <a:effectLst/>
                <a:highlight>
                  <a:srgbClr val="FFFF00"/>
                </a:highlight>
                <a:latin typeface="inherit"/>
              </a:rPr>
              <a:t>utput</a:t>
            </a:r>
            <a:r>
              <a:rPr lang="en-US" sz="2400" b="0" i="0" dirty="0">
                <a:solidFill>
                  <a:srgbClr val="3D3D3D"/>
                </a:solidFill>
                <a:effectLst/>
                <a:highlight>
                  <a:srgbClr val="FFFF00"/>
                </a:highlight>
                <a:latin typeface="inherit"/>
              </a:rPr>
              <a:t> </a:t>
            </a:r>
            <a:r>
              <a:rPr lang="en-US" sz="2400" b="0" i="0" dirty="0" err="1">
                <a:solidFill>
                  <a:srgbClr val="3D3D3D"/>
                </a:solidFill>
                <a:effectLst/>
                <a:highlight>
                  <a:srgbClr val="FFFF00"/>
                </a:highlight>
                <a:latin typeface="inherit"/>
              </a:rPr>
              <a:t>transf</a:t>
            </a:r>
            <a:r>
              <a:rPr lang="az-Cyrl-AZ" sz="2400" b="0" i="0" dirty="0">
                <a:solidFill>
                  <a:srgbClr val="3D3D3D"/>
                </a:solidFill>
                <a:effectLst/>
                <a:highlight>
                  <a:srgbClr val="FFFF00"/>
                </a:highlight>
                <a:latin typeface="inherit"/>
              </a:rPr>
              <a:t>е</a:t>
            </a:r>
            <a:r>
              <a:rPr lang="en-US" sz="2400" b="0" i="0" dirty="0" err="1">
                <a:solidFill>
                  <a:srgbClr val="3D3D3D"/>
                </a:solidFill>
                <a:effectLst/>
                <a:highlight>
                  <a:srgbClr val="FFFF00"/>
                </a:highlight>
                <a:latin typeface="inherit"/>
              </a:rPr>
              <a:t>rs</a:t>
            </a:r>
            <a:r>
              <a:rPr lang="en-US" sz="2400" b="0" i="0" dirty="0">
                <a:solidFill>
                  <a:srgbClr val="3D3D3D"/>
                </a:solidFill>
                <a:effectLst/>
                <a:highlight>
                  <a:srgbClr val="FFFF00"/>
                </a:highlight>
                <a:latin typeface="inherit"/>
              </a:rPr>
              <a:t> that </a:t>
            </a:r>
            <a:r>
              <a:rPr lang="en-US" sz="2400" b="0" i="0" dirty="0" err="1">
                <a:solidFill>
                  <a:srgbClr val="3D3D3D"/>
                </a:solidFill>
                <a:effectLst/>
                <a:highlight>
                  <a:srgbClr val="FFFF00"/>
                </a:highlight>
                <a:latin typeface="inherit"/>
              </a:rPr>
              <a:t>ar</a:t>
            </a:r>
            <a:r>
              <a:rPr lang="az-Cyrl-AZ" sz="2400" b="0" i="0" dirty="0">
                <a:solidFill>
                  <a:srgbClr val="3D3D3D"/>
                </a:solidFill>
                <a:effectLst/>
                <a:highlight>
                  <a:srgbClr val="FFFF00"/>
                </a:highlight>
                <a:latin typeface="inherit"/>
              </a:rPr>
              <a:t>е </a:t>
            </a:r>
            <a:r>
              <a:rPr lang="en-US" sz="2400" b="0" i="0" dirty="0">
                <a:solidFill>
                  <a:srgbClr val="3D3D3D"/>
                </a:solidFill>
                <a:effectLst/>
                <a:highlight>
                  <a:srgbClr val="FFFF00"/>
                </a:highlight>
                <a:latin typeface="inherit"/>
              </a:rPr>
              <a:t>call</a:t>
            </a:r>
            <a:r>
              <a:rPr lang="az-Cyrl-AZ" sz="2400" b="0" i="0" dirty="0">
                <a:solidFill>
                  <a:srgbClr val="3D3D3D"/>
                </a:solidFill>
                <a:effectLst/>
                <a:highlight>
                  <a:srgbClr val="FFFF00"/>
                </a:highlight>
                <a:latin typeface="inherit"/>
              </a:rPr>
              <a:t>е</a:t>
            </a:r>
            <a:r>
              <a:rPr lang="en-US" sz="2400" b="0" i="0" dirty="0">
                <a:solidFill>
                  <a:srgbClr val="3D3D3D"/>
                </a:solidFill>
                <a:effectLst/>
                <a:highlight>
                  <a:srgbClr val="FFFF00"/>
                </a:highlight>
                <a:latin typeface="inherit"/>
              </a:rPr>
              <a:t>d </a:t>
            </a:r>
            <a:r>
              <a:rPr lang="en-US" sz="2400" b="1" i="0" dirty="0">
                <a:solidFill>
                  <a:srgbClr val="3D3D3D"/>
                </a:solidFill>
                <a:effectLst/>
                <a:highlight>
                  <a:srgbClr val="FFFF00"/>
                </a:highlight>
                <a:latin typeface="inherit"/>
              </a:rPr>
              <a:t>int</a:t>
            </a:r>
            <a:r>
              <a:rPr lang="az-Cyrl-AZ" sz="2400" b="1" i="0" dirty="0">
                <a:solidFill>
                  <a:srgbClr val="3D3D3D"/>
                </a:solidFill>
                <a:effectLst/>
                <a:highlight>
                  <a:srgbClr val="FFFF00"/>
                </a:highlight>
                <a:latin typeface="inherit"/>
              </a:rPr>
              <a:t>е</a:t>
            </a:r>
            <a:r>
              <a:rPr lang="en-US" sz="2400" b="1" i="0" dirty="0" err="1">
                <a:solidFill>
                  <a:srgbClr val="3D3D3D"/>
                </a:solidFill>
                <a:effectLst/>
                <a:highlight>
                  <a:srgbClr val="FFFF00"/>
                </a:highlight>
                <a:latin typeface="inherit"/>
              </a:rPr>
              <a:t>rfac</a:t>
            </a:r>
            <a:r>
              <a:rPr lang="az-Cyrl-AZ" sz="2400" b="1" i="0" dirty="0">
                <a:solidFill>
                  <a:srgbClr val="3D3D3D"/>
                </a:solidFill>
                <a:effectLst/>
                <a:highlight>
                  <a:srgbClr val="FFFF00"/>
                </a:highlight>
                <a:latin typeface="inherit"/>
              </a:rPr>
              <a:t>е </a:t>
            </a:r>
            <a:r>
              <a:rPr lang="en-US" sz="2400" b="1" i="0" dirty="0">
                <a:solidFill>
                  <a:srgbClr val="3D3D3D"/>
                </a:solidFill>
                <a:effectLst/>
                <a:highlight>
                  <a:srgbClr val="FFFF00"/>
                </a:highlight>
                <a:latin typeface="inherit"/>
              </a:rPr>
              <a:t>units</a:t>
            </a:r>
            <a:endParaRPr lang="en-US" sz="2400" b="0" i="0" dirty="0">
              <a:solidFill>
                <a:srgbClr val="3D3D3D"/>
              </a:solidFill>
              <a:effectLst/>
              <a:highlight>
                <a:srgbClr val="FFFF00"/>
              </a:highlight>
              <a:latin typeface="inherit"/>
            </a:endParaRPr>
          </a:p>
          <a:p>
            <a:endParaRPr lang="en-US" sz="2400" dirty="0"/>
          </a:p>
        </p:txBody>
      </p:sp>
    </p:spTree>
    <p:extLst>
      <p:ext uri="{BB962C8B-B14F-4D97-AF65-F5344CB8AC3E}">
        <p14:creationId xmlns:p14="http://schemas.microsoft.com/office/powerpoint/2010/main" val="2615680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07821-87A2-CA86-7F88-A6812A4A094E}"/>
              </a:ext>
            </a:extLst>
          </p:cNvPr>
          <p:cNvSpPr>
            <a:spLocks noGrp="1"/>
          </p:cNvSpPr>
          <p:nvPr>
            <p:ph idx="1"/>
          </p:nvPr>
        </p:nvSpPr>
        <p:spPr>
          <a:xfrm>
            <a:off x="902970" y="605790"/>
            <a:ext cx="10225278" cy="5566410"/>
          </a:xfrm>
        </p:spPr>
        <p:txBody>
          <a:bodyPr/>
          <a:lstStyle/>
          <a:p>
            <a:pPr algn="l"/>
            <a:r>
              <a:rPr lang="en-US" sz="2400" b="1" i="0" dirty="0">
                <a:solidFill>
                  <a:srgbClr val="000000"/>
                </a:solidFill>
                <a:effectLst/>
                <a:latin typeface="var(--ff-lato)"/>
              </a:rPr>
              <a:t>I/O Bus and Interface Modules</a:t>
            </a:r>
          </a:p>
          <a:p>
            <a:pPr algn="just"/>
            <a:r>
              <a:rPr lang="en-US" b="0" i="0" dirty="0">
                <a:solidFill>
                  <a:srgbClr val="000000"/>
                </a:solidFill>
                <a:effectLst/>
                <a:latin typeface="Verdana" panose="020B0604030504040204" pitchFamily="34" charset="0"/>
              </a:rPr>
              <a:t>The I/O bus is the route used for peripheral devices to interact with the computer processor. A typical connection of the I/O bus to I/O devices is shown in the figure.</a:t>
            </a:r>
          </a:p>
          <a:p>
            <a:pPr algn="just"/>
            <a:endParaRPr lang="en-US" b="0" i="0" dirty="0">
              <a:solidFill>
                <a:srgbClr val="000000"/>
              </a:solidFill>
              <a:effectLst/>
              <a:latin typeface="Verdana" panose="020B0604030504040204" pitchFamily="34" charset="0"/>
            </a:endParaRPr>
          </a:p>
        </p:txBody>
      </p:sp>
      <p:pic>
        <p:nvPicPr>
          <p:cNvPr id="1026" name="Picture 2">
            <a:extLst>
              <a:ext uri="{FF2B5EF4-FFF2-40B4-BE49-F238E27FC236}">
                <a16:creationId xmlns:a16="http://schemas.microsoft.com/office/drawing/2014/main" id="{8BB3BDBE-CA75-A4AB-30A6-A0C5D176B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5590" y="2446973"/>
            <a:ext cx="5715000" cy="338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4097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3DF74-25AD-C3B4-CF0C-B7884DA2B431}"/>
              </a:ext>
            </a:extLst>
          </p:cNvPr>
          <p:cNvSpPr>
            <a:spLocks noGrp="1"/>
          </p:cNvSpPr>
          <p:nvPr>
            <p:ph idx="1"/>
          </p:nvPr>
        </p:nvSpPr>
        <p:spPr>
          <a:xfrm>
            <a:off x="548640" y="480060"/>
            <a:ext cx="10579608" cy="5692140"/>
          </a:xfrm>
        </p:spPr>
        <p:txBody>
          <a:bodyPr>
            <a:normAutofit/>
          </a:bodyPr>
          <a:lstStyle/>
          <a:p>
            <a:pPr algn="just"/>
            <a:r>
              <a:rPr lang="en-US" b="0" i="0" dirty="0">
                <a:solidFill>
                  <a:srgbClr val="000000"/>
                </a:solidFill>
                <a:effectLst/>
                <a:latin typeface="Verdana" panose="020B0604030504040204" pitchFamily="34" charset="0"/>
              </a:rPr>
              <a:t>The I/O bus includes data lines, address lines, and control lines. In any general-purpose computer, the magnetic disk, printer, and keyboard, and display terminal are commonly employed. Each peripheral unit has an interface unit associated with it. Each interface decodes the control and address received from the I/O bus.</a:t>
            </a:r>
          </a:p>
          <a:p>
            <a:pPr algn="just"/>
            <a:r>
              <a:rPr lang="en-US" b="0" i="0" dirty="0">
                <a:solidFill>
                  <a:srgbClr val="000000"/>
                </a:solidFill>
                <a:effectLst/>
                <a:latin typeface="Verdana" panose="020B0604030504040204" pitchFamily="34" charset="0"/>
              </a:rPr>
              <a:t>It can describe the address and control received from the peripheral and supports signals for the peripheral controller. It also conducts the transfer of information between peripheral and processor and also integrates the data flow.</a:t>
            </a:r>
          </a:p>
          <a:p>
            <a:pPr algn="just"/>
            <a:r>
              <a:rPr lang="en-US" b="0" i="0" dirty="0">
                <a:solidFill>
                  <a:srgbClr val="000000"/>
                </a:solidFill>
                <a:effectLst/>
                <a:latin typeface="Verdana" panose="020B0604030504040204" pitchFamily="34" charset="0"/>
              </a:rPr>
              <a:t>The I/O bus is linked to all peripheral interfaces from the processor. The processor locates a device address on the address line to interact with a specific device. Each interface contains an address decoder attached to the I/O bus that monitors the address lines.</a:t>
            </a:r>
          </a:p>
          <a:p>
            <a:pPr algn="just"/>
            <a:r>
              <a:rPr lang="en-US" b="0" i="0" dirty="0">
                <a:solidFill>
                  <a:srgbClr val="000000"/>
                </a:solidFill>
                <a:effectLst/>
                <a:latin typeface="Verdana" panose="020B0604030504040204" pitchFamily="34" charset="0"/>
              </a:rPr>
              <a:t>When the address is recognized by the interface, it activates the direction between the bus lines and the device that it controls. The interface disables the peripherals whose address does not equivalent to the address in the bus.</a:t>
            </a:r>
          </a:p>
          <a:p>
            <a:endParaRPr lang="en-US" dirty="0"/>
          </a:p>
        </p:txBody>
      </p:sp>
    </p:spTree>
    <p:extLst>
      <p:ext uri="{BB962C8B-B14F-4D97-AF65-F5344CB8AC3E}">
        <p14:creationId xmlns:p14="http://schemas.microsoft.com/office/powerpoint/2010/main" val="3732213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80027E7-A839-437D-13AC-8F1B02AC1868}"/>
              </a:ext>
            </a:extLst>
          </p:cNvPr>
          <p:cNvSpPr>
            <a:spLocks noGrp="1"/>
          </p:cNvSpPr>
          <p:nvPr>
            <p:ph idx="1"/>
          </p:nvPr>
        </p:nvSpPr>
        <p:spPr>
          <a:xfrm>
            <a:off x="457200" y="251460"/>
            <a:ext cx="10671048" cy="5920740"/>
          </a:xfrm>
        </p:spPr>
        <p:txBody>
          <a:bodyPr>
            <a:normAutofit/>
          </a:bodyPr>
          <a:lstStyle/>
          <a:p>
            <a:pPr marL="0" indent="0">
              <a:buNone/>
            </a:pPr>
            <a:r>
              <a:rPr lang="en-US" b="1" dirty="0"/>
              <a:t>I/O versus Memory Bus</a:t>
            </a:r>
          </a:p>
          <a:p>
            <a:r>
              <a:rPr lang="en-US" dirty="0"/>
              <a:t>To communicate with I/O, the processor must communicate with the memory unit. The memory bus contains data, address and read/write control lines. There are three ways to use computer buses to communicate with memory and I/O:</a:t>
            </a:r>
          </a:p>
          <a:p>
            <a:pPr marL="0" indent="0">
              <a:buNone/>
            </a:pPr>
            <a:r>
              <a:rPr lang="en-US" dirty="0"/>
              <a:t>1. Use two separate buses, one for the memory and the other for I/O.</a:t>
            </a:r>
          </a:p>
          <a:p>
            <a:pPr marL="0" indent="0">
              <a:buNone/>
            </a:pPr>
            <a:r>
              <a:rPr lang="en-US" dirty="0"/>
              <a:t>2. Use one common bus for both memory and I/O but have separate control lines for each.</a:t>
            </a:r>
          </a:p>
          <a:p>
            <a:pPr marL="0" indent="0">
              <a:buNone/>
            </a:pPr>
            <a:r>
              <a:rPr lang="en-US" dirty="0"/>
              <a:t>3. Use one common bus for memory and I/O with common control lines.</a:t>
            </a:r>
          </a:p>
          <a:p>
            <a:r>
              <a:rPr lang="en-US" dirty="0"/>
              <a:t>In the first method, the computer has independent sets of data, address and control buses, one for accessing memory and the other for I/O. This is done in computers having a separate I/O processor (IOP) in addition to the central processing unit (CPU). The memory communicates with both the CPU and the IOP using a memory bus. </a:t>
            </a:r>
          </a:p>
          <a:p>
            <a:r>
              <a:rPr lang="en-US" dirty="0"/>
              <a:t>The IOP also communicates with the input and output devices through a separate I/O bus with its own address, data and control lines. The purpose of the IOP is to provide an independent pathway for the transfer of information between external devices and internal memory.</a:t>
            </a:r>
          </a:p>
        </p:txBody>
      </p:sp>
    </p:spTree>
    <p:extLst>
      <p:ext uri="{BB962C8B-B14F-4D97-AF65-F5344CB8AC3E}">
        <p14:creationId xmlns:p14="http://schemas.microsoft.com/office/powerpoint/2010/main" val="1307026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28C4F9-DB51-AB24-D65F-3A38594A419E}"/>
              </a:ext>
            </a:extLst>
          </p:cNvPr>
          <p:cNvSpPr>
            <a:spLocks noGrp="1"/>
          </p:cNvSpPr>
          <p:nvPr>
            <p:ph idx="1"/>
          </p:nvPr>
        </p:nvSpPr>
        <p:spPr>
          <a:xfrm>
            <a:off x="731520" y="605790"/>
            <a:ext cx="10396728" cy="5566410"/>
          </a:xfrm>
        </p:spPr>
        <p:txBody>
          <a:bodyPr>
            <a:normAutofit/>
          </a:bodyPr>
          <a:lstStyle/>
          <a:p>
            <a:pPr marL="0" indent="0">
              <a:buNone/>
            </a:pPr>
            <a:r>
              <a:rPr lang="en-US" b="1" dirty="0"/>
              <a:t>Isolated versus Memory-Mapped I/O</a:t>
            </a:r>
          </a:p>
          <a:p>
            <a:r>
              <a:rPr lang="en-US" dirty="0"/>
              <a:t>One common bus may be employed to transfer information between memory or I/O and the CPU. </a:t>
            </a:r>
          </a:p>
          <a:p>
            <a:r>
              <a:rPr lang="en-US" dirty="0"/>
              <a:t>Memory transfer and I/O transfer differs in that they use separate read and write lines. The CPU specifies whether the address on the address lines is for a memory word or for an interface register by enabling one of two possible read or write lines. </a:t>
            </a:r>
          </a:p>
          <a:p>
            <a:r>
              <a:rPr lang="en-US" dirty="0"/>
              <a:t>The I/O read and I/O write control lines are enabled during an I/O transfer. The memory read and memory write control lines are enabled during a memory transfer.</a:t>
            </a:r>
          </a:p>
          <a:p>
            <a:r>
              <a:rPr lang="en-US" dirty="0"/>
              <a:t>This configuration isolates all I/O interface addresses from the addresses assigned to memory and is referred to as the isolated I/O method for assigning addresses in a common bus.</a:t>
            </a:r>
          </a:p>
          <a:p>
            <a:endParaRPr lang="en-US" dirty="0"/>
          </a:p>
        </p:txBody>
      </p:sp>
    </p:spTree>
    <p:extLst>
      <p:ext uri="{BB962C8B-B14F-4D97-AF65-F5344CB8AC3E}">
        <p14:creationId xmlns:p14="http://schemas.microsoft.com/office/powerpoint/2010/main" val="3165354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7A5102-C463-90D8-34BD-1E3CE7333331}"/>
              </a:ext>
            </a:extLst>
          </p:cNvPr>
          <p:cNvSpPr>
            <a:spLocks noGrp="1"/>
          </p:cNvSpPr>
          <p:nvPr>
            <p:ph idx="1"/>
          </p:nvPr>
        </p:nvSpPr>
        <p:spPr>
          <a:xfrm>
            <a:off x="742950" y="560070"/>
            <a:ext cx="10385298" cy="5612130"/>
          </a:xfrm>
        </p:spPr>
        <p:txBody>
          <a:bodyPr>
            <a:normAutofit/>
          </a:bodyPr>
          <a:lstStyle/>
          <a:p>
            <a:r>
              <a:rPr lang="en-US" b="1" dirty="0"/>
              <a:t>Isolated I/O</a:t>
            </a:r>
          </a:p>
          <a:p>
            <a:r>
              <a:rPr lang="en-US" dirty="0"/>
              <a:t>Separate I/O read/write control lines in addition to memory read/write control lines</a:t>
            </a:r>
          </a:p>
          <a:p>
            <a:r>
              <a:rPr lang="en-US" dirty="0"/>
              <a:t>Separate (isolated) memory and I/O address spaces </a:t>
            </a:r>
          </a:p>
          <a:p>
            <a:r>
              <a:rPr lang="en-US" dirty="0"/>
              <a:t>Distinct input and output instructions</a:t>
            </a:r>
          </a:p>
          <a:p>
            <a:pPr marL="0" indent="0">
              <a:buNone/>
            </a:pPr>
            <a:r>
              <a:rPr lang="en-US" b="1" dirty="0"/>
              <a:t> Memory-mapped I/O</a:t>
            </a:r>
          </a:p>
          <a:p>
            <a:r>
              <a:rPr lang="en-US" dirty="0"/>
              <a:t>A single set of read/write control lines (no distinction between memory and I/O </a:t>
            </a:r>
          </a:p>
          <a:p>
            <a:pPr marL="0" indent="0">
              <a:buNone/>
            </a:pPr>
            <a:r>
              <a:rPr lang="en-US" dirty="0"/>
              <a:t>transfer)</a:t>
            </a:r>
          </a:p>
          <a:p>
            <a:r>
              <a:rPr lang="en-US" dirty="0"/>
              <a:t>Memory and I/O addresses share the common address space which reduces memory </a:t>
            </a:r>
          </a:p>
          <a:p>
            <a:pPr marL="0" indent="0">
              <a:buNone/>
            </a:pPr>
            <a:r>
              <a:rPr lang="en-US" dirty="0"/>
              <a:t>address range available</a:t>
            </a:r>
          </a:p>
          <a:p>
            <a:r>
              <a:rPr lang="en-US" dirty="0"/>
              <a:t>No specific input or output instruction so the same memory reference instructions can</a:t>
            </a:r>
          </a:p>
          <a:p>
            <a:pPr marL="0" indent="0">
              <a:buNone/>
            </a:pPr>
            <a:r>
              <a:rPr lang="en-US" dirty="0"/>
              <a:t>be used for I/O transfers</a:t>
            </a:r>
          </a:p>
          <a:p>
            <a:r>
              <a:rPr lang="en-US" dirty="0"/>
              <a:t>Considerable flexibility in handling I/O operations</a:t>
            </a:r>
          </a:p>
          <a:p>
            <a:endParaRPr lang="en-US" dirty="0"/>
          </a:p>
        </p:txBody>
      </p:sp>
    </p:spTree>
    <p:extLst>
      <p:ext uri="{BB962C8B-B14F-4D97-AF65-F5344CB8AC3E}">
        <p14:creationId xmlns:p14="http://schemas.microsoft.com/office/powerpoint/2010/main" val="262067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82A03-B8C6-6CB6-900A-F05C4D289C91}"/>
              </a:ext>
            </a:extLst>
          </p:cNvPr>
          <p:cNvSpPr>
            <a:spLocks noGrp="1"/>
          </p:cNvSpPr>
          <p:nvPr>
            <p:ph idx="1"/>
          </p:nvPr>
        </p:nvSpPr>
        <p:spPr>
          <a:xfrm>
            <a:off x="822960" y="365760"/>
            <a:ext cx="10305288" cy="5806440"/>
          </a:xfrm>
        </p:spPr>
        <p:txBody>
          <a:bodyPr>
            <a:normAutofit/>
          </a:bodyPr>
          <a:lstStyle/>
          <a:p>
            <a:pPr marL="0" indent="0">
              <a:buNone/>
            </a:pPr>
            <a:r>
              <a:rPr lang="en-US" sz="2400" b="1" dirty="0"/>
              <a:t>Asynchronous data transfer</a:t>
            </a:r>
          </a:p>
          <a:p>
            <a:r>
              <a:rPr lang="en-US" sz="2400" b="0" i="0" dirty="0">
                <a:effectLst/>
                <a:latin typeface="Nunito" pitchFamily="2" charset="0"/>
              </a:rPr>
              <a:t>Asynchronous data transfer enables computers to send and receive data without having to wait for a real-time response. In this technique, data is conveyed in discrete units known as packets that may be handled separately. </a:t>
            </a:r>
          </a:p>
          <a:p>
            <a:endParaRPr lang="en-US" sz="2400" dirty="0">
              <a:latin typeface="Nunito" pitchFamily="2" charset="0"/>
            </a:endParaRPr>
          </a:p>
          <a:p>
            <a:pPr lvl="1" algn="just" fontAlgn="base">
              <a:buFont typeface="Arial" panose="020B0604020202020204" pitchFamily="34" charset="0"/>
              <a:buChar char="•"/>
            </a:pPr>
            <a:r>
              <a:rPr lang="en-US" sz="2000" b="1" i="0" dirty="0">
                <a:effectLst/>
                <a:latin typeface="Nunito" pitchFamily="2" charset="0"/>
              </a:rPr>
              <a:t>Sender</a:t>
            </a:r>
            <a:r>
              <a:rPr lang="en-US" sz="2000" b="0" i="0" dirty="0">
                <a:effectLst/>
                <a:latin typeface="Nunito" pitchFamily="2" charset="0"/>
              </a:rPr>
              <a:t>: The machine or gadget that transfers the data.</a:t>
            </a:r>
          </a:p>
          <a:p>
            <a:pPr lvl="1" algn="just" fontAlgn="base">
              <a:buFont typeface="Arial" panose="020B0604020202020204" pitchFamily="34" charset="0"/>
              <a:buChar char="•"/>
            </a:pPr>
            <a:r>
              <a:rPr lang="en-US" sz="2000" b="1" i="0" dirty="0">
                <a:effectLst/>
                <a:latin typeface="Nunito" pitchFamily="2" charset="0"/>
              </a:rPr>
              <a:t>Receiver</a:t>
            </a:r>
            <a:r>
              <a:rPr lang="en-US" sz="2000" b="0" i="0" dirty="0">
                <a:effectLst/>
                <a:latin typeface="Nunito" pitchFamily="2" charset="0"/>
              </a:rPr>
              <a:t>: A device or computer that receives data.</a:t>
            </a:r>
          </a:p>
          <a:p>
            <a:pPr lvl="1" algn="just" fontAlgn="base">
              <a:buFont typeface="Arial" panose="020B0604020202020204" pitchFamily="34" charset="0"/>
              <a:buChar char="•"/>
            </a:pPr>
            <a:r>
              <a:rPr lang="en-US" sz="2000" b="1" i="0" dirty="0">
                <a:effectLst/>
                <a:latin typeface="Nunito" pitchFamily="2" charset="0"/>
              </a:rPr>
              <a:t>Packet</a:t>
            </a:r>
            <a:r>
              <a:rPr lang="en-US" sz="2000" b="0" i="0" dirty="0">
                <a:effectLst/>
                <a:latin typeface="Nunito" pitchFamily="2" charset="0"/>
              </a:rPr>
              <a:t>: A discrete unit of transmitted and received data.</a:t>
            </a:r>
          </a:p>
          <a:p>
            <a:pPr lvl="1" algn="just" fontAlgn="base">
              <a:buFont typeface="Arial" panose="020B0604020202020204" pitchFamily="34" charset="0"/>
              <a:buChar char="•"/>
            </a:pPr>
            <a:r>
              <a:rPr lang="en-US" sz="2000" b="1" i="0" dirty="0">
                <a:effectLst/>
                <a:latin typeface="Nunito" pitchFamily="2" charset="0"/>
              </a:rPr>
              <a:t>Buffer</a:t>
            </a:r>
            <a:r>
              <a:rPr lang="en-US" sz="2000" b="0" i="0" dirty="0">
                <a:effectLst/>
                <a:latin typeface="Nunito" pitchFamily="2" charset="0"/>
              </a:rPr>
              <a:t>: A short-term location for storing incoming or departing data.</a:t>
            </a:r>
          </a:p>
          <a:p>
            <a:pPr lvl="1"/>
            <a:endParaRPr lang="en-US" sz="2000" dirty="0"/>
          </a:p>
        </p:txBody>
      </p:sp>
    </p:spTree>
    <p:extLst>
      <p:ext uri="{BB962C8B-B14F-4D97-AF65-F5344CB8AC3E}">
        <p14:creationId xmlns:p14="http://schemas.microsoft.com/office/powerpoint/2010/main" val="3339771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5B0B91-B3C8-E508-D825-A0FC69C47EB0}"/>
              </a:ext>
            </a:extLst>
          </p:cNvPr>
          <p:cNvSpPr>
            <a:spLocks noGrp="1"/>
          </p:cNvSpPr>
          <p:nvPr>
            <p:ph idx="1"/>
          </p:nvPr>
        </p:nvSpPr>
        <p:spPr>
          <a:xfrm>
            <a:off x="765810" y="628650"/>
            <a:ext cx="10362438" cy="5543550"/>
          </a:xfrm>
        </p:spPr>
        <p:txBody>
          <a:bodyPr/>
          <a:lstStyle/>
          <a:p>
            <a:pPr marL="0" indent="0" algn="just" fontAlgn="base">
              <a:buNone/>
            </a:pPr>
            <a:r>
              <a:rPr lang="en-US" b="1" i="0" dirty="0">
                <a:solidFill>
                  <a:srgbClr val="273239"/>
                </a:solidFill>
                <a:effectLst/>
                <a:latin typeface="Nunito" pitchFamily="2" charset="0"/>
              </a:rPr>
              <a:t>Types of Asynchronous Data Transfer</a:t>
            </a:r>
          </a:p>
          <a:p>
            <a:pPr algn="just" fontAlgn="base">
              <a:buFont typeface="Arial" panose="020B0604020202020204" pitchFamily="34" charset="0"/>
              <a:buChar char="•"/>
            </a:pPr>
            <a:r>
              <a:rPr lang="en-US" b="1" i="0" dirty="0">
                <a:solidFill>
                  <a:srgbClr val="273239"/>
                </a:solidFill>
                <a:effectLst/>
                <a:latin typeface="Nunito" pitchFamily="2" charset="0"/>
              </a:rPr>
              <a:t>Strobe Control Method</a:t>
            </a:r>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dirty="0">
                <a:solidFill>
                  <a:srgbClr val="273239"/>
                </a:solidFill>
                <a:effectLst/>
                <a:latin typeface="Nunito" pitchFamily="2" charset="0"/>
              </a:rPr>
              <a:t>Handshaking Method</a:t>
            </a:r>
            <a:endParaRPr lang="en-US" b="0" i="0" dirty="0">
              <a:solidFill>
                <a:srgbClr val="273239"/>
              </a:solidFill>
              <a:effectLst/>
              <a:latin typeface="Nunito" pitchFamily="2" charset="0"/>
            </a:endParaRPr>
          </a:p>
          <a:p>
            <a:endParaRPr lang="en-US" dirty="0"/>
          </a:p>
        </p:txBody>
      </p:sp>
      <p:pic>
        <p:nvPicPr>
          <p:cNvPr id="2050" name="Picture 2" descr="Classification of Asynchronous Data Transfer">
            <a:extLst>
              <a:ext uri="{FF2B5EF4-FFF2-40B4-BE49-F238E27FC236}">
                <a16:creationId xmlns:a16="http://schemas.microsoft.com/office/drawing/2014/main" id="{63A39837-8511-3CAB-CA03-7CE4AEC30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808" y="2327910"/>
            <a:ext cx="728662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550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A5A7A-37F5-D112-01B0-5E3514CB834F}"/>
              </a:ext>
            </a:extLst>
          </p:cNvPr>
          <p:cNvSpPr>
            <a:spLocks noGrp="1"/>
          </p:cNvSpPr>
          <p:nvPr>
            <p:ph idx="1"/>
          </p:nvPr>
        </p:nvSpPr>
        <p:spPr>
          <a:xfrm>
            <a:off x="822960" y="708660"/>
            <a:ext cx="10305288" cy="5463540"/>
          </a:xfrm>
        </p:spPr>
        <p:txBody>
          <a:bodyPr>
            <a:normAutofit/>
          </a:bodyPr>
          <a:lstStyle/>
          <a:p>
            <a:pPr algn="just" fontAlgn="base"/>
            <a:r>
              <a:rPr lang="en-US" sz="2400" b="0" i="0" dirty="0">
                <a:solidFill>
                  <a:srgbClr val="273239"/>
                </a:solidFill>
                <a:effectLst/>
                <a:latin typeface="Nunito" pitchFamily="2" charset="0"/>
              </a:rPr>
              <a:t>Strobe control is a method used in asynchronous data transfer that synchronizes data flow between two devices. Bits are transmitted one at a time, independently of one another, and without the aid of a clock signal in asynchronous communication. To properly receive the data, the receiving equipment needs to be able to synchronize with the transmitting device.</a:t>
            </a:r>
          </a:p>
          <a:p>
            <a:pPr algn="just" fontAlgn="base"/>
            <a:r>
              <a:rPr lang="en-US" sz="2400" b="0" i="0" dirty="0">
                <a:solidFill>
                  <a:srgbClr val="273239"/>
                </a:solidFill>
                <a:effectLst/>
                <a:latin typeface="Nunito" pitchFamily="2" charset="0"/>
              </a:rPr>
              <a:t>Strobe control involves sending data along with a different signal known as the strobe signal. The strobe signal alerts the receiving device that the data is valid and ready to be read. The receiving device waits for the strobe signal before reading the data to ensure it is synchronized with its clock.</a:t>
            </a:r>
          </a:p>
          <a:p>
            <a:pPr algn="just" fontAlgn="base"/>
            <a:r>
              <a:rPr lang="en-US" sz="2400" b="0" i="0" dirty="0">
                <a:solidFill>
                  <a:srgbClr val="273239"/>
                </a:solidFill>
                <a:effectLst/>
                <a:latin typeface="Nunito" pitchFamily="2" charset="0"/>
              </a:rPr>
              <a:t>The strobe signal is usually generated by the transmitting device and is sent either before or after the data. If the strobe signal is sent before the data, it is called a leading strobe. If it is sent after the data, it is called a trailing strobe.</a:t>
            </a:r>
          </a:p>
          <a:p>
            <a:endParaRPr lang="en-US" sz="2400" dirty="0"/>
          </a:p>
        </p:txBody>
      </p:sp>
    </p:spTree>
    <p:extLst>
      <p:ext uri="{BB962C8B-B14F-4D97-AF65-F5344CB8AC3E}">
        <p14:creationId xmlns:p14="http://schemas.microsoft.com/office/powerpoint/2010/main" val="1316111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8AF6B3-8D50-3C75-95E4-BC29174AF5EE}"/>
              </a:ext>
            </a:extLst>
          </p:cNvPr>
          <p:cNvSpPr>
            <a:spLocks noGrp="1"/>
          </p:cNvSpPr>
          <p:nvPr>
            <p:ph idx="1"/>
          </p:nvPr>
        </p:nvSpPr>
        <p:spPr>
          <a:xfrm>
            <a:off x="731520" y="480060"/>
            <a:ext cx="10396728" cy="5692140"/>
          </a:xfrm>
        </p:spPr>
        <p:txBody>
          <a:bodyPr>
            <a:normAutofit/>
          </a:bodyPr>
          <a:lstStyle/>
          <a:p>
            <a:pPr algn="just" fontAlgn="base"/>
            <a:br>
              <a:rPr lang="en-US" b="1" i="0" dirty="0">
                <a:solidFill>
                  <a:srgbClr val="273239"/>
                </a:solidFill>
                <a:effectLst/>
                <a:latin typeface="Nunito" pitchFamily="2" charset="0"/>
              </a:rPr>
            </a:br>
            <a:r>
              <a:rPr lang="en-US" sz="2400" b="1" i="0" dirty="0">
                <a:solidFill>
                  <a:srgbClr val="273239"/>
                </a:solidFill>
                <a:effectLst/>
                <a:latin typeface="Nunito" pitchFamily="2" charset="0"/>
              </a:rPr>
              <a:t>Handshaking Method For Data Transfer</a:t>
            </a:r>
          </a:p>
          <a:p>
            <a:pPr algn="just" fontAlgn="base"/>
            <a:r>
              <a:rPr lang="en-US" sz="2400" b="0" i="0" dirty="0">
                <a:solidFill>
                  <a:srgbClr val="273239"/>
                </a:solidFill>
                <a:effectLst/>
                <a:latin typeface="Nunito" pitchFamily="2" charset="0"/>
              </a:rPr>
              <a:t>During an asynchronous data transfer, two devices manage their communication using </a:t>
            </a:r>
            <a:r>
              <a:rPr lang="en-US" sz="2400" b="1" i="0" dirty="0">
                <a:solidFill>
                  <a:srgbClr val="273239"/>
                </a:solidFill>
                <a:effectLst/>
                <a:latin typeface="Nunito" pitchFamily="2" charset="0"/>
              </a:rPr>
              <a:t>handshaking</a:t>
            </a:r>
            <a:r>
              <a:rPr lang="en-US" sz="2400" b="0" i="0" dirty="0">
                <a:solidFill>
                  <a:srgbClr val="273239"/>
                </a:solidFill>
                <a:effectLst/>
                <a:latin typeface="Nunito" pitchFamily="2" charset="0"/>
              </a:rPr>
              <a:t>. It is guaranteed that the transmitting and receiving devices are prepared to send and receive data. Handshakes are essential in asynchronous communication since there is no clock signal to synchronize the data transfer.</a:t>
            </a:r>
          </a:p>
          <a:p>
            <a:pPr algn="just" fontAlgn="base"/>
            <a:r>
              <a:rPr lang="en-US" sz="2400" b="0" i="0" dirty="0">
                <a:solidFill>
                  <a:srgbClr val="273239"/>
                </a:solidFill>
                <a:effectLst/>
                <a:latin typeface="Nunito" pitchFamily="2" charset="0"/>
              </a:rPr>
              <a:t>During handshaking, we use two types of signals mostly they are request-to-send (RTS) and clear-to-send (CTS). The receiving device is notified by an RTS signal when the transmitting equipment is ready to provide data. The receiving device responds with a CTS signal when it is ready to accept data.</a:t>
            </a:r>
          </a:p>
          <a:p>
            <a:endParaRPr lang="en-US" dirty="0"/>
          </a:p>
        </p:txBody>
      </p:sp>
    </p:spTree>
    <p:extLst>
      <p:ext uri="{BB962C8B-B14F-4D97-AF65-F5344CB8AC3E}">
        <p14:creationId xmlns:p14="http://schemas.microsoft.com/office/powerpoint/2010/main" val="3451154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29AB56-A145-F935-8A7A-9BD0EF018968}"/>
              </a:ext>
            </a:extLst>
          </p:cNvPr>
          <p:cNvSpPr>
            <a:spLocks noGrp="1"/>
          </p:cNvSpPr>
          <p:nvPr>
            <p:ph idx="1"/>
          </p:nvPr>
        </p:nvSpPr>
        <p:spPr>
          <a:xfrm>
            <a:off x="697230" y="982980"/>
            <a:ext cx="10431018" cy="5189220"/>
          </a:xfrm>
        </p:spPr>
        <p:txBody>
          <a:bodyPr/>
          <a:lstStyle/>
          <a:p>
            <a:pPr algn="just" fontAlgn="base"/>
            <a:r>
              <a:rPr lang="en-US" sz="2400" b="0" i="0" dirty="0">
                <a:solidFill>
                  <a:srgbClr val="273239"/>
                </a:solidFill>
                <a:effectLst/>
                <a:latin typeface="Nunito" pitchFamily="2" charset="0"/>
              </a:rPr>
              <a:t>Once data is transmitted to the receiver end, the receiver generates a signal that it has done by sending an acknowledgment (ACK) signal. If the data is not successfully received, the receiving device will notify that a new transmission is necessary via a negative</a:t>
            </a:r>
            <a:r>
              <a:rPr lang="en-US" sz="2400" b="0" i="0" u="sng" dirty="0">
                <a:solidFill>
                  <a:srgbClr val="273239"/>
                </a:solidFill>
                <a:effectLst/>
                <a:latin typeface="Nunito" pitchFamily="2" charset="0"/>
              </a:rPr>
              <a:t> </a:t>
            </a:r>
            <a:r>
              <a:rPr lang="en-US" sz="2400" b="0" i="0" dirty="0">
                <a:solidFill>
                  <a:srgbClr val="273239"/>
                </a:solidFill>
                <a:effectLst/>
                <a:latin typeface="Nunito" pitchFamily="2" charset="0"/>
              </a:rPr>
              <a:t>acknowledgment (NAK) signal.</a:t>
            </a:r>
          </a:p>
          <a:p>
            <a:pPr algn="just" fontAlgn="base"/>
            <a:r>
              <a:rPr lang="en-US" sz="2400" b="0" i="0" dirty="0">
                <a:solidFill>
                  <a:srgbClr val="273239"/>
                </a:solidFill>
                <a:effectLst/>
                <a:latin typeface="Nunito" pitchFamily="2" charset="0"/>
              </a:rPr>
              <a:t>The handshaking procedure guarantees synchronized and dependable data delivery. Additionally, it allows for flow management, preventing the transmitting device from sending the receiving device an excessive amount of data all at once. In order to offer flow control, handshaking signals are utilized to regulate the rate at which data is sent.</a:t>
            </a:r>
          </a:p>
          <a:p>
            <a:endParaRPr lang="en-US" dirty="0"/>
          </a:p>
        </p:txBody>
      </p:sp>
    </p:spTree>
    <p:extLst>
      <p:ext uri="{BB962C8B-B14F-4D97-AF65-F5344CB8AC3E}">
        <p14:creationId xmlns:p14="http://schemas.microsoft.com/office/powerpoint/2010/main" val="4202612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F8517-81AF-E383-44BA-2C6568812CC6}"/>
              </a:ext>
            </a:extLst>
          </p:cNvPr>
          <p:cNvSpPr>
            <a:spLocks noGrp="1"/>
          </p:cNvSpPr>
          <p:nvPr>
            <p:ph idx="1"/>
          </p:nvPr>
        </p:nvSpPr>
        <p:spPr>
          <a:xfrm>
            <a:off x="800100" y="742950"/>
            <a:ext cx="10328148" cy="5429250"/>
          </a:xfrm>
        </p:spPr>
        <p:txBody>
          <a:bodyPr/>
          <a:lstStyle/>
          <a:p>
            <a:pPr marL="0" indent="0">
              <a:buNone/>
            </a:pPr>
            <a:r>
              <a:rPr lang="en-US" sz="2800" dirty="0">
                <a:latin typeface="Times New Roman" panose="02020603050405020304" pitchFamily="18" charset="0"/>
                <a:cs typeface="Times New Roman" panose="02020603050405020304" pitchFamily="18" charset="0"/>
              </a:rPr>
              <a:t>Modes of Transfer</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binary inf</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rmati</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n that is r</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c</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iv</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a:t>
            </a:r>
            <a:r>
              <a:rPr lang="en-US" sz="2800" b="0" i="0" dirty="0" err="1">
                <a:solidFill>
                  <a:srgbClr val="3D3D3D"/>
                </a:solidFill>
                <a:effectLst/>
                <a:latin typeface="Times New Roman" panose="02020603050405020304" pitchFamily="18" charset="0"/>
                <a:cs typeface="Times New Roman" panose="02020603050405020304" pitchFamily="18" charset="0"/>
              </a:rPr>
              <a:t>fr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m an </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xt</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rnal</a:t>
            </a:r>
            <a:r>
              <a:rPr lang="en-US" sz="2800" b="0" i="0" dirty="0">
                <a:solidFill>
                  <a:srgbClr val="3D3D3D"/>
                </a:solidFill>
                <a:effectLst/>
                <a:latin typeface="Times New Roman" panose="02020603050405020304" pitchFamily="18" charset="0"/>
                <a:cs typeface="Times New Roman" panose="02020603050405020304" pitchFamily="18" charset="0"/>
              </a:rPr>
              <a:t> d</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vic</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is usually </a:t>
            </a:r>
            <a:r>
              <a:rPr lang="en-US" sz="2800" b="0" i="0" dirty="0" err="1">
                <a:solidFill>
                  <a:srgbClr val="3D3D3D"/>
                </a:solidFill>
                <a:effectLst/>
                <a:latin typeface="Times New Roman" panose="02020603050405020304" pitchFamily="18" charset="0"/>
                <a:cs typeface="Times New Roman" panose="02020603050405020304" pitchFamily="18" charset="0"/>
              </a:rPr>
              <a:t>st</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r</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in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ry</a:t>
            </a:r>
            <a:r>
              <a:rPr lang="en-US" sz="2800" b="0" i="0" dirty="0">
                <a:solidFill>
                  <a:srgbClr val="3D3D3D"/>
                </a:solidFill>
                <a:effectLst/>
                <a:latin typeface="Times New Roman" panose="02020603050405020304" pitchFamily="18" charset="0"/>
                <a:cs typeface="Times New Roman" panose="02020603050405020304" pitchFamily="18" charset="0"/>
              </a:rPr>
              <a:t> unit.</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inf</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rmati</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n that is </a:t>
            </a:r>
            <a:r>
              <a:rPr lang="en-US" sz="2800" b="0" i="0" dirty="0" err="1">
                <a:solidFill>
                  <a:srgbClr val="3D3D3D"/>
                </a:solidFill>
                <a:effectLst/>
                <a:latin typeface="Times New Roman" panose="02020603050405020304" pitchFamily="18" charset="0"/>
                <a:cs typeface="Times New Roman" panose="02020603050405020304" pitchFamily="18" charset="0"/>
              </a:rPr>
              <a:t>transf</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rr</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a:t>
            </a:r>
            <a:r>
              <a:rPr lang="en-US" sz="2800" b="0" i="0" dirty="0" err="1">
                <a:solidFill>
                  <a:srgbClr val="3D3D3D"/>
                </a:solidFill>
                <a:effectLst/>
                <a:latin typeface="Times New Roman" panose="02020603050405020304" pitchFamily="18" charset="0"/>
                <a:cs typeface="Times New Roman" panose="02020603050405020304" pitchFamily="18" charset="0"/>
              </a:rPr>
              <a:t>fr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m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CPU t</a:t>
            </a:r>
            <a:r>
              <a:rPr lang="el-GR" sz="2800" b="0" i="0" dirty="0">
                <a:solidFill>
                  <a:srgbClr val="3D3D3D"/>
                </a:solidFill>
                <a:effectLst/>
                <a:latin typeface="Times New Roman" panose="02020603050405020304" pitchFamily="18" charset="0"/>
                <a:cs typeface="Times New Roman" panose="02020603050405020304" pitchFamily="18" charset="0"/>
              </a:rPr>
              <a:t>ο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е</a:t>
            </a:r>
            <a:r>
              <a:rPr lang="en-US" sz="2800" b="0" i="0" dirty="0" err="1">
                <a:solidFill>
                  <a:srgbClr val="3D3D3D"/>
                </a:solidFill>
                <a:effectLst/>
                <a:latin typeface="Times New Roman" panose="02020603050405020304" pitchFamily="18" charset="0"/>
                <a:cs typeface="Times New Roman" panose="02020603050405020304" pitchFamily="18" charset="0"/>
              </a:rPr>
              <a:t>xt</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rnal</a:t>
            </a:r>
            <a:r>
              <a:rPr lang="en-US" sz="2800" b="0" i="0" dirty="0">
                <a:solidFill>
                  <a:srgbClr val="3D3D3D"/>
                </a:solidFill>
                <a:effectLst/>
                <a:latin typeface="Times New Roman" panose="02020603050405020304" pitchFamily="18" charset="0"/>
                <a:cs typeface="Times New Roman" panose="02020603050405020304" pitchFamily="18" charset="0"/>
              </a:rPr>
              <a:t> d</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vic</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is </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riginat</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a:t>
            </a:r>
            <a:r>
              <a:rPr lang="en-US" sz="2800" b="0" i="0" dirty="0" err="1">
                <a:solidFill>
                  <a:srgbClr val="3D3D3D"/>
                </a:solidFill>
                <a:effectLst/>
                <a:latin typeface="Times New Roman" panose="02020603050405020304" pitchFamily="18" charset="0"/>
                <a:cs typeface="Times New Roman" panose="02020603050405020304" pitchFamily="18" charset="0"/>
              </a:rPr>
              <a:t>fr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m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ry</a:t>
            </a:r>
            <a:r>
              <a:rPr lang="en-US" sz="2800" b="0" i="0" dirty="0">
                <a:solidFill>
                  <a:srgbClr val="3D3D3D"/>
                </a:solidFill>
                <a:effectLst/>
                <a:latin typeface="Times New Roman" panose="02020603050405020304" pitchFamily="18" charset="0"/>
                <a:cs typeface="Times New Roman" panose="02020603050405020304" pitchFamily="18" charset="0"/>
              </a:rPr>
              <a:t> unit.</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CPU just pr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c</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ss</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s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inf</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rmati</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n but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s</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urc</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and </a:t>
            </a:r>
            <a:r>
              <a:rPr lang="en-US" sz="2800" b="0" i="0" dirty="0" err="1">
                <a:solidFill>
                  <a:srgbClr val="3D3D3D"/>
                </a:solidFill>
                <a:effectLst/>
                <a:latin typeface="Times New Roman" panose="02020603050405020304" pitchFamily="18" charset="0"/>
                <a:cs typeface="Times New Roman" panose="02020603050405020304" pitchFamily="18" charset="0"/>
              </a:rPr>
              <a:t>targ</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t is always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ry</a:t>
            </a:r>
            <a:r>
              <a:rPr lang="en-US" sz="2800" b="0" i="0" dirty="0">
                <a:solidFill>
                  <a:srgbClr val="3D3D3D"/>
                </a:solidFill>
                <a:effectLst/>
                <a:latin typeface="Times New Roman" panose="02020603050405020304" pitchFamily="18" charset="0"/>
                <a:cs typeface="Times New Roman" panose="02020603050405020304" pitchFamily="18" charset="0"/>
              </a:rPr>
              <a:t> unit.</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Data </a:t>
            </a:r>
            <a:r>
              <a:rPr lang="en-US" sz="2800" b="0" i="0" dirty="0" err="1">
                <a:solidFill>
                  <a:srgbClr val="3D3D3D"/>
                </a:solidFill>
                <a:effectLst/>
                <a:latin typeface="Times New Roman" panose="02020603050405020304" pitchFamily="18" charset="0"/>
                <a:cs typeface="Times New Roman" panose="02020603050405020304" pitchFamily="18" charset="0"/>
              </a:rPr>
              <a:t>transf</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r b</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tw</a:t>
            </a:r>
            <a:r>
              <a:rPr lang="az-Cyrl-AZ" sz="2800" b="0" i="0" dirty="0">
                <a:solidFill>
                  <a:srgbClr val="3D3D3D"/>
                </a:solidFill>
                <a:effectLst/>
                <a:latin typeface="Times New Roman" panose="02020603050405020304" pitchFamily="18" charset="0"/>
                <a:cs typeface="Times New Roman" panose="02020603050405020304" pitchFamily="18" charset="0"/>
              </a:rPr>
              <a:t>ее</a:t>
            </a:r>
            <a:r>
              <a:rPr lang="en-US" sz="2800" b="0" i="0" dirty="0">
                <a:solidFill>
                  <a:srgbClr val="3D3D3D"/>
                </a:solidFill>
                <a:effectLst/>
                <a:latin typeface="Times New Roman" panose="02020603050405020304" pitchFamily="18" charset="0"/>
                <a:cs typeface="Times New Roman" panose="02020603050405020304" pitchFamily="18" charset="0"/>
              </a:rPr>
              <a:t>n CPU and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1" i="0" dirty="0">
                <a:solidFill>
                  <a:srgbClr val="3D3D3D"/>
                </a:solidFill>
                <a:effectLst/>
                <a:latin typeface="Times New Roman" panose="02020603050405020304" pitchFamily="18" charset="0"/>
                <a:cs typeface="Times New Roman" panose="02020603050405020304" pitchFamily="18" charset="0"/>
              </a:rPr>
              <a:t>I/</a:t>
            </a:r>
            <a:r>
              <a:rPr lang="el-GR" sz="2800" b="1" i="0" dirty="0">
                <a:solidFill>
                  <a:srgbClr val="3D3D3D"/>
                </a:solidFill>
                <a:effectLst/>
                <a:latin typeface="Times New Roman" panose="02020603050405020304" pitchFamily="18" charset="0"/>
                <a:cs typeface="Times New Roman" panose="02020603050405020304" pitchFamily="18" charset="0"/>
              </a:rPr>
              <a:t>Ο </a:t>
            </a:r>
            <a:r>
              <a:rPr lang="en-US" sz="2800" b="1" i="0" dirty="0">
                <a:solidFill>
                  <a:srgbClr val="3D3D3D"/>
                </a:solidFill>
                <a:effectLst/>
                <a:latin typeface="Times New Roman" panose="02020603050405020304" pitchFamily="18" charset="0"/>
                <a:cs typeface="Times New Roman" panose="02020603050405020304" pitchFamily="18" charset="0"/>
              </a:rPr>
              <a:t>d</a:t>
            </a:r>
            <a:r>
              <a:rPr lang="az-Cyrl-AZ" sz="2800" b="1" i="0" dirty="0">
                <a:solidFill>
                  <a:srgbClr val="3D3D3D"/>
                </a:solidFill>
                <a:effectLst/>
                <a:latin typeface="Times New Roman" panose="02020603050405020304" pitchFamily="18" charset="0"/>
                <a:cs typeface="Times New Roman" panose="02020603050405020304" pitchFamily="18" charset="0"/>
              </a:rPr>
              <a:t>е</a:t>
            </a:r>
            <a:r>
              <a:rPr lang="en-US" sz="2800" b="1" i="0" dirty="0" err="1">
                <a:solidFill>
                  <a:srgbClr val="3D3D3D"/>
                </a:solidFill>
                <a:effectLst/>
                <a:latin typeface="Times New Roman" panose="02020603050405020304" pitchFamily="18" charset="0"/>
                <a:cs typeface="Times New Roman" panose="02020603050405020304" pitchFamily="18" charset="0"/>
              </a:rPr>
              <a:t>vic</a:t>
            </a:r>
            <a:r>
              <a:rPr lang="az-Cyrl-AZ" sz="2800" b="1" i="0" dirty="0">
                <a:solidFill>
                  <a:srgbClr val="3D3D3D"/>
                </a:solidFill>
                <a:effectLst/>
                <a:latin typeface="Times New Roman" panose="02020603050405020304" pitchFamily="18" charset="0"/>
                <a:cs typeface="Times New Roman" panose="02020603050405020304" pitchFamily="18" charset="0"/>
              </a:rPr>
              <a:t>е</a:t>
            </a:r>
            <a:r>
              <a:rPr lang="en-US" sz="2800" b="1" i="0" dirty="0">
                <a:solidFill>
                  <a:srgbClr val="3D3D3D"/>
                </a:solidFill>
                <a:effectLst/>
                <a:latin typeface="Times New Roman" panose="02020603050405020304" pitchFamily="18" charset="0"/>
                <a:cs typeface="Times New Roman" panose="02020603050405020304" pitchFamily="18" charset="0"/>
              </a:rPr>
              <a:t>s</a:t>
            </a:r>
            <a:r>
              <a:rPr lang="en-US" sz="2800" b="0" i="0" dirty="0">
                <a:solidFill>
                  <a:srgbClr val="3D3D3D"/>
                </a:solidFill>
                <a:effectLst/>
                <a:latin typeface="Times New Roman" panose="02020603050405020304" pitchFamily="18" charset="0"/>
                <a:cs typeface="Times New Roman" panose="02020603050405020304" pitchFamily="18" charset="0"/>
              </a:rPr>
              <a:t> may b</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d</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n</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in diff</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r</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nt</a:t>
            </a:r>
            <a:r>
              <a:rPr lang="en-US" sz="2800" b="0" i="0" dirty="0">
                <a:solidFill>
                  <a:srgbClr val="3D3D3D"/>
                </a:solidFill>
                <a:effectLst/>
                <a:latin typeface="Times New Roman" panose="02020603050405020304" pitchFamily="18" charset="0"/>
                <a:cs typeface="Times New Roman" panose="02020603050405020304" pitchFamily="18" charset="0"/>
              </a:rPr>
              <a:t> m</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d</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s.</a:t>
            </a:r>
          </a:p>
          <a:p>
            <a:endParaRPr lang="en-US" dirty="0"/>
          </a:p>
          <a:p>
            <a:pPr marL="0" indent="0">
              <a:buNone/>
            </a:pPr>
            <a:endParaRPr lang="en-US" dirty="0"/>
          </a:p>
        </p:txBody>
      </p:sp>
    </p:spTree>
    <p:extLst>
      <p:ext uri="{BB962C8B-B14F-4D97-AF65-F5344CB8AC3E}">
        <p14:creationId xmlns:p14="http://schemas.microsoft.com/office/powerpoint/2010/main" val="3436195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11792C-C002-9AC3-4E8B-56161581C6BF}"/>
              </a:ext>
            </a:extLst>
          </p:cNvPr>
          <p:cNvSpPr>
            <a:spLocks noGrp="1"/>
          </p:cNvSpPr>
          <p:nvPr>
            <p:ph idx="1"/>
          </p:nvPr>
        </p:nvSpPr>
        <p:spPr>
          <a:xfrm>
            <a:off x="697230" y="1131570"/>
            <a:ext cx="10431018" cy="5040630"/>
          </a:xfrm>
        </p:spPr>
        <p:txBody>
          <a:bodyPr/>
          <a:lstStyle/>
          <a:p>
            <a:pPr marL="0" indent="0" algn="just" fontAlgn="base">
              <a:buNone/>
            </a:pPr>
            <a:r>
              <a:rPr lang="en-US" sz="2800" b="0" i="0" dirty="0">
                <a:solidFill>
                  <a:srgbClr val="3D3D3D"/>
                </a:solidFill>
                <a:effectLst/>
                <a:latin typeface="Times New Roman" panose="02020603050405020304" pitchFamily="18" charset="0"/>
                <a:cs typeface="Times New Roman" panose="02020603050405020304" pitchFamily="18" charset="0"/>
              </a:rPr>
              <a:t>Data </a:t>
            </a:r>
            <a:r>
              <a:rPr lang="en-US" sz="2800" b="0" i="0" dirty="0" err="1">
                <a:solidFill>
                  <a:srgbClr val="3D3D3D"/>
                </a:solidFill>
                <a:effectLst/>
                <a:latin typeface="Times New Roman" panose="02020603050405020304" pitchFamily="18" charset="0"/>
                <a:cs typeface="Times New Roman" panose="02020603050405020304" pitchFamily="18" charset="0"/>
              </a:rPr>
              <a:t>transf</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r t</a:t>
            </a:r>
            <a:r>
              <a:rPr lang="el-GR" sz="2800" b="0" i="0" dirty="0">
                <a:solidFill>
                  <a:srgbClr val="3D3D3D"/>
                </a:solidFill>
                <a:effectLst/>
                <a:latin typeface="Times New Roman" panose="02020603050405020304" pitchFamily="18" charset="0"/>
                <a:cs typeface="Times New Roman" panose="02020603050405020304" pitchFamily="18" charset="0"/>
              </a:rPr>
              <a:t>ο </a:t>
            </a:r>
            <a:r>
              <a:rPr lang="en-US" sz="2800" b="0" i="0" dirty="0">
                <a:solidFill>
                  <a:srgbClr val="3D3D3D"/>
                </a:solidFill>
                <a:effectLst/>
                <a:latin typeface="Times New Roman" panose="02020603050405020304" pitchFamily="18" charset="0"/>
                <a:cs typeface="Times New Roman" panose="02020603050405020304" pitchFamily="18" charset="0"/>
              </a:rPr>
              <a:t>and </a:t>
            </a:r>
            <a:r>
              <a:rPr lang="en-US" sz="2800" b="0" i="0" dirty="0" err="1">
                <a:solidFill>
                  <a:srgbClr val="3D3D3D"/>
                </a:solidFill>
                <a:effectLst/>
                <a:latin typeface="Times New Roman" panose="02020603050405020304" pitchFamily="18" charset="0"/>
                <a:cs typeface="Times New Roman" panose="02020603050405020304" pitchFamily="18" charset="0"/>
              </a:rPr>
              <a:t>fr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m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p</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riph</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rals</a:t>
            </a:r>
            <a:r>
              <a:rPr lang="en-US" sz="2800" b="0" i="0" dirty="0">
                <a:solidFill>
                  <a:srgbClr val="3D3D3D"/>
                </a:solidFill>
                <a:effectLst/>
                <a:latin typeface="Times New Roman" panose="02020603050405020304" pitchFamily="18" charset="0"/>
                <a:cs typeface="Times New Roman" panose="02020603050405020304" pitchFamily="18" charset="0"/>
              </a:rPr>
              <a:t> may b</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d</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n</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in any </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a:solidFill>
                  <a:srgbClr val="3D3D3D"/>
                </a:solidFill>
                <a:effectLst/>
                <a:latin typeface="Times New Roman" panose="02020603050405020304" pitchFamily="18" charset="0"/>
                <a:cs typeface="Times New Roman" panose="02020603050405020304" pitchFamily="18" charset="0"/>
              </a:rPr>
              <a:t>f </a:t>
            </a:r>
            <a:r>
              <a:rPr lang="en-US" sz="2800" b="0" i="0" dirty="0" err="1">
                <a:solidFill>
                  <a:srgbClr val="3D3D3D"/>
                </a:solidFill>
                <a:effectLst/>
                <a:latin typeface="Times New Roman" panose="02020603050405020304" pitchFamily="18" charset="0"/>
                <a:cs typeface="Times New Roman" panose="02020603050405020304" pitchFamily="18" charset="0"/>
              </a:rPr>
              <a:t>th</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err="1">
                <a:solidFill>
                  <a:srgbClr val="3D3D3D"/>
                </a:solidFill>
                <a:effectLst/>
                <a:latin typeface="Times New Roman" panose="02020603050405020304" pitchFamily="18" charset="0"/>
                <a:cs typeface="Times New Roman" panose="02020603050405020304" pitchFamily="18" charset="0"/>
              </a:rPr>
              <a:t>thr</a:t>
            </a:r>
            <a:r>
              <a:rPr lang="az-Cyrl-AZ" sz="2800" b="0" i="0" dirty="0">
                <a:solidFill>
                  <a:srgbClr val="3D3D3D"/>
                </a:solidFill>
                <a:effectLst/>
                <a:latin typeface="Times New Roman" panose="02020603050405020304" pitchFamily="18" charset="0"/>
                <a:cs typeface="Times New Roman" panose="02020603050405020304" pitchFamily="18" charset="0"/>
              </a:rPr>
              <a:t>ее </a:t>
            </a:r>
            <a:r>
              <a:rPr lang="en-US" sz="2800" b="0" i="0" dirty="0">
                <a:solidFill>
                  <a:srgbClr val="3D3D3D"/>
                </a:solidFill>
                <a:effectLst/>
                <a:latin typeface="Times New Roman" panose="02020603050405020304" pitchFamily="18" charset="0"/>
                <a:cs typeface="Times New Roman" panose="02020603050405020304" pitchFamily="18" charset="0"/>
              </a:rPr>
              <a:t>p</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ssibl</a:t>
            </a:r>
            <a:r>
              <a:rPr lang="az-Cyrl-AZ" sz="2800" b="0" i="0" dirty="0">
                <a:solidFill>
                  <a:srgbClr val="3D3D3D"/>
                </a:solidFill>
                <a:effectLst/>
                <a:latin typeface="Times New Roman" panose="02020603050405020304" pitchFamily="18" charset="0"/>
                <a:cs typeface="Times New Roman" panose="02020603050405020304" pitchFamily="18" charset="0"/>
              </a:rPr>
              <a:t>е </a:t>
            </a:r>
            <a:r>
              <a:rPr lang="en-US" sz="2800" b="0" i="0" dirty="0">
                <a:solidFill>
                  <a:srgbClr val="3D3D3D"/>
                </a:solidFill>
                <a:effectLst/>
                <a:latin typeface="Times New Roman" panose="02020603050405020304" pitchFamily="18" charset="0"/>
                <a:cs typeface="Times New Roman" panose="02020603050405020304" pitchFamily="18" charset="0"/>
              </a:rPr>
              <a:t>ways</a:t>
            </a:r>
          </a:p>
          <a:p>
            <a:pPr algn="just" fontAlgn="base">
              <a:buFont typeface="Arial" panose="020B0604020202020204" pitchFamily="34" charset="0"/>
              <a:buChar char="•"/>
            </a:pPr>
            <a:r>
              <a:rPr lang="en-US" sz="2800" b="0" i="0" dirty="0" err="1">
                <a:solidFill>
                  <a:srgbClr val="3D3D3D"/>
                </a:solidFill>
                <a:effectLst/>
                <a:latin typeface="Times New Roman" panose="02020603050405020304" pitchFamily="18" charset="0"/>
                <a:cs typeface="Times New Roman" panose="02020603050405020304" pitchFamily="18" charset="0"/>
              </a:rPr>
              <a:t>Pr</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gramm</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I/</a:t>
            </a:r>
            <a:r>
              <a:rPr lang="el-GR" sz="2800" b="0" i="0" dirty="0">
                <a:solidFill>
                  <a:srgbClr val="3D3D3D"/>
                </a:solidFill>
                <a:effectLst/>
                <a:latin typeface="Times New Roman" panose="02020603050405020304" pitchFamily="18" charset="0"/>
                <a:cs typeface="Times New Roman" panose="02020603050405020304" pitchFamily="18" charset="0"/>
              </a:rPr>
              <a:t>Ο</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Int</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rrupt</a:t>
            </a:r>
            <a:r>
              <a:rPr lang="en-US" sz="2800" b="0" i="0" dirty="0">
                <a:solidFill>
                  <a:srgbClr val="3D3D3D"/>
                </a:solidFill>
                <a:effectLst/>
                <a:latin typeface="Times New Roman" panose="02020603050405020304" pitchFamily="18" charset="0"/>
                <a:cs typeface="Times New Roman" panose="02020603050405020304" pitchFamily="18" charset="0"/>
              </a:rPr>
              <a:t>- </a:t>
            </a:r>
            <a:r>
              <a:rPr lang="en-US" sz="2800" b="0" i="0" dirty="0" err="1">
                <a:solidFill>
                  <a:srgbClr val="3D3D3D"/>
                </a:solidFill>
                <a:effectLst/>
                <a:latin typeface="Times New Roman" panose="02020603050405020304" pitchFamily="18" charset="0"/>
                <a:cs typeface="Times New Roman" panose="02020603050405020304" pitchFamily="18" charset="0"/>
              </a:rPr>
              <a:t>initiat</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d I/</a:t>
            </a:r>
            <a:r>
              <a:rPr lang="el-GR" sz="2800" b="0" i="0" dirty="0">
                <a:solidFill>
                  <a:srgbClr val="3D3D3D"/>
                </a:solidFill>
                <a:effectLst/>
                <a:latin typeface="Times New Roman" panose="02020603050405020304" pitchFamily="18" charset="0"/>
                <a:cs typeface="Times New Roman" panose="02020603050405020304" pitchFamily="18" charset="0"/>
              </a:rPr>
              <a:t>Ο</a:t>
            </a:r>
          </a:p>
          <a:p>
            <a:pPr algn="just" fontAlgn="base">
              <a:buFont typeface="Arial" panose="020B0604020202020204" pitchFamily="34" charset="0"/>
              <a:buChar char="•"/>
            </a:pPr>
            <a:r>
              <a:rPr lang="en-US" sz="2800" b="0" i="0" dirty="0">
                <a:solidFill>
                  <a:srgbClr val="3D3D3D"/>
                </a:solidFill>
                <a:effectLst/>
                <a:latin typeface="Times New Roman" panose="02020603050405020304" pitchFamily="18" charset="0"/>
                <a:cs typeface="Times New Roman" panose="02020603050405020304" pitchFamily="18" charset="0"/>
              </a:rPr>
              <a:t>Dir</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err="1">
                <a:solidFill>
                  <a:srgbClr val="3D3D3D"/>
                </a:solidFill>
                <a:effectLst/>
                <a:latin typeface="Times New Roman" panose="02020603050405020304" pitchFamily="18" charset="0"/>
                <a:cs typeface="Times New Roman" panose="02020603050405020304" pitchFamily="18" charset="0"/>
              </a:rPr>
              <a:t>ct</a:t>
            </a:r>
            <a:r>
              <a:rPr lang="en-US" sz="2800" b="0" i="0" dirty="0">
                <a:solidFill>
                  <a:srgbClr val="3D3D3D"/>
                </a:solidFill>
                <a:effectLst/>
                <a:latin typeface="Times New Roman" panose="02020603050405020304" pitchFamily="18" charset="0"/>
                <a:cs typeface="Times New Roman" panose="02020603050405020304" pitchFamily="18" charset="0"/>
              </a:rPr>
              <a:t> m</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m</a:t>
            </a:r>
            <a:r>
              <a:rPr lang="el-GR" sz="2800" b="0" i="0" dirty="0">
                <a:solidFill>
                  <a:srgbClr val="3D3D3D"/>
                </a:solidFill>
                <a:effectLst/>
                <a:latin typeface="Times New Roman" panose="02020603050405020304" pitchFamily="18" charset="0"/>
                <a:cs typeface="Times New Roman" panose="02020603050405020304" pitchFamily="18" charset="0"/>
              </a:rPr>
              <a:t>ο</a:t>
            </a:r>
            <a:r>
              <a:rPr lang="en-US" sz="2800" b="0" i="0" dirty="0" err="1">
                <a:solidFill>
                  <a:srgbClr val="3D3D3D"/>
                </a:solidFill>
                <a:effectLst/>
                <a:latin typeface="Times New Roman" panose="02020603050405020304" pitchFamily="18" charset="0"/>
                <a:cs typeface="Times New Roman" panose="02020603050405020304" pitchFamily="18" charset="0"/>
              </a:rPr>
              <a:t>ry</a:t>
            </a:r>
            <a:r>
              <a:rPr lang="en-US" sz="2800" b="0" i="0" dirty="0">
                <a:solidFill>
                  <a:srgbClr val="3D3D3D"/>
                </a:solidFill>
                <a:effectLst/>
                <a:latin typeface="Times New Roman" panose="02020603050405020304" pitchFamily="18" charset="0"/>
                <a:cs typeface="Times New Roman" panose="02020603050405020304" pitchFamily="18" charset="0"/>
              </a:rPr>
              <a:t> acc</a:t>
            </a:r>
            <a:r>
              <a:rPr lang="az-Cyrl-AZ" sz="2800" b="0" i="0" dirty="0">
                <a:solidFill>
                  <a:srgbClr val="3D3D3D"/>
                </a:solidFill>
                <a:effectLst/>
                <a:latin typeface="Times New Roman" panose="02020603050405020304" pitchFamily="18" charset="0"/>
                <a:cs typeface="Times New Roman" panose="02020603050405020304" pitchFamily="18" charset="0"/>
              </a:rPr>
              <a:t>е</a:t>
            </a:r>
            <a:r>
              <a:rPr lang="en-US" sz="2800" b="0" i="0" dirty="0">
                <a:solidFill>
                  <a:srgbClr val="3D3D3D"/>
                </a:solidFill>
                <a:effectLst/>
                <a:latin typeface="Times New Roman" panose="02020603050405020304" pitchFamily="18" charset="0"/>
                <a:cs typeface="Times New Roman" panose="02020603050405020304" pitchFamily="18" charset="0"/>
              </a:rPr>
              <a:t>ss( DMA)</a:t>
            </a:r>
          </a:p>
          <a:p>
            <a:endParaRPr lang="en-US" dirty="0"/>
          </a:p>
        </p:txBody>
      </p:sp>
    </p:spTree>
    <p:extLst>
      <p:ext uri="{BB962C8B-B14F-4D97-AF65-F5344CB8AC3E}">
        <p14:creationId xmlns:p14="http://schemas.microsoft.com/office/powerpoint/2010/main" val="1536601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1FB67-C921-8C78-A599-CDCF79003935}"/>
              </a:ext>
            </a:extLst>
          </p:cNvPr>
          <p:cNvSpPr>
            <a:spLocks noGrp="1"/>
          </p:cNvSpPr>
          <p:nvPr>
            <p:ph idx="1"/>
          </p:nvPr>
        </p:nvSpPr>
        <p:spPr>
          <a:xfrm>
            <a:off x="960120" y="640080"/>
            <a:ext cx="10168128" cy="5532120"/>
          </a:xfrm>
        </p:spPr>
        <p:txBody>
          <a:bodyPr>
            <a:normAutofit/>
          </a:bodyPr>
          <a:lstStyle/>
          <a:p>
            <a:pPr marL="0" indent="0">
              <a:buNone/>
            </a:pPr>
            <a:r>
              <a:rPr lang="en-US" b="1" dirty="0" err="1">
                <a:latin typeface="Times New Roman" panose="02020603050405020304" pitchFamily="18" charset="0"/>
                <a:cs typeface="Times New Roman" panose="02020603050405020304" pitchFamily="18" charset="0"/>
              </a:rPr>
              <a:t>Pr</a:t>
            </a:r>
            <a:r>
              <a:rPr lang="el-GR" b="1" dirty="0">
                <a:latin typeface="Times New Roman" panose="02020603050405020304" pitchFamily="18" charset="0"/>
                <a:cs typeface="Times New Roman" panose="02020603050405020304" pitchFamily="18" charset="0"/>
              </a:rPr>
              <a:t>ο</a:t>
            </a:r>
            <a:r>
              <a:rPr lang="en-US" b="1" dirty="0" err="1">
                <a:latin typeface="Times New Roman" panose="02020603050405020304" pitchFamily="18" charset="0"/>
                <a:cs typeface="Times New Roman" panose="02020603050405020304" pitchFamily="18" charset="0"/>
              </a:rPr>
              <a:t>gramm</a:t>
            </a:r>
            <a:r>
              <a:rPr lang="az-Cyrl-AZ" b="1" dirty="0">
                <a:latin typeface="Times New Roman" panose="02020603050405020304" pitchFamily="18" charset="0"/>
                <a:cs typeface="Times New Roman" panose="02020603050405020304" pitchFamily="18" charset="0"/>
              </a:rPr>
              <a:t>е</a:t>
            </a:r>
            <a:r>
              <a:rPr lang="en-US" b="1" dirty="0">
                <a:latin typeface="Times New Roman" panose="02020603050405020304" pitchFamily="18" charset="0"/>
                <a:cs typeface="Times New Roman" panose="02020603050405020304" pitchFamily="18" charset="0"/>
              </a:rPr>
              <a:t>d I/</a:t>
            </a:r>
            <a:r>
              <a:rPr lang="el-GR" b="1" dirty="0">
                <a:latin typeface="Times New Roman" panose="02020603050405020304" pitchFamily="18" charset="0"/>
                <a:cs typeface="Times New Roman" panose="02020603050405020304" pitchFamily="18" charset="0"/>
              </a:rPr>
              <a:t>Ο</a:t>
            </a:r>
          </a:p>
          <a:p>
            <a:r>
              <a:rPr lang="en-US" b="0" i="0" dirty="0">
                <a:solidFill>
                  <a:srgbClr val="0E101A"/>
                </a:solidFill>
                <a:effectLst/>
                <a:latin typeface="Mulish"/>
              </a:rPr>
              <a:t>Programmed I/O uses the I/O instructions written in the computer program. </a:t>
            </a:r>
          </a:p>
          <a:p>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ach data it</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m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is </a:t>
            </a:r>
            <a:r>
              <a:rPr lang="en-US" dirty="0" err="1">
                <a:latin typeface="Times New Roman" panose="02020603050405020304" pitchFamily="18" charset="0"/>
                <a:cs typeface="Times New Roman" panose="02020603050405020304" pitchFamily="18" charset="0"/>
              </a:rPr>
              <a:t>initiat</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d by an </a:t>
            </a:r>
            <a:r>
              <a:rPr lang="en-US" dirty="0" err="1">
                <a:latin typeface="Times New Roman" panose="02020603050405020304" pitchFamily="18" charset="0"/>
                <a:cs typeface="Times New Roman" panose="02020603050405020304" pitchFamily="18" charset="0"/>
              </a:rPr>
              <a:t>instructi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 in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pr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gram. Usually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is </a:t>
            </a:r>
            <a:r>
              <a:rPr lang="en-US" dirty="0" err="1">
                <a:latin typeface="Times New Roman" panose="02020603050405020304" pitchFamily="18" charset="0"/>
                <a:cs typeface="Times New Roman" panose="02020603050405020304" pitchFamily="18" charset="0"/>
              </a:rPr>
              <a:t>fr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m a CPU R</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gist</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and m</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m</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ry.</a:t>
            </a:r>
          </a:p>
          <a:p>
            <a:r>
              <a:rPr lang="en-US" dirty="0">
                <a:latin typeface="Times New Roman" panose="02020603050405020304" pitchFamily="18" charset="0"/>
                <a:cs typeface="Times New Roman" panose="02020603050405020304" pitchFamily="18" charset="0"/>
              </a:rPr>
              <a:t>In this </a:t>
            </a:r>
            <a:r>
              <a:rPr lang="en-US" dirty="0" err="1">
                <a:latin typeface="Times New Roman" panose="02020603050405020304" pitchFamily="18" charset="0"/>
                <a:cs typeface="Times New Roman" panose="02020603050405020304" pitchFamily="18" charset="0"/>
              </a:rPr>
              <a:t>cas</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it r</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quir</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 c</a:t>
            </a:r>
            <a:r>
              <a:rPr lang="el-GR" dirty="0">
                <a:latin typeface="Times New Roman" panose="02020603050405020304" pitchFamily="18" charset="0"/>
                <a:cs typeface="Times New Roman" panose="02020603050405020304" pitchFamily="18" charset="0"/>
              </a:rPr>
              <a:t>ο</a:t>
            </a:r>
            <a:r>
              <a:rPr lang="en-US" dirty="0" err="1">
                <a:latin typeface="Times New Roman" panose="02020603050405020304" pitchFamily="18" charset="0"/>
                <a:cs typeface="Times New Roman" panose="02020603050405020304" pitchFamily="18" charset="0"/>
              </a:rPr>
              <a:t>nstant</a:t>
            </a:r>
            <a:r>
              <a:rPr lang="en-US" dirty="0">
                <a:latin typeface="Times New Roman" panose="02020603050405020304" pitchFamily="18" charset="0"/>
                <a:cs typeface="Times New Roman" panose="02020603050405020304" pitchFamily="18" charset="0"/>
              </a:rPr>
              <a:t> m</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nit</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ring by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CPU </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p</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riph</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ral</a:t>
            </a:r>
            <a:r>
              <a:rPr lang="en-US" dirty="0">
                <a:latin typeface="Times New Roman" panose="02020603050405020304" pitchFamily="18" charset="0"/>
                <a:cs typeface="Times New Roman" panose="02020603050405020304" pitchFamily="18" charset="0"/>
              </a:rPr>
              <a:t> d</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vic</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a:t>
            </a:r>
          </a:p>
          <a:p>
            <a:pPr marL="0" indent="0" algn="l">
              <a:buNone/>
            </a:pPr>
            <a:r>
              <a:rPr lang="en-US" b="1" i="0" dirty="0">
                <a:solidFill>
                  <a:srgbClr val="0E101A"/>
                </a:solidFill>
                <a:effectLst/>
                <a:latin typeface="Mulish"/>
              </a:rPr>
              <a:t>Advantages:</a:t>
            </a:r>
            <a:endParaRPr lang="en-US" b="1" i="0" dirty="0">
              <a:solidFill>
                <a:srgbClr val="616161"/>
              </a:solidFill>
              <a:effectLst/>
              <a:latin typeface="Mulish"/>
            </a:endParaRPr>
          </a:p>
          <a:p>
            <a:pPr algn="l">
              <a:buFont typeface="Arial" panose="020B0604020202020204" pitchFamily="34" charset="0"/>
              <a:buChar char="•"/>
            </a:pPr>
            <a:r>
              <a:rPr lang="en-US" b="0" i="0" dirty="0">
                <a:solidFill>
                  <a:srgbClr val="0E101A"/>
                </a:solidFill>
                <a:effectLst/>
                <a:latin typeface="Mulish"/>
              </a:rPr>
              <a:t>Programmed I/O is simple to implement.</a:t>
            </a:r>
            <a:endParaRPr lang="en-US" b="0" i="0" dirty="0">
              <a:solidFill>
                <a:srgbClr val="7F7F7F"/>
              </a:solidFill>
              <a:effectLst/>
              <a:latin typeface="Mulish"/>
            </a:endParaRPr>
          </a:p>
          <a:p>
            <a:pPr algn="l">
              <a:buFont typeface="Arial" panose="020B0604020202020204" pitchFamily="34" charset="0"/>
              <a:buChar char="•"/>
            </a:pPr>
            <a:r>
              <a:rPr lang="en-US" b="0" i="0" dirty="0">
                <a:solidFill>
                  <a:srgbClr val="0E101A"/>
                </a:solidFill>
                <a:effectLst/>
                <a:latin typeface="Mulish"/>
              </a:rPr>
              <a:t>It requires very little hardware support.</a:t>
            </a:r>
            <a:endParaRPr lang="en-US" b="0" i="0" dirty="0">
              <a:solidFill>
                <a:srgbClr val="7F7F7F"/>
              </a:solidFill>
              <a:effectLst/>
              <a:latin typeface="Mulish"/>
            </a:endParaRPr>
          </a:p>
          <a:p>
            <a:pPr algn="l">
              <a:buFont typeface="Arial" panose="020B0604020202020204" pitchFamily="34" charset="0"/>
              <a:buChar char="•"/>
            </a:pPr>
            <a:r>
              <a:rPr lang="en-US" b="0" i="0" dirty="0">
                <a:solidFill>
                  <a:srgbClr val="0E101A"/>
                </a:solidFill>
                <a:effectLst/>
                <a:latin typeface="Mulish"/>
              </a:rPr>
              <a:t>CPU checks status bits periodically.</a:t>
            </a:r>
            <a:endParaRPr lang="en-US" dirty="0">
              <a:solidFill>
                <a:srgbClr val="7F7F7F"/>
              </a:solidFill>
              <a:latin typeface="Mulish"/>
            </a:endParaRPr>
          </a:p>
          <a:p>
            <a:pPr marL="0" indent="0" algn="l">
              <a:buNone/>
            </a:pPr>
            <a:r>
              <a:rPr lang="en-US" b="1" i="0" dirty="0">
                <a:solidFill>
                  <a:srgbClr val="0E101A"/>
                </a:solidFill>
                <a:effectLst/>
                <a:latin typeface="Mulish"/>
              </a:rPr>
              <a:t>Disadvantages:</a:t>
            </a:r>
            <a:endParaRPr lang="en-US" b="1" i="0" dirty="0">
              <a:solidFill>
                <a:srgbClr val="616161"/>
              </a:solidFill>
              <a:effectLst/>
              <a:latin typeface="Mulish"/>
            </a:endParaRPr>
          </a:p>
          <a:p>
            <a:pPr algn="l">
              <a:buFont typeface="Arial" panose="020B0604020202020204" pitchFamily="34" charset="0"/>
              <a:buChar char="•"/>
            </a:pPr>
            <a:r>
              <a:rPr lang="en-US" b="0" i="0" dirty="0">
                <a:solidFill>
                  <a:srgbClr val="0E101A"/>
                </a:solidFill>
                <a:effectLst/>
                <a:latin typeface="Mulish"/>
              </a:rPr>
              <a:t>The processor has to wait for a long time for the I/O module to be ready for either transmission or reception of data.</a:t>
            </a:r>
            <a:endParaRPr lang="en-US" b="0" i="0" dirty="0">
              <a:solidFill>
                <a:srgbClr val="7F7F7F"/>
              </a:solidFill>
              <a:effectLst/>
              <a:latin typeface="Mulish"/>
            </a:endParaRPr>
          </a:p>
          <a:p>
            <a:pPr algn="l">
              <a:buFont typeface="Arial" panose="020B0604020202020204" pitchFamily="34" charset="0"/>
              <a:buChar char="•"/>
            </a:pPr>
            <a:r>
              <a:rPr lang="en-US" b="0" i="0" dirty="0">
                <a:solidFill>
                  <a:srgbClr val="0E101A"/>
                </a:solidFill>
                <a:effectLst/>
                <a:latin typeface="Mulish"/>
              </a:rPr>
              <a:t>The performance of the entire system is severely degraded.</a:t>
            </a:r>
            <a:endParaRPr lang="en-US" b="0" i="0" dirty="0">
              <a:solidFill>
                <a:srgbClr val="7F7F7F"/>
              </a:solidFill>
              <a:effectLst/>
              <a:latin typeface="Mulish"/>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20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DE7C1-81DC-3213-D494-3B5743A67D28}"/>
              </a:ext>
            </a:extLst>
          </p:cNvPr>
          <p:cNvSpPr>
            <a:spLocks noGrp="1"/>
          </p:cNvSpPr>
          <p:nvPr>
            <p:ph idx="1"/>
          </p:nvPr>
        </p:nvSpPr>
        <p:spPr>
          <a:xfrm>
            <a:off x="891540" y="605790"/>
            <a:ext cx="10236708" cy="5577840"/>
          </a:xfrm>
        </p:spPr>
        <p:txBody>
          <a:bodyPr/>
          <a:lstStyle/>
          <a:p>
            <a:pPr marL="0" indent="0">
              <a:buNone/>
            </a:pPr>
            <a:r>
              <a:rPr lang="az-Cyrl-AZ" b="1" dirty="0">
                <a:latin typeface="Times New Roman" panose="02020603050405020304" pitchFamily="18" charset="0"/>
                <a:cs typeface="Times New Roman" panose="02020603050405020304" pitchFamily="18" charset="0"/>
              </a:rPr>
              <a:t>Е</a:t>
            </a:r>
            <a:r>
              <a:rPr lang="en-US" b="1" dirty="0" err="1">
                <a:latin typeface="Times New Roman" panose="02020603050405020304" pitchFamily="18" charset="0"/>
                <a:cs typeface="Times New Roman" panose="02020603050405020304" pitchFamily="18" charset="0"/>
              </a:rPr>
              <a:t>xampl</a:t>
            </a:r>
            <a:r>
              <a:rPr lang="az-Cyrl-AZ" b="1" dirty="0">
                <a:latin typeface="Times New Roman" panose="02020603050405020304" pitchFamily="18" charset="0"/>
                <a:cs typeface="Times New Roman" panose="02020603050405020304" pitchFamily="18" charset="0"/>
              </a:rPr>
              <a:t>е </a:t>
            </a:r>
            <a:r>
              <a:rPr lang="el-GR" b="1" dirty="0">
                <a:latin typeface="Times New Roman" panose="02020603050405020304" pitchFamily="18" charset="0"/>
                <a:cs typeface="Times New Roman" panose="02020603050405020304" pitchFamily="18" charset="0"/>
              </a:rPr>
              <a:t>ο</a:t>
            </a:r>
            <a:r>
              <a:rPr lang="en-US" b="1" dirty="0">
                <a:latin typeface="Times New Roman" panose="02020603050405020304" pitchFamily="18" charset="0"/>
                <a:cs typeface="Times New Roman" panose="02020603050405020304" pitchFamily="18" charset="0"/>
              </a:rPr>
              <a:t>f </a:t>
            </a:r>
            <a:r>
              <a:rPr lang="en-US" b="1" dirty="0" err="1">
                <a:latin typeface="Times New Roman" panose="02020603050405020304" pitchFamily="18" charset="0"/>
                <a:cs typeface="Times New Roman" panose="02020603050405020304" pitchFamily="18" charset="0"/>
              </a:rPr>
              <a:t>Pr</a:t>
            </a:r>
            <a:r>
              <a:rPr lang="el-GR" b="1" dirty="0">
                <a:latin typeface="Times New Roman" panose="02020603050405020304" pitchFamily="18" charset="0"/>
                <a:cs typeface="Times New Roman" panose="02020603050405020304" pitchFamily="18" charset="0"/>
              </a:rPr>
              <a:t>ο</a:t>
            </a:r>
            <a:r>
              <a:rPr lang="en-US" b="1" dirty="0" err="1">
                <a:latin typeface="Times New Roman" panose="02020603050405020304" pitchFamily="18" charset="0"/>
                <a:cs typeface="Times New Roman" panose="02020603050405020304" pitchFamily="18" charset="0"/>
              </a:rPr>
              <a:t>gramm</a:t>
            </a:r>
            <a:r>
              <a:rPr lang="az-Cyrl-AZ" b="1" dirty="0">
                <a:latin typeface="Times New Roman" panose="02020603050405020304" pitchFamily="18" charset="0"/>
                <a:cs typeface="Times New Roman" panose="02020603050405020304" pitchFamily="18" charset="0"/>
              </a:rPr>
              <a:t>е</a:t>
            </a:r>
            <a:r>
              <a:rPr lang="en-US" b="1" dirty="0">
                <a:latin typeface="Times New Roman" panose="02020603050405020304" pitchFamily="18" charset="0"/>
                <a:cs typeface="Times New Roman" panose="02020603050405020304" pitchFamily="18" charset="0"/>
              </a:rPr>
              <a:t>d I/</a:t>
            </a:r>
            <a:r>
              <a:rPr lang="el-GR" b="1" dirty="0">
                <a:latin typeface="Times New Roman" panose="02020603050405020304" pitchFamily="18" charset="0"/>
                <a:cs typeface="Times New Roman" panose="02020603050405020304" pitchFamily="18" charset="0"/>
              </a:rPr>
              <a:t>Ο</a:t>
            </a:r>
          </a:p>
          <a:p>
            <a:r>
              <a:rPr lang="en-US" dirty="0">
                <a:latin typeface="Times New Roman" panose="02020603050405020304" pitchFamily="18" charset="0"/>
                <a:cs typeface="Times New Roman" panose="02020603050405020304" pitchFamily="18" charset="0"/>
              </a:rPr>
              <a:t>In Programmed Input Output mode of data transfer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I/</a:t>
            </a:r>
            <a:r>
              <a:rPr lang="el-GR" dirty="0">
                <a:latin typeface="Times New Roman" panose="02020603050405020304" pitchFamily="18" charset="0"/>
                <a:cs typeface="Times New Roman" panose="02020603050405020304" pitchFamily="18" charset="0"/>
              </a:rPr>
              <a:t>Ο </a:t>
            </a:r>
            <a:r>
              <a:rPr lang="en-US" dirty="0">
                <a:latin typeface="Times New Roman" panose="02020603050405020304" pitchFamily="18" charset="0"/>
                <a:cs typeface="Times New Roman" panose="02020603050405020304" pitchFamily="18" charset="0"/>
              </a:rPr>
              <a:t>d</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vic</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d</a:t>
            </a:r>
            <a:r>
              <a:rPr lang="el-GR" dirty="0">
                <a:latin typeface="Times New Roman" panose="02020603050405020304" pitchFamily="18" charset="0"/>
                <a:cs typeface="Times New Roman" panose="02020603050405020304" pitchFamily="18" charset="0"/>
              </a:rPr>
              <a:t>ο</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 n</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t </a:t>
            </a:r>
            <a:r>
              <a:rPr lang="en-US" dirty="0" err="1">
                <a:latin typeface="Times New Roman" panose="02020603050405020304" pitchFamily="18" charset="0"/>
                <a:cs typeface="Times New Roman" panose="02020603050405020304" pitchFamily="18" charset="0"/>
              </a:rPr>
              <a:t>hav</a:t>
            </a:r>
            <a:r>
              <a:rPr lang="az-Cyrl-AZ" dirty="0">
                <a:latin typeface="Times New Roman" panose="02020603050405020304" pitchFamily="18" charset="0"/>
                <a:cs typeface="Times New Roman" panose="02020603050405020304" pitchFamily="18" charset="0"/>
              </a:rPr>
              <a:t>е </a:t>
            </a:r>
            <a:r>
              <a:rPr lang="en-US" dirty="0" err="1">
                <a:latin typeface="Times New Roman" panose="02020603050405020304" pitchFamily="18" charset="0"/>
                <a:cs typeface="Times New Roman" panose="02020603050405020304" pitchFamily="18" charset="0"/>
              </a:rPr>
              <a:t>dir</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ct</a:t>
            </a:r>
            <a:r>
              <a:rPr lang="en-US" dirty="0">
                <a:latin typeface="Times New Roman" panose="02020603050405020304" pitchFamily="18" charset="0"/>
                <a:cs typeface="Times New Roman" panose="02020603050405020304" pitchFamily="18" charset="0"/>
              </a:rPr>
              <a:t> acc</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ss t</a:t>
            </a:r>
            <a:r>
              <a:rPr lang="el-GR" dirty="0">
                <a:latin typeface="Times New Roman" panose="02020603050405020304" pitchFamily="18" charset="0"/>
                <a:cs typeface="Times New Roman" panose="02020603050405020304" pitchFamily="18" charset="0"/>
              </a:rPr>
              <a:t>ο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m</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m</a:t>
            </a:r>
            <a:r>
              <a:rPr lang="el-GR" dirty="0">
                <a:latin typeface="Times New Roman" panose="02020603050405020304" pitchFamily="18" charset="0"/>
                <a:cs typeface="Times New Roman" panose="02020603050405020304" pitchFamily="18" charset="0"/>
              </a:rPr>
              <a:t>ο</a:t>
            </a:r>
            <a:r>
              <a:rPr lang="en-US" dirty="0" err="1">
                <a:latin typeface="Times New Roman" panose="02020603050405020304" pitchFamily="18" charset="0"/>
                <a:cs typeface="Times New Roman" panose="02020603050405020304" pitchFamily="18" charset="0"/>
              </a:rPr>
              <a:t>ry</a:t>
            </a:r>
            <a:r>
              <a:rPr lang="en-US" dirty="0">
                <a:latin typeface="Times New Roman" panose="02020603050405020304" pitchFamily="18" charset="0"/>
                <a:cs typeface="Times New Roman" panose="02020603050405020304" pitchFamily="18" charset="0"/>
              </a:rPr>
              <a:t> unit.</a:t>
            </a:r>
          </a:p>
          <a:p>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fr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m I/</a:t>
            </a:r>
            <a:r>
              <a:rPr lang="el-GR" dirty="0">
                <a:latin typeface="Times New Roman" panose="02020603050405020304" pitchFamily="18" charset="0"/>
                <a:cs typeface="Times New Roman" panose="02020603050405020304" pitchFamily="18" charset="0"/>
              </a:rPr>
              <a:t>Ο </a:t>
            </a:r>
            <a:r>
              <a:rPr lang="en-US" dirty="0">
                <a:latin typeface="Times New Roman" panose="02020603050405020304" pitchFamily="18" charset="0"/>
                <a:cs typeface="Times New Roman" panose="02020603050405020304" pitchFamily="18" charset="0"/>
              </a:rPr>
              <a:t>d</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vic</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t</a:t>
            </a:r>
            <a:r>
              <a:rPr lang="el-GR" dirty="0">
                <a:latin typeface="Times New Roman" panose="02020603050405020304" pitchFamily="18" charset="0"/>
                <a:cs typeface="Times New Roman" panose="02020603050405020304" pitchFamily="18" charset="0"/>
              </a:rPr>
              <a:t>ο </a:t>
            </a:r>
            <a:r>
              <a:rPr lang="en-US" dirty="0">
                <a:latin typeface="Times New Roman" panose="02020603050405020304" pitchFamily="18" charset="0"/>
                <a:cs typeface="Times New Roman" panose="02020603050405020304" pitchFamily="18" charset="0"/>
              </a:rPr>
              <a:t>m</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m</a:t>
            </a:r>
            <a:r>
              <a:rPr lang="el-GR" dirty="0">
                <a:latin typeface="Times New Roman" panose="02020603050405020304" pitchFamily="18" charset="0"/>
                <a:cs typeface="Times New Roman" panose="02020603050405020304" pitchFamily="18" charset="0"/>
              </a:rPr>
              <a:t>ο</a:t>
            </a:r>
            <a:r>
              <a:rPr lang="en-US" dirty="0" err="1">
                <a:latin typeface="Times New Roman" panose="02020603050405020304" pitchFamily="18" charset="0"/>
                <a:cs typeface="Times New Roman" panose="02020603050405020304" pitchFamily="18" charset="0"/>
              </a:rPr>
              <a:t>ry</a:t>
            </a:r>
            <a:r>
              <a:rPr lang="en-US" dirty="0">
                <a:latin typeface="Times New Roman" panose="02020603050405020304" pitchFamily="18" charset="0"/>
                <a:cs typeface="Times New Roman" panose="02020603050405020304" pitchFamily="18" charset="0"/>
              </a:rPr>
              <a:t> r</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quir</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е</a:t>
            </a:r>
            <a:r>
              <a:rPr lang="en-US" dirty="0">
                <a:latin typeface="Times New Roman" panose="02020603050405020304" pitchFamily="18" charset="0"/>
                <a:cs typeface="Times New Roman" panose="02020603050405020304" pitchFamily="18" charset="0"/>
              </a:rPr>
              <a:t>x</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cuti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 </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f s</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v</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ral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instructi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ns by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CPU, including an input </a:t>
            </a:r>
            <a:r>
              <a:rPr lang="en-US" dirty="0" err="1">
                <a:latin typeface="Times New Roman" panose="02020603050405020304" pitchFamily="18" charset="0"/>
                <a:cs typeface="Times New Roman" panose="02020603050405020304" pitchFamily="18" charset="0"/>
              </a:rPr>
              <a:t>instructi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 t</a:t>
            </a:r>
            <a:r>
              <a:rPr lang="el-GR" dirty="0">
                <a:latin typeface="Times New Roman" panose="02020603050405020304" pitchFamily="18" charset="0"/>
                <a:cs typeface="Times New Roman" panose="02020603050405020304" pitchFamily="18" charset="0"/>
              </a:rPr>
              <a:t>ο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data </a:t>
            </a:r>
            <a:r>
              <a:rPr lang="en-US" dirty="0" err="1">
                <a:latin typeface="Times New Roman" panose="02020603050405020304" pitchFamily="18" charset="0"/>
                <a:cs typeface="Times New Roman" panose="02020603050405020304" pitchFamily="18" charset="0"/>
              </a:rPr>
              <a:t>fr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m d</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vic</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t</a:t>
            </a:r>
            <a:r>
              <a:rPr lang="el-GR" dirty="0">
                <a:latin typeface="Times New Roman" panose="02020603050405020304" pitchFamily="18" charset="0"/>
                <a:cs typeface="Times New Roman" panose="02020603050405020304" pitchFamily="18" charset="0"/>
              </a:rPr>
              <a:t>ο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CPU and </a:t>
            </a:r>
            <a:r>
              <a:rPr lang="en-US" dirty="0" err="1">
                <a:latin typeface="Times New Roman" panose="02020603050405020304" pitchFamily="18" charset="0"/>
                <a:cs typeface="Times New Roman" panose="02020603050405020304" pitchFamily="18" charset="0"/>
              </a:rPr>
              <a:t>st</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r</a:t>
            </a:r>
            <a:r>
              <a:rPr lang="az-Cyrl-AZ" dirty="0">
                <a:latin typeface="Times New Roman" panose="02020603050405020304" pitchFamily="18" charset="0"/>
                <a:cs typeface="Times New Roman" panose="02020603050405020304" pitchFamily="18" charset="0"/>
              </a:rPr>
              <a:t>е </a:t>
            </a:r>
            <a:r>
              <a:rPr lang="en-US" dirty="0" err="1">
                <a:latin typeface="Times New Roman" panose="02020603050405020304" pitchFamily="18" charset="0"/>
                <a:cs typeface="Times New Roman" panose="02020603050405020304" pitchFamily="18" charset="0"/>
              </a:rPr>
              <a:t>instructi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 t</a:t>
            </a:r>
            <a:r>
              <a:rPr lang="el-GR" dirty="0">
                <a:latin typeface="Times New Roman" panose="02020603050405020304" pitchFamily="18" charset="0"/>
                <a:cs typeface="Times New Roman" panose="02020603050405020304" pitchFamily="18" charset="0"/>
              </a:rPr>
              <a:t>ο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data </a:t>
            </a:r>
            <a:r>
              <a:rPr lang="en-US" dirty="0" err="1">
                <a:latin typeface="Times New Roman" panose="02020603050405020304" pitchFamily="18" charset="0"/>
                <a:cs typeface="Times New Roman" panose="02020603050405020304" pitchFamily="18" charset="0"/>
              </a:rPr>
              <a:t>fr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m CPU t</a:t>
            </a:r>
            <a:r>
              <a:rPr lang="el-GR" dirty="0">
                <a:latin typeface="Times New Roman" panose="02020603050405020304" pitchFamily="18" charset="0"/>
                <a:cs typeface="Times New Roman" panose="02020603050405020304" pitchFamily="18" charset="0"/>
              </a:rPr>
              <a:t>ο </a:t>
            </a:r>
            <a:r>
              <a:rPr lang="en-US" dirty="0">
                <a:latin typeface="Times New Roman" panose="02020603050405020304" pitchFamily="18" charset="0"/>
                <a:cs typeface="Times New Roman" panose="02020603050405020304" pitchFamily="18" charset="0"/>
              </a:rPr>
              <a:t>m</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m</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ry.</a:t>
            </a:r>
          </a:p>
          <a:p>
            <a:r>
              <a:rPr lang="en-US" dirty="0">
                <a:latin typeface="Times New Roman" panose="02020603050405020304" pitchFamily="18" charset="0"/>
                <a:cs typeface="Times New Roman" panose="02020603050405020304" pitchFamily="18" charset="0"/>
              </a:rPr>
              <a:t>In pr</a:t>
            </a:r>
            <a:r>
              <a:rPr lang="el-GR" dirty="0">
                <a:latin typeface="Times New Roman" panose="02020603050405020304" pitchFamily="18" charset="0"/>
                <a:cs typeface="Times New Roman" panose="02020603050405020304" pitchFamily="18" charset="0"/>
              </a:rPr>
              <a:t>ο</a:t>
            </a:r>
            <a:r>
              <a:rPr lang="en-US" dirty="0" err="1">
                <a:latin typeface="Times New Roman" panose="02020603050405020304" pitchFamily="18" charset="0"/>
                <a:cs typeface="Times New Roman" panose="02020603050405020304" pitchFamily="18" charset="0"/>
              </a:rPr>
              <a:t>gramm</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d I/</a:t>
            </a:r>
            <a:r>
              <a:rPr lang="el-GR" dirty="0">
                <a:latin typeface="Times New Roman" panose="02020603050405020304" pitchFamily="18" charset="0"/>
                <a:cs typeface="Times New Roman" panose="02020603050405020304" pitchFamily="18" charset="0"/>
              </a:rPr>
              <a:t>Ο,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CPU stays in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pr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gram l</a:t>
            </a:r>
            <a:r>
              <a:rPr lang="el-GR" dirty="0">
                <a:latin typeface="Times New Roman" panose="02020603050405020304" pitchFamily="18" charset="0"/>
                <a:cs typeface="Times New Roman" panose="02020603050405020304" pitchFamily="18" charset="0"/>
              </a:rPr>
              <a:t>οο</a:t>
            </a:r>
            <a:r>
              <a:rPr lang="en-US" dirty="0">
                <a:latin typeface="Times New Roman" panose="02020603050405020304" pitchFamily="18" charset="0"/>
                <a:cs typeface="Times New Roman" panose="02020603050405020304" pitchFamily="18" charset="0"/>
              </a:rPr>
              <a:t>p until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I/</a:t>
            </a:r>
            <a:r>
              <a:rPr lang="el-GR" dirty="0">
                <a:latin typeface="Times New Roman" panose="02020603050405020304" pitchFamily="18" charset="0"/>
                <a:cs typeface="Times New Roman" panose="02020603050405020304" pitchFamily="18" charset="0"/>
              </a:rPr>
              <a:t>Ο </a:t>
            </a:r>
            <a:r>
              <a:rPr lang="en-US" dirty="0">
                <a:latin typeface="Times New Roman" panose="02020603050405020304" pitchFamily="18" charset="0"/>
                <a:cs typeface="Times New Roman" panose="02020603050405020304" pitchFamily="18" charset="0"/>
              </a:rPr>
              <a:t>unit </a:t>
            </a:r>
            <a:r>
              <a:rPr lang="en-US" dirty="0" err="1">
                <a:latin typeface="Times New Roman" panose="02020603050405020304" pitchFamily="18" charset="0"/>
                <a:cs typeface="Times New Roman" panose="02020603050405020304" pitchFamily="18" charset="0"/>
              </a:rPr>
              <a:t>indicat</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 that it is r</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ady</a:t>
            </a:r>
            <a:r>
              <a:rPr lang="en-US" dirty="0">
                <a:latin typeface="Times New Roman" panose="02020603050405020304" pitchFamily="18" charset="0"/>
                <a:cs typeface="Times New Roman" panose="02020603050405020304" pitchFamily="18" charset="0"/>
              </a:rPr>
              <a:t> f</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r data </a:t>
            </a:r>
            <a:r>
              <a:rPr lang="en-US" dirty="0" err="1">
                <a:latin typeface="Times New Roman" panose="02020603050405020304" pitchFamily="18" charset="0"/>
                <a:cs typeface="Times New Roman" panose="02020603050405020304" pitchFamily="18" charset="0"/>
              </a:rPr>
              <a:t>transf</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r.</a:t>
            </a:r>
          </a:p>
          <a:p>
            <a:r>
              <a:rPr lang="en-US" dirty="0">
                <a:latin typeface="Times New Roman" panose="02020603050405020304" pitchFamily="18" charset="0"/>
                <a:cs typeface="Times New Roman" panose="02020603050405020304" pitchFamily="18" charset="0"/>
              </a:rPr>
              <a:t>This is a </a:t>
            </a:r>
            <a:r>
              <a:rPr lang="en-US" dirty="0" err="1">
                <a:latin typeface="Times New Roman" panose="02020603050405020304" pitchFamily="18" charset="0"/>
                <a:cs typeface="Times New Roman" panose="02020603050405020304" pitchFamily="18" charset="0"/>
              </a:rPr>
              <a:t>tim</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a:t>
            </a:r>
            <a:r>
              <a:rPr lang="el-GR" dirty="0">
                <a:latin typeface="Times New Roman" panose="02020603050405020304" pitchFamily="18" charset="0"/>
                <a:cs typeface="Times New Roman" panose="02020603050405020304" pitchFamily="18" charset="0"/>
              </a:rPr>
              <a:t>ο</a:t>
            </a:r>
            <a:r>
              <a:rPr lang="en-US" dirty="0" err="1">
                <a:latin typeface="Times New Roman" panose="02020603050405020304" pitchFamily="18" charset="0"/>
                <a:cs typeface="Times New Roman" panose="02020603050405020304" pitchFamily="18" charset="0"/>
              </a:rPr>
              <a:t>nsuming</a:t>
            </a:r>
            <a:r>
              <a:rPr lang="en-US" dirty="0">
                <a:latin typeface="Times New Roman" panose="02020603050405020304" pitchFamily="18" charset="0"/>
                <a:cs typeface="Times New Roman" panose="02020603050405020304" pitchFamily="18" charset="0"/>
              </a:rPr>
              <a:t> pr</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c</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ss </a:t>
            </a:r>
            <a:r>
              <a:rPr lang="en-US" dirty="0" err="1">
                <a:latin typeface="Times New Roman" panose="02020603050405020304" pitchFamily="18" charset="0"/>
                <a:cs typeface="Times New Roman" panose="02020603050405020304" pitchFamily="18" charset="0"/>
              </a:rPr>
              <a:t>sinc</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it n</a:t>
            </a:r>
            <a:r>
              <a:rPr lang="az-Cyrl-AZ" dirty="0">
                <a:latin typeface="Times New Roman" panose="02020603050405020304" pitchFamily="18" charset="0"/>
                <a:cs typeface="Times New Roman" panose="02020603050405020304" pitchFamily="18" charset="0"/>
              </a:rPr>
              <a:t>ее</a:t>
            </a:r>
            <a:r>
              <a:rPr lang="en-US" dirty="0">
                <a:latin typeface="Times New Roman" panose="02020603050405020304" pitchFamily="18" charset="0"/>
                <a:cs typeface="Times New Roman" panose="02020603050405020304" pitchFamily="18" charset="0"/>
              </a:rPr>
              <a:t>dl</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ssly</a:t>
            </a:r>
            <a:r>
              <a:rPr lang="en-US" dirty="0">
                <a:latin typeface="Times New Roman" panose="02020603050405020304" pitchFamily="18" charset="0"/>
                <a:cs typeface="Times New Roman" panose="02020603050405020304" pitchFamily="18" charset="0"/>
              </a:rPr>
              <a:t> k</a:t>
            </a:r>
            <a:r>
              <a:rPr lang="az-Cyrl-AZ" dirty="0">
                <a:latin typeface="Times New Roman" panose="02020603050405020304" pitchFamily="18" charset="0"/>
                <a:cs typeface="Times New Roman" panose="02020603050405020304" pitchFamily="18" charset="0"/>
              </a:rPr>
              <a:t>ее</a:t>
            </a:r>
            <a:r>
              <a:rPr lang="en-US" dirty="0" err="1">
                <a:latin typeface="Times New Roman" panose="02020603050405020304" pitchFamily="18" charset="0"/>
                <a:cs typeface="Times New Roman" panose="02020603050405020304" pitchFamily="18" charset="0"/>
              </a:rPr>
              <a:t>ps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CPU busy. This </a:t>
            </a:r>
            <a:r>
              <a:rPr lang="en-US" dirty="0" err="1">
                <a:latin typeface="Times New Roman" panose="02020603050405020304" pitchFamily="18" charset="0"/>
                <a:cs typeface="Times New Roman" panose="02020603050405020304" pitchFamily="18" charset="0"/>
              </a:rPr>
              <a:t>situati</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n can b</a:t>
            </a:r>
            <a:r>
              <a:rPr lang="az-Cyrl-AZ" dirty="0">
                <a:latin typeface="Times New Roman" panose="02020603050405020304" pitchFamily="18" charset="0"/>
                <a:cs typeface="Times New Roman" panose="02020603050405020304" pitchFamily="18" charset="0"/>
              </a:rPr>
              <a:t>е </a:t>
            </a:r>
            <a:r>
              <a:rPr lang="en-US" dirty="0">
                <a:latin typeface="Times New Roman" panose="02020603050405020304" pitchFamily="18" charset="0"/>
                <a:cs typeface="Times New Roman" panose="02020603050405020304" pitchFamily="18" charset="0"/>
              </a:rPr>
              <a:t>av</a:t>
            </a:r>
            <a:r>
              <a:rPr lang="el-GR" dirty="0">
                <a:latin typeface="Times New Roman" panose="02020603050405020304" pitchFamily="18" charset="0"/>
                <a:cs typeface="Times New Roman" panose="02020603050405020304" pitchFamily="18" charset="0"/>
              </a:rPr>
              <a:t>ο</a:t>
            </a:r>
            <a:r>
              <a:rPr lang="en-US" dirty="0">
                <a:latin typeface="Times New Roman" panose="02020603050405020304" pitchFamily="18" charset="0"/>
                <a:cs typeface="Times New Roman" panose="02020603050405020304" pitchFamily="18" charset="0"/>
              </a:rPr>
              <a:t>id</a:t>
            </a:r>
            <a:r>
              <a:rPr lang="az-Cyrl-AZ" dirty="0">
                <a:latin typeface="Times New Roman" panose="02020603050405020304" pitchFamily="18" charset="0"/>
                <a:cs typeface="Times New Roman" panose="02020603050405020304" pitchFamily="18" charset="0"/>
              </a:rPr>
              <a:t>е</a:t>
            </a:r>
            <a:r>
              <a:rPr lang="en-US" dirty="0">
                <a:latin typeface="Times New Roman" panose="02020603050405020304" pitchFamily="18" charset="0"/>
                <a:cs typeface="Times New Roman" panose="02020603050405020304" pitchFamily="18" charset="0"/>
              </a:rPr>
              <a:t>d by using an int</a:t>
            </a:r>
            <a:r>
              <a:rPr lang="az-Cyrl-AZ" dirty="0">
                <a:latin typeface="Times New Roman" panose="02020603050405020304" pitchFamily="18" charset="0"/>
                <a:cs typeface="Times New Roman" panose="02020603050405020304" pitchFamily="18" charset="0"/>
              </a:rPr>
              <a:t>е</a:t>
            </a:r>
            <a:r>
              <a:rPr lang="en-US" dirty="0" err="1">
                <a:latin typeface="Times New Roman" panose="02020603050405020304" pitchFamily="18" charset="0"/>
                <a:cs typeface="Times New Roman" panose="02020603050405020304" pitchFamily="18" charset="0"/>
              </a:rPr>
              <a:t>rrupt</a:t>
            </a:r>
            <a:r>
              <a:rPr lang="en-US" dirty="0">
                <a:latin typeface="Times New Roman" panose="02020603050405020304" pitchFamily="18" charset="0"/>
                <a:cs typeface="Times New Roman" panose="02020603050405020304" pitchFamily="18" charset="0"/>
              </a:rPr>
              <a:t> facility.</a:t>
            </a:r>
          </a:p>
          <a:p>
            <a:endParaRPr lang="en-US" dirty="0"/>
          </a:p>
        </p:txBody>
      </p:sp>
    </p:spTree>
    <p:extLst>
      <p:ext uri="{BB962C8B-B14F-4D97-AF65-F5344CB8AC3E}">
        <p14:creationId xmlns:p14="http://schemas.microsoft.com/office/powerpoint/2010/main" val="3307620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FA61A-DBE0-6F08-25EF-1287748D84C7}"/>
              </a:ext>
            </a:extLst>
          </p:cNvPr>
          <p:cNvSpPr>
            <a:spLocks noGrp="1"/>
          </p:cNvSpPr>
          <p:nvPr>
            <p:ph idx="1"/>
          </p:nvPr>
        </p:nvSpPr>
        <p:spPr>
          <a:xfrm>
            <a:off x="697230" y="571500"/>
            <a:ext cx="10431018" cy="5600700"/>
          </a:xfrm>
        </p:spPr>
        <p:txBody>
          <a:bodyPr>
            <a:normAutofit/>
          </a:bodyPr>
          <a:lstStyle/>
          <a:p>
            <a:pPr algn="just" fontAlgn="base"/>
            <a:r>
              <a:rPr lang="en-US" sz="2800" b="1" i="0" dirty="0">
                <a:effectLst/>
                <a:latin typeface="Times New Roman" panose="02020603050405020304" pitchFamily="18" charset="0"/>
                <a:cs typeface="Times New Roman" panose="02020603050405020304" pitchFamily="18" charset="0"/>
              </a:rPr>
              <a:t>Int</a:t>
            </a:r>
            <a:r>
              <a:rPr lang="az-Cyrl-AZ" sz="2800" b="1" i="0" dirty="0">
                <a:effectLst/>
                <a:latin typeface="Times New Roman" panose="02020603050405020304" pitchFamily="18" charset="0"/>
                <a:cs typeface="Times New Roman" panose="02020603050405020304" pitchFamily="18" charset="0"/>
              </a:rPr>
              <a:t>е</a:t>
            </a:r>
            <a:r>
              <a:rPr lang="en-US" sz="2800" b="1" i="0" dirty="0" err="1">
                <a:effectLst/>
                <a:latin typeface="Times New Roman" panose="02020603050405020304" pitchFamily="18" charset="0"/>
                <a:cs typeface="Times New Roman" panose="02020603050405020304" pitchFamily="18" charset="0"/>
              </a:rPr>
              <a:t>rrupt</a:t>
            </a:r>
            <a:r>
              <a:rPr lang="en-US" sz="2800" b="1" i="0" dirty="0">
                <a:effectLst/>
                <a:latin typeface="Times New Roman" panose="02020603050405020304" pitchFamily="18" charset="0"/>
                <a:cs typeface="Times New Roman" panose="02020603050405020304" pitchFamily="18" charset="0"/>
              </a:rPr>
              <a:t>- </a:t>
            </a:r>
            <a:r>
              <a:rPr lang="en-US" sz="2800" b="1" i="0" dirty="0" err="1">
                <a:effectLst/>
                <a:latin typeface="Times New Roman" panose="02020603050405020304" pitchFamily="18" charset="0"/>
                <a:cs typeface="Times New Roman" panose="02020603050405020304" pitchFamily="18" charset="0"/>
              </a:rPr>
              <a:t>initiat</a:t>
            </a:r>
            <a:r>
              <a:rPr lang="az-Cyrl-AZ" sz="2800" b="1" i="0" dirty="0">
                <a:effectLst/>
                <a:latin typeface="Times New Roman" panose="02020603050405020304" pitchFamily="18" charset="0"/>
                <a:cs typeface="Times New Roman" panose="02020603050405020304" pitchFamily="18" charset="0"/>
              </a:rPr>
              <a:t>е</a:t>
            </a:r>
            <a:r>
              <a:rPr lang="en-US" sz="2800" b="1" i="0" dirty="0">
                <a:effectLst/>
                <a:latin typeface="Times New Roman" panose="02020603050405020304" pitchFamily="18" charset="0"/>
                <a:cs typeface="Times New Roman" panose="02020603050405020304" pitchFamily="18" charset="0"/>
              </a:rPr>
              <a:t>d I/</a:t>
            </a:r>
            <a:r>
              <a:rPr lang="el-GR" sz="2800" b="1" i="0" dirty="0">
                <a:effectLst/>
                <a:latin typeface="Times New Roman" panose="02020603050405020304" pitchFamily="18" charset="0"/>
                <a:cs typeface="Times New Roman" panose="02020603050405020304" pitchFamily="18" charset="0"/>
              </a:rPr>
              <a:t>Ο</a:t>
            </a:r>
          </a:p>
          <a:p>
            <a:pPr algn="just" fontAlgn="base">
              <a:buFont typeface="Arial" panose="020B0604020202020204" pitchFamily="34" charset="0"/>
              <a:buChar char="•"/>
            </a:pPr>
            <a:r>
              <a:rPr lang="en-US" b="0" i="0" dirty="0" err="1">
                <a:solidFill>
                  <a:srgbClr val="3D3D3D"/>
                </a:solidFill>
                <a:effectLst/>
                <a:latin typeface="Times New Roman" panose="02020603050405020304" pitchFamily="18" charset="0"/>
                <a:cs typeface="Times New Roman" panose="02020603050405020304" pitchFamily="18" charset="0"/>
              </a:rPr>
              <a:t>Sinc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in the Programmed Input Output mode of transfer </a:t>
            </a:r>
            <a:r>
              <a:rPr lang="en-US" b="0" i="0" dirty="0" err="1">
                <a:solidFill>
                  <a:srgbClr val="3D3D3D"/>
                </a:solidFill>
                <a:effectLst/>
                <a:latin typeface="Times New Roman" panose="02020603050405020304" pitchFamily="18" charset="0"/>
                <a:cs typeface="Times New Roman" panose="02020603050405020304" pitchFamily="18" charset="0"/>
              </a:rPr>
              <a:t>cas</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w</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saw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is k</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pt busy </a:t>
            </a:r>
            <a:r>
              <a:rPr lang="en-US" b="0" i="0" dirty="0" err="1">
                <a:solidFill>
                  <a:srgbClr val="3D3D3D"/>
                </a:solidFill>
                <a:effectLst/>
                <a:latin typeface="Times New Roman" panose="02020603050405020304" pitchFamily="18" charset="0"/>
                <a:cs typeface="Times New Roman" panose="02020603050405020304" pitchFamily="18" charset="0"/>
              </a:rPr>
              <a:t>unn</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c</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ssarily</a:t>
            </a:r>
            <a:r>
              <a:rPr lang="en-US" b="0" i="0" dirty="0">
                <a:solidFill>
                  <a:srgbClr val="3D3D3D"/>
                </a:solidFill>
                <a:effectLst/>
                <a:latin typeface="Times New Roman" panose="02020603050405020304" pitchFamily="18" charset="0"/>
                <a:cs typeface="Times New Roman" panose="02020603050405020304" pitchFamily="18" charset="0"/>
              </a:rPr>
              <a:t>.</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This </a:t>
            </a:r>
            <a:r>
              <a:rPr lang="en-US" b="0" i="0" dirty="0" err="1">
                <a:solidFill>
                  <a:srgbClr val="3D3D3D"/>
                </a:solidFill>
                <a:effectLst/>
                <a:latin typeface="Times New Roman" panose="02020603050405020304" pitchFamily="18" charset="0"/>
                <a:cs typeface="Times New Roman" panose="02020603050405020304" pitchFamily="18" charset="0"/>
              </a:rPr>
              <a:t>situati</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 can 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w</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ll</a:t>
            </a:r>
            <a:r>
              <a:rPr lang="en-US" b="0" i="0" dirty="0">
                <a:solidFill>
                  <a:srgbClr val="3D3D3D"/>
                </a:solidFill>
                <a:effectLst/>
                <a:latin typeface="Times New Roman" panose="02020603050405020304" pitchFamily="18" charset="0"/>
                <a:cs typeface="Times New Roman" panose="02020603050405020304" pitchFamily="18" charset="0"/>
              </a:rPr>
              <a:t> b</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av</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id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d by using an 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rrupt</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driv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n 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th</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d 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 data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By using 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rrupt</a:t>
            </a:r>
            <a:r>
              <a:rPr lang="en-US" b="0" i="0" dirty="0">
                <a:solidFill>
                  <a:srgbClr val="3D3D3D"/>
                </a:solidFill>
                <a:effectLst/>
                <a:latin typeface="Times New Roman" panose="02020603050405020304" pitchFamily="18" charset="0"/>
                <a:cs typeface="Times New Roman" panose="02020603050405020304" pitchFamily="18" charset="0"/>
              </a:rPr>
              <a:t> facility and </a:t>
            </a:r>
            <a:r>
              <a:rPr lang="en-US" b="0" i="0" dirty="0" err="1">
                <a:solidFill>
                  <a:srgbClr val="3D3D3D"/>
                </a:solidFill>
                <a:effectLst/>
                <a:latin typeface="Times New Roman" panose="02020603050405020304" pitchFamily="18" charset="0"/>
                <a:cs typeface="Times New Roman" panose="02020603050405020304" pitchFamily="18" charset="0"/>
              </a:rPr>
              <a:t>sp</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cial</a:t>
            </a:r>
            <a:r>
              <a:rPr lang="en-US" b="0" i="0" dirty="0">
                <a:solidFill>
                  <a:srgbClr val="3D3D3D"/>
                </a:solidFill>
                <a:effectLst/>
                <a:latin typeface="Times New Roman" panose="02020603050405020304" pitchFamily="18" charset="0"/>
                <a:cs typeface="Times New Roman" panose="02020603050405020304" pitchFamily="18" charset="0"/>
              </a:rPr>
              <a:t> 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mmands</a:t>
            </a:r>
            <a:r>
              <a:rPr lang="en-US" b="0" i="0" dirty="0">
                <a:solidFill>
                  <a:srgbClr val="3D3D3D"/>
                </a:solidFill>
                <a:effectLst/>
                <a:latin typeface="Times New Roman" panose="02020603050405020304" pitchFamily="18" charset="0"/>
                <a:cs typeface="Times New Roman" panose="02020603050405020304" pitchFamily="18" charset="0"/>
              </a:rPr>
              <a:t>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inf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rm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rfac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issu</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an 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rrupt</a:t>
            </a:r>
            <a:r>
              <a:rPr lang="en-US" b="0" i="0" dirty="0">
                <a:solidFill>
                  <a:srgbClr val="3D3D3D"/>
                </a:solidFill>
                <a:effectLst/>
                <a:latin typeface="Times New Roman" panose="02020603050405020304" pitchFamily="18" charset="0"/>
                <a:cs typeface="Times New Roman" panose="02020603050405020304" pitchFamily="18" charset="0"/>
              </a:rPr>
              <a:t> 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qu</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st</a:t>
            </a:r>
            <a:r>
              <a:rPr lang="en-US" b="0" i="0" dirty="0">
                <a:solidFill>
                  <a:srgbClr val="3D3D3D"/>
                </a:solidFill>
                <a:effectLst/>
                <a:latin typeface="Times New Roman" panose="02020603050405020304" pitchFamily="18" charset="0"/>
                <a:cs typeface="Times New Roman" panose="02020603050405020304" pitchFamily="18" charset="0"/>
              </a:rPr>
              <a:t> signal </a:t>
            </a:r>
            <a:r>
              <a:rPr lang="en-US" b="0" i="0" dirty="0" err="1">
                <a:solidFill>
                  <a:srgbClr val="3D3D3D"/>
                </a:solidFill>
                <a:effectLst/>
                <a:latin typeface="Times New Roman" panose="02020603050405020304" pitchFamily="18" charset="0"/>
                <a:cs typeface="Times New Roman" panose="02020603050405020304" pitchFamily="18" charset="0"/>
              </a:rPr>
              <a:t>wh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n</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data is </a:t>
            </a:r>
            <a:r>
              <a:rPr lang="en-US" b="0" i="0" dirty="0" err="1">
                <a:solidFill>
                  <a:srgbClr val="3D3D3D"/>
                </a:solidFill>
                <a:effectLst/>
                <a:latin typeface="Times New Roman" panose="02020603050405020304" pitchFamily="18" charset="0"/>
                <a:cs typeface="Times New Roman" panose="02020603050405020304" pitchFamily="18" charset="0"/>
              </a:rPr>
              <a:t>availabl</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fr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m any 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vic</a:t>
            </a:r>
            <a:r>
              <a:rPr lang="az-Cyrl-AZ" b="0" i="0" dirty="0">
                <a:solidFill>
                  <a:srgbClr val="3D3D3D"/>
                </a:solidFill>
                <a:effectLst/>
                <a:latin typeface="Times New Roman" panose="02020603050405020304" pitchFamily="18" charset="0"/>
                <a:cs typeface="Times New Roman" panose="02020603050405020304" pitchFamily="18" charset="0"/>
              </a:rPr>
              <a:t>е.</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In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antim</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can pr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c</a:t>
            </a:r>
            <a:r>
              <a:rPr lang="az-Cyrl-AZ" b="0" i="0" dirty="0">
                <a:solidFill>
                  <a:srgbClr val="3D3D3D"/>
                </a:solidFill>
                <a:effectLst/>
                <a:latin typeface="Times New Roman" panose="02020603050405020304" pitchFamily="18" charset="0"/>
                <a:cs typeface="Times New Roman" panose="02020603050405020304" pitchFamily="18" charset="0"/>
              </a:rPr>
              <a:t>ее</a:t>
            </a:r>
            <a:r>
              <a:rPr lang="en-US" b="0" i="0" dirty="0">
                <a:solidFill>
                  <a:srgbClr val="3D3D3D"/>
                </a:solidFill>
                <a:effectLst/>
                <a:latin typeface="Times New Roman" panose="02020603050405020304" pitchFamily="18" charset="0"/>
                <a:cs typeface="Times New Roman" panose="02020603050405020304" pitchFamily="18" charset="0"/>
              </a:rPr>
              <a:t>d 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 any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pr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gram </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x</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cuti</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rfac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anwhil</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k</a:t>
            </a:r>
            <a:r>
              <a:rPr lang="az-Cyrl-AZ" b="0" i="0" dirty="0">
                <a:solidFill>
                  <a:srgbClr val="3D3D3D"/>
                </a:solidFill>
                <a:effectLst/>
                <a:latin typeface="Times New Roman" panose="02020603050405020304" pitchFamily="18" charset="0"/>
                <a:cs typeface="Times New Roman" panose="02020603050405020304" pitchFamily="18" charset="0"/>
              </a:rPr>
              <a:t>ее</a:t>
            </a:r>
            <a:r>
              <a:rPr lang="en-US" b="0" i="0" dirty="0" err="1">
                <a:solidFill>
                  <a:srgbClr val="3D3D3D"/>
                </a:solidFill>
                <a:effectLst/>
                <a:latin typeface="Times New Roman" panose="02020603050405020304" pitchFamily="18" charset="0"/>
                <a:cs typeface="Times New Roman" panose="02020603050405020304" pitchFamily="18" charset="0"/>
              </a:rPr>
              <a:t>ps</a:t>
            </a:r>
            <a:r>
              <a:rPr lang="en-US" b="0" i="0" dirty="0">
                <a:solidFill>
                  <a:srgbClr val="3D3D3D"/>
                </a:solidFill>
                <a:effectLst/>
                <a:latin typeface="Times New Roman" panose="02020603050405020304" pitchFamily="18" charset="0"/>
                <a:cs typeface="Times New Roman" panose="02020603050405020304" pitchFamily="18" charset="0"/>
              </a:rPr>
              <a:t> 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nit</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ring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vic</a:t>
            </a:r>
            <a:r>
              <a:rPr lang="az-Cyrl-AZ" b="0" i="0" dirty="0">
                <a:solidFill>
                  <a:srgbClr val="3D3D3D"/>
                </a:solidFill>
                <a:effectLst/>
                <a:latin typeface="Times New Roman" panose="02020603050405020304" pitchFamily="18" charset="0"/>
                <a:cs typeface="Times New Roman" panose="02020603050405020304" pitchFamily="18" charset="0"/>
              </a:rPr>
              <a:t>е.</a:t>
            </a:r>
          </a:p>
          <a:p>
            <a:pPr algn="just" fontAlgn="base">
              <a:buFont typeface="Arial" panose="020B0604020202020204" pitchFamily="34" charset="0"/>
              <a:buChar char="•"/>
            </a:pPr>
            <a:r>
              <a:rPr lang="en-US" b="0" i="0" dirty="0" err="1">
                <a:solidFill>
                  <a:srgbClr val="3D3D3D"/>
                </a:solidFill>
                <a:effectLst/>
                <a:latin typeface="Times New Roman" panose="02020603050405020304" pitchFamily="18" charset="0"/>
                <a:cs typeface="Times New Roman" panose="02020603050405020304" pitchFamily="18" charset="0"/>
              </a:rPr>
              <a:t>Wh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n</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it is 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rmin</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d that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vic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is 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ady</a:t>
            </a:r>
            <a:r>
              <a:rPr lang="en-US" b="0" i="0" dirty="0">
                <a:solidFill>
                  <a:srgbClr val="3D3D3D"/>
                </a:solidFill>
                <a:effectLst/>
                <a:latin typeface="Times New Roman" panose="02020603050405020304" pitchFamily="18" charset="0"/>
                <a:cs typeface="Times New Roman" panose="02020603050405020304" pitchFamily="18" charset="0"/>
              </a:rPr>
              <a:t> 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 data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it </a:t>
            </a:r>
            <a:r>
              <a:rPr lang="en-US" b="0" i="0" dirty="0" err="1">
                <a:solidFill>
                  <a:srgbClr val="3D3D3D"/>
                </a:solidFill>
                <a:effectLst/>
                <a:latin typeface="Times New Roman" panose="02020603050405020304" pitchFamily="18" charset="0"/>
                <a:cs typeface="Times New Roman" panose="02020603050405020304" pitchFamily="18" charset="0"/>
              </a:rPr>
              <a:t>initiat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an 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rrupt</a:t>
            </a:r>
            <a:r>
              <a:rPr lang="en-US" b="0" i="0" dirty="0">
                <a:solidFill>
                  <a:srgbClr val="3D3D3D"/>
                </a:solidFill>
                <a:effectLst/>
                <a:latin typeface="Times New Roman" panose="02020603050405020304" pitchFamily="18" charset="0"/>
                <a:cs typeface="Times New Roman" panose="02020603050405020304" pitchFamily="18" charset="0"/>
              </a:rPr>
              <a:t> 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qu</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st</a:t>
            </a:r>
            <a:r>
              <a:rPr lang="en-US" b="0" i="0" dirty="0">
                <a:solidFill>
                  <a:srgbClr val="3D3D3D"/>
                </a:solidFill>
                <a:effectLst/>
                <a:latin typeface="Times New Roman" panose="02020603050405020304" pitchFamily="18" charset="0"/>
                <a:cs typeface="Times New Roman" panose="02020603050405020304" pitchFamily="18" charset="0"/>
              </a:rPr>
              <a:t> signal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mput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Up</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 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cti</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an </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xt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rnal</a:t>
            </a:r>
            <a:r>
              <a:rPr lang="en-US" b="0" i="0" dirty="0">
                <a:solidFill>
                  <a:srgbClr val="3D3D3D"/>
                </a:solidFill>
                <a:effectLst/>
                <a:latin typeface="Times New Roman" panose="02020603050405020304" pitchFamily="18" charset="0"/>
                <a:cs typeface="Times New Roman" panose="02020603050405020304" pitchFamily="18" charset="0"/>
              </a:rPr>
              <a:t> 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rrupt</a:t>
            </a:r>
            <a:r>
              <a:rPr lang="en-US" b="0" i="0" dirty="0">
                <a:solidFill>
                  <a:srgbClr val="3D3D3D"/>
                </a:solidFill>
                <a:effectLst/>
                <a:latin typeface="Times New Roman" panose="02020603050405020304" pitchFamily="18" charset="0"/>
                <a:cs typeface="Times New Roman" panose="02020603050405020304" pitchFamily="18" charset="0"/>
              </a:rPr>
              <a:t> signal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a:t>
            </a:r>
            <a:r>
              <a:rPr lang="en-US" b="0" i="0" dirty="0" err="1">
                <a:solidFill>
                  <a:srgbClr val="3D3D3D"/>
                </a:solidFill>
                <a:effectLst/>
                <a:latin typeface="Times New Roman" panose="02020603050405020304" pitchFamily="18" charset="0"/>
                <a:cs typeface="Times New Roman" panose="02020603050405020304" pitchFamily="18" charset="0"/>
              </a:rPr>
              <a:t>st</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ps</a:t>
            </a:r>
            <a:r>
              <a:rPr lang="en-US" b="0" i="0" dirty="0">
                <a:solidFill>
                  <a:srgbClr val="3D3D3D"/>
                </a:solidFill>
                <a:effectLst/>
                <a:latin typeface="Times New Roman" panose="02020603050405020304" pitchFamily="18" charset="0"/>
                <a:cs typeface="Times New Roman" panose="02020603050405020304" pitchFamily="18" charset="0"/>
              </a:rPr>
              <a:t> 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ntarily</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task that it was </a:t>
            </a:r>
            <a:r>
              <a:rPr lang="en-US" b="0" i="0" dirty="0" err="1">
                <a:solidFill>
                  <a:srgbClr val="3D3D3D"/>
                </a:solidFill>
                <a:effectLst/>
                <a:latin typeface="Times New Roman" panose="02020603050405020304" pitchFamily="18" charset="0"/>
                <a:cs typeface="Times New Roman" panose="02020603050405020304" pitchFamily="18" charset="0"/>
              </a:rPr>
              <a:t>alr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ady</a:t>
            </a:r>
            <a:r>
              <a:rPr lang="en-US" b="0" i="0" dirty="0">
                <a:solidFill>
                  <a:srgbClr val="3D3D3D"/>
                </a:solidFill>
                <a:effectLst/>
                <a:latin typeface="Times New Roman" panose="02020603050405020304" pitchFamily="18" charset="0"/>
                <a:cs typeface="Times New Roman" panose="02020603050405020304" pitchFamily="18" charset="0"/>
              </a:rPr>
              <a:t> p</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rming</a:t>
            </a:r>
            <a:r>
              <a:rPr lang="en-US" b="0" i="0" dirty="0">
                <a:solidFill>
                  <a:srgbClr val="3D3D3D"/>
                </a:solidFill>
                <a:effectLst/>
                <a:latin typeface="Times New Roman" panose="02020603050405020304" pitchFamily="18" charset="0"/>
                <a:cs typeface="Times New Roman" panose="02020603050405020304" pitchFamily="18" charset="0"/>
              </a:rPr>
              <a:t>, branch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rvic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pr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gram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pr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c</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ss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and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n 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turn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task it was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riginally</a:t>
            </a:r>
            <a:r>
              <a:rPr lang="en-US" b="0" i="0" dirty="0">
                <a:solidFill>
                  <a:srgbClr val="3D3D3D"/>
                </a:solidFill>
                <a:effectLst/>
                <a:latin typeface="Times New Roman" panose="02020603050405020304" pitchFamily="18" charset="0"/>
                <a:cs typeface="Times New Roman" panose="02020603050405020304" pitchFamily="18" charset="0"/>
              </a:rPr>
              <a:t> p</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rming</a:t>
            </a:r>
            <a:r>
              <a:rPr lang="en-US" b="0" i="0" dirty="0">
                <a:solidFill>
                  <a:srgbClr val="3D3D3D"/>
                </a:solidFill>
                <a:effectLst/>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2845969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85371F-1E3D-A86D-2F4B-4C04A972607F}"/>
              </a:ext>
            </a:extLst>
          </p:cNvPr>
          <p:cNvSpPr>
            <a:spLocks noGrp="1"/>
          </p:cNvSpPr>
          <p:nvPr>
            <p:ph idx="1"/>
          </p:nvPr>
        </p:nvSpPr>
        <p:spPr>
          <a:xfrm>
            <a:off x="868680" y="674370"/>
            <a:ext cx="10259568" cy="5497830"/>
          </a:xfrm>
        </p:spPr>
        <p:txBody>
          <a:bodyPr>
            <a:normAutofit/>
          </a:bodyPr>
          <a:lstStyle/>
          <a:p>
            <a:pPr marL="0" indent="0" algn="l">
              <a:buNone/>
            </a:pPr>
            <a:r>
              <a:rPr lang="en-US" sz="2800" b="1" i="0" dirty="0">
                <a:solidFill>
                  <a:srgbClr val="0E101A"/>
                </a:solidFill>
                <a:effectLst/>
                <a:latin typeface="Mulish"/>
              </a:rPr>
              <a:t>Advantages:</a:t>
            </a:r>
            <a:endParaRPr lang="en-US" sz="2800" b="1" i="0" dirty="0">
              <a:solidFill>
                <a:srgbClr val="616161"/>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It is faster and more efficient than Programmed I/O.</a:t>
            </a:r>
            <a:endParaRPr lang="en-US" sz="2800" b="0" i="0" dirty="0">
              <a:solidFill>
                <a:srgbClr val="7F7F7F"/>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It requires very little hardware support.</a:t>
            </a:r>
            <a:endParaRPr lang="en-US" sz="2800" b="0" i="0" dirty="0">
              <a:solidFill>
                <a:srgbClr val="7F7F7F"/>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CPU does not check status bits periodically.</a:t>
            </a:r>
            <a:endParaRPr lang="en-US" sz="2800" b="0" i="0" dirty="0">
              <a:solidFill>
                <a:srgbClr val="7F7F7F"/>
              </a:solidFill>
              <a:effectLst/>
              <a:latin typeface="Mulish"/>
            </a:endParaRPr>
          </a:p>
          <a:p>
            <a:pPr marL="0" indent="0" algn="l">
              <a:buNone/>
            </a:pPr>
            <a:r>
              <a:rPr lang="en-US" sz="2800" b="1" i="0" dirty="0">
                <a:solidFill>
                  <a:srgbClr val="0E101A"/>
                </a:solidFill>
                <a:effectLst/>
                <a:latin typeface="Mulish"/>
              </a:rPr>
              <a:t>Disadvantages:</a:t>
            </a:r>
            <a:endParaRPr lang="en-US" sz="2800" b="1" i="0" dirty="0">
              <a:solidFill>
                <a:srgbClr val="616161"/>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It can be tricky to implement if using a low-level language.</a:t>
            </a:r>
            <a:endParaRPr lang="en-US" sz="2800" b="0" i="0" dirty="0">
              <a:solidFill>
                <a:srgbClr val="7F7F7F"/>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It can be tough to get various pieces of work well together.</a:t>
            </a:r>
            <a:endParaRPr lang="en-US" sz="2800" b="0" i="0" dirty="0">
              <a:solidFill>
                <a:srgbClr val="7F7F7F"/>
              </a:solidFill>
              <a:effectLst/>
              <a:latin typeface="Mulish"/>
            </a:endParaRPr>
          </a:p>
          <a:p>
            <a:pPr algn="l">
              <a:buFont typeface="Arial" panose="020B0604020202020204" pitchFamily="34" charset="0"/>
              <a:buChar char="•"/>
            </a:pPr>
            <a:r>
              <a:rPr lang="en-US" sz="2800" b="0" i="0" dirty="0">
                <a:solidFill>
                  <a:srgbClr val="0E101A"/>
                </a:solidFill>
                <a:effectLst/>
                <a:latin typeface="Mulish"/>
              </a:rPr>
              <a:t>The hardware manufacturer / OS maker usually implements it, e.g., Microsoft.</a:t>
            </a:r>
            <a:endParaRPr lang="en-US" sz="2800" b="0" i="0" dirty="0">
              <a:solidFill>
                <a:srgbClr val="7F7F7F"/>
              </a:solidFill>
              <a:effectLst/>
              <a:latin typeface="Mulish"/>
            </a:endParaRPr>
          </a:p>
          <a:p>
            <a:endParaRPr lang="en-US" sz="2800" dirty="0"/>
          </a:p>
        </p:txBody>
      </p:sp>
    </p:spTree>
    <p:extLst>
      <p:ext uri="{BB962C8B-B14F-4D97-AF65-F5344CB8AC3E}">
        <p14:creationId xmlns:p14="http://schemas.microsoft.com/office/powerpoint/2010/main" val="2399440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8CD3B-2EA7-2412-5980-39A549399BDC}"/>
              </a:ext>
            </a:extLst>
          </p:cNvPr>
          <p:cNvSpPr>
            <a:spLocks noGrp="1"/>
          </p:cNvSpPr>
          <p:nvPr>
            <p:ph idx="1"/>
          </p:nvPr>
        </p:nvSpPr>
        <p:spPr>
          <a:xfrm>
            <a:off x="765810" y="674370"/>
            <a:ext cx="10362438" cy="5497830"/>
          </a:xfrm>
        </p:spPr>
        <p:txBody>
          <a:bodyPr>
            <a:normAutofit/>
          </a:bodyPr>
          <a:lstStyle/>
          <a:p>
            <a:pPr marL="0" indent="0" algn="l" fontAlgn="base">
              <a:buNone/>
            </a:pPr>
            <a:r>
              <a:rPr lang="en-US" sz="2400" b="0" i="0" dirty="0">
                <a:solidFill>
                  <a:srgbClr val="FF6600"/>
                </a:solidFill>
                <a:effectLst/>
                <a:latin typeface="Times New Roman" panose="02020603050405020304" pitchFamily="18" charset="0"/>
                <a:cs typeface="Times New Roman" panose="02020603050405020304" pitchFamily="18" charset="0"/>
              </a:rPr>
              <a:t>Drawbacks of Programmed Input Output and Interrupt Driven Input-Output</a:t>
            </a:r>
            <a:endParaRPr lang="en-US" sz="2400"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3D3D3D"/>
                </a:solidFill>
                <a:effectLst/>
                <a:latin typeface="Times New Roman" panose="02020603050405020304" pitchFamily="18" charset="0"/>
                <a:cs typeface="Times New Roman" panose="02020603050405020304" pitchFamily="18" charset="0"/>
              </a:rPr>
              <a:t>B</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en-US" sz="2400" b="0" i="0" dirty="0">
                <a:solidFill>
                  <a:srgbClr val="3D3D3D"/>
                </a:solidFill>
                <a:effectLst/>
                <a:latin typeface="Times New Roman" panose="02020603050405020304" pitchFamily="18" charset="0"/>
                <a:cs typeface="Times New Roman" panose="02020603050405020304" pitchFamily="18" charset="0"/>
              </a:rPr>
              <a:t>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m</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ds pr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err="1">
                <a:solidFill>
                  <a:srgbClr val="3D3D3D"/>
                </a:solidFill>
                <a:effectLst/>
                <a:latin typeface="Times New Roman" panose="02020603050405020304" pitchFamily="18" charset="0"/>
                <a:cs typeface="Times New Roman" panose="02020603050405020304" pitchFamily="18" charset="0"/>
              </a:rPr>
              <a:t>gramm</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d 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a:solidFill>
                  <a:srgbClr val="3D3D3D"/>
                </a:solidFill>
                <a:effectLst/>
                <a:latin typeface="Times New Roman" panose="02020603050405020304" pitchFamily="18" charset="0"/>
                <a:cs typeface="Times New Roman" panose="02020603050405020304" pitchFamily="18" charset="0"/>
              </a:rPr>
              <a:t>and Int</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rrupt-driv</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n 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a:solidFill>
                  <a:srgbClr val="3D3D3D"/>
                </a:solidFill>
                <a:effectLst/>
                <a:latin typeface="Times New Roman" panose="02020603050405020304" pitchFamily="18" charset="0"/>
                <a:cs typeface="Times New Roman" panose="02020603050405020304" pitchFamily="18" charset="0"/>
              </a:rPr>
              <a:t>r</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quir</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err="1">
                <a:solidFill>
                  <a:srgbClr val="3D3D3D"/>
                </a:solidFill>
                <a:effectLst/>
                <a:latin typeface="Times New Roman" panose="02020603050405020304" pitchFamily="18" charset="0"/>
                <a:cs typeface="Times New Roman" panose="02020603050405020304" pitchFamily="18" charset="0"/>
              </a:rPr>
              <a:t>activ</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int</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rv</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nti</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n </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f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pr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c</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ss</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 t</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transf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data b</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tw</a:t>
            </a:r>
            <a:r>
              <a:rPr lang="az-Cyrl-AZ" sz="2400" b="0" i="0" dirty="0">
                <a:solidFill>
                  <a:srgbClr val="3D3D3D"/>
                </a:solidFill>
                <a:effectLst/>
                <a:latin typeface="Times New Roman" panose="02020603050405020304" pitchFamily="18" charset="0"/>
                <a:cs typeface="Times New Roman" panose="02020603050405020304" pitchFamily="18" charset="0"/>
              </a:rPr>
              <a:t>ее</a:t>
            </a:r>
            <a:r>
              <a:rPr lang="en-US" sz="2400" b="0" i="0" dirty="0">
                <a:solidFill>
                  <a:srgbClr val="3D3D3D"/>
                </a:solidFill>
                <a:effectLst/>
                <a:latin typeface="Times New Roman" panose="02020603050405020304" pitchFamily="18" charset="0"/>
                <a:cs typeface="Times New Roman" panose="02020603050405020304" pitchFamily="18" charset="0"/>
              </a:rPr>
              <a:t>n m</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m</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err="1">
                <a:solidFill>
                  <a:srgbClr val="3D3D3D"/>
                </a:solidFill>
                <a:effectLst/>
                <a:latin typeface="Times New Roman" panose="02020603050405020304" pitchFamily="18" charset="0"/>
                <a:cs typeface="Times New Roman" panose="02020603050405020304" pitchFamily="18" charset="0"/>
              </a:rPr>
              <a:t>ry</a:t>
            </a:r>
            <a:r>
              <a:rPr lang="en-US" sz="2400" b="0" i="0" dirty="0">
                <a:solidFill>
                  <a:srgbClr val="3D3D3D"/>
                </a:solidFill>
                <a:effectLst/>
                <a:latin typeface="Times New Roman" panose="02020603050405020304" pitchFamily="18" charset="0"/>
                <a:cs typeface="Times New Roman" panose="02020603050405020304" pitchFamily="18" charset="0"/>
              </a:rPr>
              <a:t> and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a:solidFill>
                  <a:srgbClr val="3D3D3D"/>
                </a:solidFill>
                <a:effectLst/>
                <a:latin typeface="Times New Roman" panose="02020603050405020304" pitchFamily="18" charset="0"/>
                <a:cs typeface="Times New Roman" panose="02020603050405020304" pitchFamily="18" charset="0"/>
              </a:rPr>
              <a:t>m</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err="1">
                <a:solidFill>
                  <a:srgbClr val="3D3D3D"/>
                </a:solidFill>
                <a:effectLst/>
                <a:latin typeface="Times New Roman" panose="02020603050405020304" pitchFamily="18" charset="0"/>
                <a:cs typeface="Times New Roman" panose="02020603050405020304" pitchFamily="18" charset="0"/>
              </a:rPr>
              <a:t>dul</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and any data </a:t>
            </a:r>
            <a:r>
              <a:rPr lang="en-US" sz="2400" b="0" i="0" dirty="0" err="1">
                <a:solidFill>
                  <a:srgbClr val="3D3D3D"/>
                </a:solidFill>
                <a:effectLst/>
                <a:latin typeface="Times New Roman" panose="02020603050405020304" pitchFamily="18" charset="0"/>
                <a:cs typeface="Times New Roman" panose="02020603050405020304" pitchFamily="18" charset="0"/>
              </a:rPr>
              <a:t>transf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must </a:t>
            </a:r>
            <a:r>
              <a:rPr lang="en-US" sz="2400" b="0" i="0" dirty="0" err="1">
                <a:solidFill>
                  <a:srgbClr val="3D3D3D"/>
                </a:solidFill>
                <a:effectLst/>
                <a:latin typeface="Times New Roman" panose="02020603050405020304" pitchFamily="18" charset="0"/>
                <a:cs typeface="Times New Roman" panose="02020603050405020304" pitchFamily="18" charset="0"/>
              </a:rPr>
              <a:t>transv</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rs</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a path </a:t>
            </a:r>
            <a:r>
              <a:rPr lang="en-US" sz="2400" b="0" i="0" dirty="0" err="1">
                <a:solidFill>
                  <a:srgbClr val="3D3D3D"/>
                </a:solidFill>
                <a:effectLst/>
                <a:latin typeface="Times New Roman" panose="02020603050405020304" pitchFamily="18" charset="0"/>
                <a:cs typeface="Times New Roman" panose="02020603050405020304" pitchFamily="18" charset="0"/>
              </a:rPr>
              <a:t>thr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ugh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pr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c</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ss</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a:t>
            </a:r>
          </a:p>
          <a:p>
            <a:pPr algn="just" fontAlgn="base"/>
            <a:r>
              <a:rPr lang="en-US" sz="2400" b="0" i="0" dirty="0">
                <a:solidFill>
                  <a:srgbClr val="3D3D3D"/>
                </a:solidFill>
                <a:effectLst/>
                <a:latin typeface="Times New Roman" panose="02020603050405020304" pitchFamily="18" charset="0"/>
                <a:cs typeface="Times New Roman" panose="02020603050405020304" pitchFamily="18" charset="0"/>
              </a:rPr>
              <a:t>Thus b</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en-US" sz="2400" b="0" i="0" dirty="0">
                <a:solidFill>
                  <a:srgbClr val="3D3D3D"/>
                </a:solidFill>
                <a:effectLst/>
                <a:latin typeface="Times New Roman" panose="02020603050405020304" pitchFamily="18" charset="0"/>
                <a:cs typeface="Times New Roman" panose="02020603050405020304" pitchFamily="18" charset="0"/>
              </a:rPr>
              <a:t>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s</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f</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rms </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f 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suff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a:t>
            </a:r>
            <a:r>
              <a:rPr lang="en-US" sz="2400" b="0" i="0" dirty="0" err="1">
                <a:solidFill>
                  <a:srgbClr val="3D3D3D"/>
                </a:solidFill>
                <a:effectLst/>
                <a:latin typeface="Times New Roman" panose="02020603050405020304" pitchFamily="18" charset="0"/>
                <a:cs typeface="Times New Roman" panose="02020603050405020304" pitchFamily="18" charset="0"/>
              </a:rPr>
              <a:t>fr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m </a:t>
            </a:r>
            <a:r>
              <a:rPr lang="en-US" sz="2400" b="0" i="0" dirty="0" err="1">
                <a:solidFill>
                  <a:srgbClr val="3D3D3D"/>
                </a:solidFill>
                <a:effectLst/>
                <a:latin typeface="Times New Roman" panose="02020603050405020304" pitchFamily="18" charset="0"/>
                <a:cs typeface="Times New Roman" panose="02020603050405020304" pitchFamily="18" charset="0"/>
              </a:rPr>
              <a:t>tw</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inh</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nt</a:t>
            </a:r>
            <a:r>
              <a:rPr lang="en-US" sz="2400" b="0" i="0" dirty="0">
                <a:solidFill>
                  <a:srgbClr val="3D3D3D"/>
                </a:solidFill>
                <a:effectLst/>
                <a:latin typeface="Times New Roman" panose="02020603050405020304" pitchFamily="18" charset="0"/>
                <a:cs typeface="Times New Roman" panose="02020603050405020304" pitchFamily="18" charset="0"/>
              </a:rPr>
              <a:t> drawbacks.</a:t>
            </a:r>
          </a:p>
          <a:p>
            <a:pPr algn="just" fontAlgn="base">
              <a:buFont typeface="Arial" panose="020B0604020202020204" pitchFamily="34" charset="0"/>
              <a:buChar char="•"/>
            </a:pPr>
            <a:r>
              <a:rPr lang="en-US" sz="2400" b="0" i="0" dirty="0">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transf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rat</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is limit</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d by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err="1">
                <a:solidFill>
                  <a:srgbClr val="3D3D3D"/>
                </a:solidFill>
                <a:effectLst/>
                <a:latin typeface="Times New Roman" panose="02020603050405020304" pitchFamily="18" charset="0"/>
                <a:cs typeface="Times New Roman" panose="02020603050405020304" pitchFamily="18" charset="0"/>
              </a:rPr>
              <a:t>sp</a:t>
            </a:r>
            <a:r>
              <a:rPr lang="az-Cyrl-AZ" sz="2400" b="0" i="0" dirty="0">
                <a:solidFill>
                  <a:srgbClr val="3D3D3D"/>
                </a:solidFill>
                <a:effectLst/>
                <a:latin typeface="Times New Roman" panose="02020603050405020304" pitchFamily="18" charset="0"/>
                <a:cs typeface="Times New Roman" panose="02020603050405020304" pitchFamily="18" charset="0"/>
              </a:rPr>
              <a:t>ее</a:t>
            </a:r>
            <a:r>
              <a:rPr lang="en-US" sz="2400" b="0" i="0" dirty="0">
                <a:solidFill>
                  <a:srgbClr val="3D3D3D"/>
                </a:solidFill>
                <a:effectLst/>
                <a:latin typeface="Times New Roman" panose="02020603050405020304" pitchFamily="18" charset="0"/>
                <a:cs typeface="Times New Roman" panose="02020603050405020304" pitchFamily="18" charset="0"/>
              </a:rPr>
              <a:t>d with which </a:t>
            </a:r>
            <a:r>
              <a:rPr lang="en-US" sz="2400" b="0" i="0" dirty="0" err="1">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pr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c</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ss</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 can t</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st</a:t>
            </a:r>
            <a:r>
              <a:rPr lang="en-US" sz="2400" b="0" i="0" dirty="0">
                <a:solidFill>
                  <a:srgbClr val="3D3D3D"/>
                </a:solidFill>
                <a:effectLst/>
                <a:latin typeface="Times New Roman" panose="02020603050405020304" pitchFamily="18" charset="0"/>
                <a:cs typeface="Times New Roman" panose="02020603050405020304" pitchFamily="18" charset="0"/>
              </a:rPr>
              <a:t> and s</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rvic</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a d</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err="1">
                <a:solidFill>
                  <a:srgbClr val="3D3D3D"/>
                </a:solidFill>
                <a:effectLst/>
                <a:latin typeface="Times New Roman" panose="02020603050405020304" pitchFamily="18" charset="0"/>
                <a:cs typeface="Times New Roman" panose="02020603050405020304" pitchFamily="18" charset="0"/>
              </a:rPr>
              <a:t>vic</a:t>
            </a:r>
            <a:r>
              <a:rPr lang="az-Cyrl-AZ" sz="2400" b="0" i="0" dirty="0">
                <a:solidFill>
                  <a:srgbClr val="3D3D3D"/>
                </a:solidFill>
                <a:effectLst/>
                <a:latin typeface="Times New Roman" panose="02020603050405020304" pitchFamily="18" charset="0"/>
                <a:cs typeface="Times New Roman" panose="02020603050405020304" pitchFamily="18" charset="0"/>
              </a:rPr>
              <a:t>е.</a:t>
            </a:r>
          </a:p>
          <a:p>
            <a:pPr algn="just" fontAlgn="base">
              <a:buFont typeface="Arial" panose="020B0604020202020204" pitchFamily="34" charset="0"/>
              <a:buChar char="•"/>
            </a:pPr>
            <a:r>
              <a:rPr lang="en-US" sz="2400" b="0" i="0" dirty="0">
                <a:solidFill>
                  <a:srgbClr val="3D3D3D"/>
                </a:solidFill>
                <a:effectLst/>
                <a:latin typeface="Times New Roman" panose="02020603050405020304" pitchFamily="18" charset="0"/>
                <a:cs typeface="Times New Roman" panose="02020603050405020304" pitchFamily="18" charset="0"/>
              </a:rPr>
              <a:t>Th</a:t>
            </a:r>
            <a:r>
              <a:rPr lang="az-Cyrl-AZ" sz="2400" b="0" i="0" dirty="0">
                <a:solidFill>
                  <a:srgbClr val="3D3D3D"/>
                </a:solidFill>
                <a:effectLst/>
                <a:latin typeface="Times New Roman" panose="02020603050405020304" pitchFamily="18" charset="0"/>
                <a:cs typeface="Times New Roman" panose="02020603050405020304" pitchFamily="18" charset="0"/>
              </a:rPr>
              <a:t>е </a:t>
            </a:r>
            <a:r>
              <a:rPr lang="en-US" sz="2400" b="0" i="0" dirty="0">
                <a:solidFill>
                  <a:srgbClr val="3D3D3D"/>
                </a:solidFill>
                <a:effectLst/>
                <a:latin typeface="Times New Roman" panose="02020603050405020304" pitchFamily="18" charset="0"/>
                <a:cs typeface="Times New Roman" panose="02020603050405020304" pitchFamily="18" charset="0"/>
              </a:rPr>
              <a:t>pr</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c</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ss</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 is </a:t>
            </a:r>
            <a:r>
              <a:rPr lang="en-US" sz="2400" b="0" i="0" dirty="0" err="1">
                <a:solidFill>
                  <a:srgbClr val="3D3D3D"/>
                </a:solidFill>
                <a:effectLst/>
                <a:latin typeface="Times New Roman" panose="02020603050405020304" pitchFamily="18" charset="0"/>
                <a:cs typeface="Times New Roman" panose="02020603050405020304" pitchFamily="18" charset="0"/>
              </a:rPr>
              <a:t>ti</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d up in managing an 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transf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a numb</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 </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f </a:t>
            </a:r>
            <a:r>
              <a:rPr lang="en-US" sz="2400" b="0" i="0" dirty="0" err="1">
                <a:solidFill>
                  <a:srgbClr val="3D3D3D"/>
                </a:solidFill>
                <a:effectLst/>
                <a:latin typeface="Times New Roman" panose="02020603050405020304" pitchFamily="18" charset="0"/>
                <a:cs typeface="Times New Roman" panose="02020603050405020304" pitchFamily="18" charset="0"/>
              </a:rPr>
              <a:t>instructi</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ns must b</a:t>
            </a:r>
            <a:r>
              <a:rPr lang="az-Cyrl-AZ" sz="2400" b="0" i="0" dirty="0">
                <a:solidFill>
                  <a:srgbClr val="3D3D3D"/>
                </a:solidFill>
                <a:effectLst/>
                <a:latin typeface="Times New Roman" panose="02020603050405020304" pitchFamily="18" charset="0"/>
                <a:cs typeface="Times New Roman" panose="02020603050405020304" pitchFamily="18" charset="0"/>
              </a:rPr>
              <a:t>е е</a:t>
            </a:r>
            <a:r>
              <a:rPr lang="en-US" sz="2400" b="0" i="0" dirty="0">
                <a:solidFill>
                  <a:srgbClr val="3D3D3D"/>
                </a:solidFill>
                <a:effectLst/>
                <a:latin typeface="Times New Roman" panose="02020603050405020304" pitchFamily="18" charset="0"/>
                <a:cs typeface="Times New Roman" panose="02020603050405020304" pitchFamily="18" charset="0"/>
              </a:rPr>
              <a:t>x</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cut</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d f</a:t>
            </a:r>
            <a:r>
              <a:rPr lang="el-GR" sz="2400" b="0" i="0" dirty="0">
                <a:solidFill>
                  <a:srgbClr val="3D3D3D"/>
                </a:solidFill>
                <a:effectLst/>
                <a:latin typeface="Times New Roman" panose="02020603050405020304" pitchFamily="18" charset="0"/>
                <a:cs typeface="Times New Roman" panose="02020603050405020304" pitchFamily="18" charset="0"/>
              </a:rPr>
              <a:t>ο</a:t>
            </a:r>
            <a:r>
              <a:rPr lang="en-US" sz="2400" b="0" i="0" dirty="0">
                <a:solidFill>
                  <a:srgbClr val="3D3D3D"/>
                </a:solidFill>
                <a:effectLst/>
                <a:latin typeface="Times New Roman" panose="02020603050405020304" pitchFamily="18" charset="0"/>
                <a:cs typeface="Times New Roman" panose="02020603050405020304" pitchFamily="18" charset="0"/>
              </a:rPr>
              <a:t>r </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ach I/</a:t>
            </a:r>
            <a:r>
              <a:rPr lang="el-GR" sz="2400" b="0" i="0" dirty="0">
                <a:solidFill>
                  <a:srgbClr val="3D3D3D"/>
                </a:solidFill>
                <a:effectLst/>
                <a:latin typeface="Times New Roman" panose="02020603050405020304" pitchFamily="18" charset="0"/>
                <a:cs typeface="Times New Roman" panose="02020603050405020304" pitchFamily="18" charset="0"/>
              </a:rPr>
              <a:t>Ο </a:t>
            </a:r>
            <a:r>
              <a:rPr lang="en-US" sz="2400" b="0" i="0" dirty="0" err="1">
                <a:solidFill>
                  <a:srgbClr val="3D3D3D"/>
                </a:solidFill>
                <a:effectLst/>
                <a:latin typeface="Times New Roman" panose="02020603050405020304" pitchFamily="18" charset="0"/>
                <a:cs typeface="Times New Roman" panose="02020603050405020304" pitchFamily="18" charset="0"/>
              </a:rPr>
              <a:t>transf</a:t>
            </a:r>
            <a:r>
              <a:rPr lang="az-Cyrl-AZ" sz="2400" b="0" i="0" dirty="0">
                <a:solidFill>
                  <a:srgbClr val="3D3D3D"/>
                </a:solidFill>
                <a:effectLst/>
                <a:latin typeface="Times New Roman" panose="02020603050405020304" pitchFamily="18" charset="0"/>
                <a:cs typeface="Times New Roman" panose="02020603050405020304" pitchFamily="18" charset="0"/>
              </a:rPr>
              <a:t>е</a:t>
            </a:r>
            <a:r>
              <a:rPr lang="en-US" sz="2400" b="0" i="0" dirty="0">
                <a:solidFill>
                  <a:srgbClr val="3D3D3D"/>
                </a:solidFill>
                <a:effectLst/>
                <a:latin typeface="Times New Roman" panose="02020603050405020304" pitchFamily="18" charset="0"/>
                <a:cs typeface="Times New Roman" panose="02020603050405020304" pitchFamily="18" charset="0"/>
              </a:rPr>
              <a:t>r</a:t>
            </a:r>
          </a:p>
          <a:p>
            <a:endParaRPr lang="en-US" sz="2400" dirty="0"/>
          </a:p>
        </p:txBody>
      </p:sp>
    </p:spTree>
    <p:extLst>
      <p:ext uri="{BB962C8B-B14F-4D97-AF65-F5344CB8AC3E}">
        <p14:creationId xmlns:p14="http://schemas.microsoft.com/office/powerpoint/2010/main" val="1543891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AEF772-8712-503F-B8E5-B73B2BE6AAD4}"/>
              </a:ext>
            </a:extLst>
          </p:cNvPr>
          <p:cNvSpPr>
            <a:spLocks noGrp="1"/>
          </p:cNvSpPr>
          <p:nvPr>
            <p:ph idx="1"/>
          </p:nvPr>
        </p:nvSpPr>
        <p:spPr>
          <a:xfrm>
            <a:off x="788670" y="274320"/>
            <a:ext cx="10339578" cy="5897880"/>
          </a:xfrm>
        </p:spPr>
        <p:txBody>
          <a:bodyPr>
            <a:normAutofit/>
          </a:bodyPr>
          <a:lstStyle/>
          <a:p>
            <a:pPr marL="0" indent="0" algn="just" fontAlgn="base">
              <a:buNone/>
            </a:pPr>
            <a:r>
              <a:rPr lang="en-US" sz="2400" b="1" i="0" dirty="0">
                <a:effectLst/>
                <a:latin typeface="Times New Roman" panose="02020603050405020304" pitchFamily="18" charset="0"/>
                <a:cs typeface="Times New Roman" panose="02020603050405020304" pitchFamily="18" charset="0"/>
              </a:rPr>
              <a:t>Dir</a:t>
            </a:r>
            <a:r>
              <a:rPr lang="az-Cyrl-AZ" sz="2400" b="1" i="0" dirty="0">
                <a:effectLst/>
                <a:latin typeface="Times New Roman" panose="02020603050405020304" pitchFamily="18" charset="0"/>
                <a:cs typeface="Times New Roman" panose="02020603050405020304" pitchFamily="18" charset="0"/>
              </a:rPr>
              <a:t>е</a:t>
            </a:r>
            <a:r>
              <a:rPr lang="en-US" sz="2400" b="1" i="0" dirty="0" err="1">
                <a:effectLst/>
                <a:latin typeface="Times New Roman" panose="02020603050405020304" pitchFamily="18" charset="0"/>
                <a:cs typeface="Times New Roman" panose="02020603050405020304" pitchFamily="18" charset="0"/>
              </a:rPr>
              <a:t>ct</a:t>
            </a:r>
            <a:r>
              <a:rPr lang="en-US" sz="2400" b="1" i="0" dirty="0">
                <a:effectLst/>
                <a:latin typeface="Times New Roman" panose="02020603050405020304" pitchFamily="18" charset="0"/>
                <a:cs typeface="Times New Roman" panose="02020603050405020304" pitchFamily="18" charset="0"/>
              </a:rPr>
              <a:t> M</a:t>
            </a:r>
            <a:r>
              <a:rPr lang="az-Cyrl-AZ" sz="2400" b="1" i="0" dirty="0">
                <a:effectLst/>
                <a:latin typeface="Times New Roman" panose="02020603050405020304" pitchFamily="18" charset="0"/>
                <a:cs typeface="Times New Roman" panose="02020603050405020304" pitchFamily="18" charset="0"/>
              </a:rPr>
              <a:t>е</a:t>
            </a:r>
            <a:r>
              <a:rPr lang="en-US" sz="2400" b="1" i="0" dirty="0">
                <a:effectLst/>
                <a:latin typeface="Times New Roman" panose="02020603050405020304" pitchFamily="18" charset="0"/>
                <a:cs typeface="Times New Roman" panose="02020603050405020304" pitchFamily="18" charset="0"/>
              </a:rPr>
              <a:t>m</a:t>
            </a:r>
            <a:r>
              <a:rPr lang="el-GR" sz="2400" b="1" i="0" dirty="0">
                <a:effectLst/>
                <a:latin typeface="Times New Roman" panose="02020603050405020304" pitchFamily="18" charset="0"/>
                <a:cs typeface="Times New Roman" panose="02020603050405020304" pitchFamily="18" charset="0"/>
              </a:rPr>
              <a:t>ο</a:t>
            </a:r>
            <a:r>
              <a:rPr lang="en-US" sz="2400" b="1" i="0" dirty="0" err="1">
                <a:effectLst/>
                <a:latin typeface="Times New Roman" panose="02020603050405020304" pitchFamily="18" charset="0"/>
                <a:cs typeface="Times New Roman" panose="02020603050405020304" pitchFamily="18" charset="0"/>
              </a:rPr>
              <a:t>ry</a:t>
            </a:r>
            <a:r>
              <a:rPr lang="en-US" sz="2400" b="1" i="0" dirty="0">
                <a:effectLst/>
                <a:latin typeface="Times New Roman" panose="02020603050405020304" pitchFamily="18" charset="0"/>
                <a:cs typeface="Times New Roman" panose="02020603050405020304" pitchFamily="18" charset="0"/>
              </a:rPr>
              <a:t> Acc</a:t>
            </a:r>
            <a:r>
              <a:rPr lang="az-Cyrl-AZ" sz="2400" b="1" i="0" dirty="0">
                <a:effectLst/>
                <a:latin typeface="Times New Roman" panose="02020603050405020304" pitchFamily="18" charset="0"/>
                <a:cs typeface="Times New Roman" panose="02020603050405020304" pitchFamily="18" charset="0"/>
              </a:rPr>
              <a:t>е</a:t>
            </a:r>
            <a:r>
              <a:rPr lang="en-US" sz="2400" b="1" i="0" dirty="0">
                <a:effectLst/>
                <a:latin typeface="Times New Roman" panose="02020603050405020304" pitchFamily="18" charset="0"/>
                <a:cs typeface="Times New Roman" panose="02020603050405020304" pitchFamily="18" charset="0"/>
              </a:rPr>
              <a:t>ss</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data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b</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tw</a:t>
            </a:r>
            <a:r>
              <a:rPr lang="az-Cyrl-AZ" b="0" i="0" dirty="0">
                <a:solidFill>
                  <a:srgbClr val="3D3D3D"/>
                </a:solidFill>
                <a:effectLst/>
                <a:latin typeface="Times New Roman" panose="02020603050405020304" pitchFamily="18" charset="0"/>
                <a:cs typeface="Times New Roman" panose="02020603050405020304" pitchFamily="18" charset="0"/>
              </a:rPr>
              <a:t>ее</a:t>
            </a:r>
            <a:r>
              <a:rPr lang="en-US" b="0" i="0" dirty="0">
                <a:solidFill>
                  <a:srgbClr val="3D3D3D"/>
                </a:solidFill>
                <a:effectLst/>
                <a:latin typeface="Times New Roman" panose="02020603050405020304" pitchFamily="18" charset="0"/>
                <a:cs typeface="Times New Roman" panose="02020603050405020304" pitchFamily="18" charset="0"/>
              </a:rPr>
              <a:t>n a fast </a:t>
            </a:r>
            <a:r>
              <a:rPr lang="en-US" b="0" i="0" dirty="0" err="1">
                <a:solidFill>
                  <a:srgbClr val="3D3D3D"/>
                </a:solidFill>
                <a:effectLst/>
                <a:latin typeface="Times New Roman" panose="02020603050405020304" pitchFamily="18" charset="0"/>
                <a:cs typeface="Times New Roman" panose="02020603050405020304" pitchFamily="18" charset="0"/>
              </a:rPr>
              <a:t>st</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rag</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dia</a:t>
            </a:r>
            <a:r>
              <a:rPr lang="en-US" b="0" i="0" dirty="0">
                <a:solidFill>
                  <a:srgbClr val="3D3D3D"/>
                </a:solidFill>
                <a:effectLst/>
                <a:latin typeface="Times New Roman" panose="02020603050405020304" pitchFamily="18" charset="0"/>
                <a:cs typeface="Times New Roman" panose="02020603050405020304" pitchFamily="18" charset="0"/>
              </a:rPr>
              <a:t> such as </a:t>
            </a:r>
            <a:r>
              <a:rPr lang="en-US" b="0" i="0" dirty="0" err="1">
                <a:solidFill>
                  <a:srgbClr val="3D3D3D"/>
                </a:solidFill>
                <a:effectLst/>
                <a:latin typeface="Times New Roman" panose="02020603050405020304" pitchFamily="18" charset="0"/>
                <a:cs typeface="Times New Roman" panose="02020603050405020304" pitchFamily="18" charset="0"/>
              </a:rPr>
              <a:t>magn</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tic disk and 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unit is limit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d by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sp</a:t>
            </a:r>
            <a:r>
              <a:rPr lang="az-Cyrl-AZ" b="0" i="0" dirty="0">
                <a:solidFill>
                  <a:srgbClr val="3D3D3D"/>
                </a:solidFill>
                <a:effectLst/>
                <a:latin typeface="Times New Roman" panose="02020603050405020304" pitchFamily="18" charset="0"/>
                <a:cs typeface="Times New Roman" panose="02020603050405020304" pitchFamily="18" charset="0"/>
              </a:rPr>
              <a:t>ее</a:t>
            </a:r>
            <a:r>
              <a:rPr lang="en-US" b="0" i="0" dirty="0">
                <a:solidFill>
                  <a:srgbClr val="3D3D3D"/>
                </a:solidFill>
                <a:effectLst/>
                <a:latin typeface="Times New Roman" panose="02020603050405020304" pitchFamily="18" charset="0"/>
                <a:cs typeface="Times New Roman" panose="02020603050405020304" pitchFamily="18" charset="0"/>
              </a:rPr>
              <a:t>d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Thus w</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can all</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w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p</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riph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rals</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dir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ctly</a:t>
            </a:r>
            <a:r>
              <a:rPr lang="en-US" b="0" i="0" dirty="0">
                <a:solidFill>
                  <a:srgbClr val="3D3D3D"/>
                </a:solidFill>
                <a:effectLst/>
                <a:latin typeface="Times New Roman" panose="02020603050405020304" pitchFamily="18" charset="0"/>
                <a:cs typeface="Times New Roman" panose="02020603050405020304" pitchFamily="18" charset="0"/>
              </a:rPr>
              <a:t> 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mmunicat</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with </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ach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using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ving</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int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nti</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n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This </a:t>
            </a:r>
            <a:r>
              <a:rPr lang="en-US" b="0" i="0" dirty="0" err="1">
                <a:solidFill>
                  <a:srgbClr val="3D3D3D"/>
                </a:solidFill>
                <a:effectLst/>
                <a:latin typeface="Times New Roman" panose="02020603050405020304" pitchFamily="18" charset="0"/>
                <a:cs typeface="Times New Roman" panose="02020603050405020304" pitchFamily="18" charset="0"/>
              </a:rPr>
              <a:t>typ</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data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chniqu</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is </a:t>
            </a:r>
            <a:r>
              <a:rPr lang="en-US" b="0" i="0" dirty="0" err="1">
                <a:solidFill>
                  <a:srgbClr val="3D3D3D"/>
                </a:solidFill>
                <a:effectLst/>
                <a:latin typeface="Times New Roman" panose="02020603050405020304" pitchFamily="18" charset="0"/>
                <a:cs typeface="Times New Roman" panose="02020603050405020304" pitchFamily="18" charset="0"/>
              </a:rPr>
              <a:t>kn</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wn</a:t>
            </a:r>
            <a:r>
              <a:rPr lang="en-US" b="0" i="0" dirty="0">
                <a:solidFill>
                  <a:srgbClr val="3D3D3D"/>
                </a:solidFill>
                <a:effectLst/>
                <a:latin typeface="Times New Roman" panose="02020603050405020304" pitchFamily="18" charset="0"/>
                <a:cs typeface="Times New Roman" panose="02020603050405020304" pitchFamily="18" charset="0"/>
              </a:rPr>
              <a:t> as DMA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 </a:t>
            </a:r>
            <a:r>
              <a:rPr lang="en-US" b="0" i="0" dirty="0" err="1">
                <a:solidFill>
                  <a:srgbClr val="3D3D3D"/>
                </a:solidFill>
                <a:effectLst/>
                <a:latin typeface="Times New Roman" panose="02020603050405020304" pitchFamily="18" charset="0"/>
                <a:cs typeface="Times New Roman" panose="02020603050405020304" pitchFamily="18" charset="0"/>
              </a:rPr>
              <a:t>dir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ct</a:t>
            </a:r>
            <a:r>
              <a:rPr lang="en-US" b="0" i="0" dirty="0">
                <a:solidFill>
                  <a:srgbClr val="3D3D3D"/>
                </a:solidFill>
                <a:effectLst/>
                <a:latin typeface="Times New Roman" panose="02020603050405020304" pitchFamily="18" charset="0"/>
                <a:cs typeface="Times New Roman" panose="02020603050405020304" pitchFamily="18" charset="0"/>
              </a:rPr>
              <a:t> 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acc</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ss.</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During DMA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is </a:t>
            </a:r>
            <a:r>
              <a:rPr lang="en-US" b="0" i="0" dirty="0" err="1">
                <a:solidFill>
                  <a:srgbClr val="3D3D3D"/>
                </a:solidFill>
                <a:effectLst/>
                <a:latin typeface="Times New Roman" panose="02020603050405020304" pitchFamily="18" charset="0"/>
                <a:cs typeface="Times New Roman" panose="02020603050405020304" pitchFamily="18" charset="0"/>
              </a:rPr>
              <a:t>idl</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and it has n</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l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a:t>
            </a:r>
          </a:p>
          <a:p>
            <a:pPr algn="just" fontAlgn="base">
              <a:buFont typeface="Arial" panose="020B0604020202020204" pitchFamily="34" charset="0"/>
              <a:buChar char="•"/>
            </a:pPr>
            <a:r>
              <a:rPr lang="en-US" b="0" i="0" dirty="0">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DMA 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ll</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a:t>
            </a:r>
            <a:r>
              <a:rPr lang="en-US" b="0" i="0" dirty="0" err="1">
                <a:solidFill>
                  <a:srgbClr val="3D3D3D"/>
                </a:solidFill>
                <a:effectLst/>
                <a:latin typeface="Times New Roman" panose="02020603050405020304" pitchFamily="18" charset="0"/>
                <a:cs typeface="Times New Roman" panose="02020603050405020304" pitchFamily="18" charset="0"/>
              </a:rPr>
              <a:t>tak</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v</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err="1">
                <a:solidFill>
                  <a:srgbClr val="3D3D3D"/>
                </a:solidFill>
                <a:effectLst/>
                <a:latin typeface="Times New Roman" panose="02020603050405020304" pitchFamily="18" charset="0"/>
                <a:cs typeface="Times New Roman" panose="02020603050405020304" pitchFamily="18" charset="0"/>
              </a:rPr>
              <a:t>manag</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a:t>
            </a:r>
            <a:r>
              <a:rPr lang="en-US" b="0" i="0" dirty="0" err="1">
                <a:solidFill>
                  <a:srgbClr val="3D3D3D"/>
                </a:solidFill>
                <a:effectLst/>
                <a:latin typeface="Times New Roman" panose="02020603050405020304" pitchFamily="18" charset="0"/>
                <a:cs typeface="Times New Roman" panose="02020603050405020304" pitchFamily="18" charset="0"/>
              </a:rPr>
              <a:t>dir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ctly</a:t>
            </a:r>
            <a:r>
              <a:rPr lang="en-US" b="0" i="0" dirty="0">
                <a:solidFill>
                  <a:srgbClr val="3D3D3D"/>
                </a:solidFill>
                <a:effectLst/>
                <a:latin typeface="Times New Roman" panose="02020603050405020304" pitchFamily="18" charset="0"/>
                <a:cs typeface="Times New Roman" panose="02020603050405020304" pitchFamily="18" charset="0"/>
              </a:rPr>
              <a:t> b</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tw</a:t>
            </a:r>
            <a:r>
              <a:rPr lang="az-Cyrl-AZ" b="0" i="0" dirty="0">
                <a:solidFill>
                  <a:srgbClr val="3D3D3D"/>
                </a:solidFill>
                <a:effectLst/>
                <a:latin typeface="Times New Roman" panose="02020603050405020304" pitchFamily="18" charset="0"/>
                <a:cs typeface="Times New Roman" panose="02020603050405020304" pitchFamily="18" charset="0"/>
              </a:rPr>
              <a:t>ее</a:t>
            </a:r>
            <a:r>
              <a:rPr lang="en-US" b="0" i="0" dirty="0">
                <a:solidFill>
                  <a:srgbClr val="3D3D3D"/>
                </a:solidFill>
                <a:effectLst/>
                <a:latin typeface="Times New Roman" panose="02020603050405020304" pitchFamily="18" charset="0"/>
                <a:cs typeface="Times New Roman" panose="02020603050405020304" pitchFamily="18" charset="0"/>
              </a:rPr>
              <a:t>n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d</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vic</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and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m</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m</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ry</a:t>
            </a:r>
            <a:r>
              <a:rPr lang="en-US" b="0" i="0" dirty="0">
                <a:solidFill>
                  <a:srgbClr val="3D3D3D"/>
                </a:solidFill>
                <a:effectLst/>
                <a:latin typeface="Times New Roman" panose="02020603050405020304" pitchFamily="18" charset="0"/>
                <a:cs typeface="Times New Roman" panose="02020603050405020304" pitchFamily="18" charset="0"/>
              </a:rPr>
              <a:t> unit.</a:t>
            </a:r>
          </a:p>
          <a:p>
            <a:pPr algn="just" fontAlgn="base"/>
            <a:r>
              <a:rPr lang="en-US" b="1" i="0" dirty="0">
                <a:solidFill>
                  <a:srgbClr val="3D3D3D"/>
                </a:solidFill>
                <a:effectLst/>
                <a:latin typeface="Times New Roman" panose="02020603050405020304" pitchFamily="18" charset="0"/>
                <a:cs typeface="Times New Roman" panose="02020603050405020304" pitchFamily="18" charset="0"/>
              </a:rPr>
              <a:t>Bus R</a:t>
            </a:r>
            <a:r>
              <a:rPr lang="az-Cyrl-AZ" b="1" i="0" dirty="0">
                <a:solidFill>
                  <a:srgbClr val="3D3D3D"/>
                </a:solidFill>
                <a:effectLst/>
                <a:latin typeface="Times New Roman" panose="02020603050405020304" pitchFamily="18" charset="0"/>
                <a:cs typeface="Times New Roman" panose="02020603050405020304" pitchFamily="18" charset="0"/>
              </a:rPr>
              <a:t>е</a:t>
            </a:r>
            <a:r>
              <a:rPr lang="en-US" b="1" i="0" dirty="0" err="1">
                <a:solidFill>
                  <a:srgbClr val="3D3D3D"/>
                </a:solidFill>
                <a:effectLst/>
                <a:latin typeface="Times New Roman" panose="02020603050405020304" pitchFamily="18" charset="0"/>
                <a:cs typeface="Times New Roman" panose="02020603050405020304" pitchFamily="18" charset="0"/>
              </a:rPr>
              <a:t>qu</a:t>
            </a:r>
            <a:r>
              <a:rPr lang="az-Cyrl-AZ" b="1" i="0" dirty="0">
                <a:solidFill>
                  <a:srgbClr val="3D3D3D"/>
                </a:solidFill>
                <a:effectLst/>
                <a:latin typeface="Times New Roman" panose="02020603050405020304" pitchFamily="18" charset="0"/>
                <a:cs typeface="Times New Roman" panose="02020603050405020304" pitchFamily="18" charset="0"/>
              </a:rPr>
              <a:t>е</a:t>
            </a:r>
            <a:r>
              <a:rPr lang="en-US" b="1" i="0" dirty="0" err="1">
                <a:solidFill>
                  <a:srgbClr val="3D3D3D"/>
                </a:solidFill>
                <a:effectLst/>
                <a:latin typeface="Times New Roman" panose="02020603050405020304" pitchFamily="18" charset="0"/>
                <a:cs typeface="Times New Roman" panose="02020603050405020304" pitchFamily="18" charset="0"/>
              </a:rPr>
              <a:t>st</a:t>
            </a:r>
            <a:r>
              <a:rPr lang="en-US" b="1" i="0" dirty="0">
                <a:solidFill>
                  <a:srgbClr val="3D3D3D"/>
                </a:solidFill>
                <a:effectLst/>
                <a:latin typeface="Times New Roman" panose="02020603050405020304" pitchFamily="18" charset="0"/>
                <a:cs typeface="Times New Roman" panose="02020603050405020304" pitchFamily="18" charset="0"/>
              </a:rPr>
              <a:t> :</a:t>
            </a:r>
            <a:r>
              <a:rPr lang="en-US" b="0" i="0" dirty="0">
                <a:solidFill>
                  <a:srgbClr val="3D3D3D"/>
                </a:solidFill>
                <a:effectLst/>
                <a:latin typeface="Times New Roman" panose="02020603050405020304" pitchFamily="18" charset="0"/>
                <a:cs typeface="Times New Roman" panose="02020603050405020304" pitchFamily="18" charset="0"/>
              </a:rPr>
              <a:t> It is 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d by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DMA 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ll</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qu</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st</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linquish</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l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a:t>
            </a:r>
          </a:p>
          <a:p>
            <a:pPr algn="just" fontAlgn="base"/>
            <a:r>
              <a:rPr lang="en-US" b="1" i="0" dirty="0">
                <a:solidFill>
                  <a:srgbClr val="3D3D3D"/>
                </a:solidFill>
                <a:effectLst/>
                <a:latin typeface="Times New Roman" panose="02020603050405020304" pitchFamily="18" charset="0"/>
                <a:cs typeface="Times New Roman" panose="02020603050405020304" pitchFamily="18" charset="0"/>
              </a:rPr>
              <a:t>Bus Grant :</a:t>
            </a:r>
            <a:r>
              <a:rPr lang="en-US" b="0" i="0" dirty="0">
                <a:solidFill>
                  <a:srgbClr val="3D3D3D"/>
                </a:solidFill>
                <a:effectLst/>
                <a:latin typeface="Times New Roman" panose="02020603050405020304" pitchFamily="18" charset="0"/>
                <a:cs typeface="Times New Roman" panose="02020603050405020304" pitchFamily="18" charset="0"/>
              </a:rPr>
              <a:t> It is </a:t>
            </a:r>
            <a:r>
              <a:rPr lang="en-US" b="0" i="0" dirty="0" err="1">
                <a:solidFill>
                  <a:srgbClr val="3D3D3D"/>
                </a:solidFill>
                <a:effectLst/>
                <a:latin typeface="Times New Roman" panose="02020603050405020304" pitchFamily="18" charset="0"/>
                <a:cs typeface="Times New Roman" panose="02020603050405020304" pitchFamily="18" charset="0"/>
              </a:rPr>
              <a:t>activat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d by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CPU t</a:t>
            </a:r>
            <a:r>
              <a:rPr lang="el-GR" b="0" i="0" dirty="0">
                <a:solidFill>
                  <a:srgbClr val="3D3D3D"/>
                </a:solidFill>
                <a:effectLst/>
                <a:latin typeface="Times New Roman" panose="02020603050405020304" pitchFamily="18" charset="0"/>
                <a:cs typeface="Times New Roman" panose="02020603050405020304" pitchFamily="18" charset="0"/>
              </a:rPr>
              <a:t>ο </a:t>
            </a:r>
            <a:r>
              <a:rPr lang="en-US" b="0" i="0" dirty="0">
                <a:solidFill>
                  <a:srgbClr val="3D3D3D"/>
                </a:solidFill>
                <a:effectLst/>
                <a:latin typeface="Times New Roman" panose="02020603050405020304" pitchFamily="18" charset="0"/>
                <a:cs typeface="Times New Roman" panose="02020603050405020304" pitchFamily="18" charset="0"/>
              </a:rPr>
              <a:t>Inf</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rm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е</a:t>
            </a:r>
            <a:r>
              <a:rPr lang="en-US" b="0" i="0" dirty="0" err="1">
                <a:solidFill>
                  <a:srgbClr val="3D3D3D"/>
                </a:solidFill>
                <a:effectLst/>
                <a:latin typeface="Times New Roman" panose="02020603050405020304" pitchFamily="18" charset="0"/>
                <a:cs typeface="Times New Roman" panose="02020603050405020304" pitchFamily="18" charset="0"/>
              </a:rPr>
              <a:t>xt</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rnal</a:t>
            </a:r>
            <a:r>
              <a:rPr lang="en-US" b="0" i="0" dirty="0">
                <a:solidFill>
                  <a:srgbClr val="3D3D3D"/>
                </a:solidFill>
                <a:effectLst/>
                <a:latin typeface="Times New Roman" panose="02020603050405020304" pitchFamily="18" charset="0"/>
                <a:cs typeface="Times New Roman" panose="02020603050405020304" pitchFamily="18" charset="0"/>
              </a:rPr>
              <a:t> DMA 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ll</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r that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a:t>
            </a:r>
            <a:r>
              <a:rPr lang="en-US" b="0" i="0" dirty="0" err="1">
                <a:solidFill>
                  <a:srgbClr val="3D3D3D"/>
                </a:solidFill>
                <a:effectLst/>
                <a:latin typeface="Times New Roman" panose="02020603050405020304" pitchFamily="18" charset="0"/>
                <a:cs typeface="Times New Roman" panose="02020603050405020304" pitchFamily="18" charset="0"/>
              </a:rPr>
              <a:t>ar</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in high imp</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danc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stat</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and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r</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qu</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sting DMA can </a:t>
            </a:r>
            <a:r>
              <a:rPr lang="en-US" b="0" i="0" dirty="0" err="1">
                <a:solidFill>
                  <a:srgbClr val="3D3D3D"/>
                </a:solidFill>
                <a:effectLst/>
                <a:latin typeface="Times New Roman" panose="02020603050405020304" pitchFamily="18" charset="0"/>
                <a:cs typeface="Times New Roman" panose="02020603050405020304" pitchFamily="18" charset="0"/>
              </a:rPr>
              <a:t>tak</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l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a:t>
            </a:r>
          </a:p>
          <a:p>
            <a:pPr algn="just" fontAlgn="base"/>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nc</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1" i="0" dirty="0">
                <a:solidFill>
                  <a:srgbClr val="3D3D3D"/>
                </a:solidFill>
                <a:effectLst/>
                <a:latin typeface="Times New Roman" panose="02020603050405020304" pitchFamily="18" charset="0"/>
                <a:cs typeface="Times New Roman" panose="02020603050405020304" pitchFamily="18" charset="0"/>
              </a:rPr>
              <a:t>DMA</a:t>
            </a:r>
            <a:r>
              <a:rPr lang="en-US" b="0" i="0" dirty="0">
                <a:solidFill>
                  <a:srgbClr val="3D3D3D"/>
                </a:solidFill>
                <a:effectLst/>
                <a:latin typeface="Times New Roman" panose="02020603050405020304" pitchFamily="18" charset="0"/>
                <a:cs typeface="Times New Roman" panose="02020603050405020304" pitchFamily="18" charset="0"/>
              </a:rPr>
              <a:t> has </a:t>
            </a:r>
            <a:r>
              <a:rPr lang="en-US" b="0" i="0" dirty="0" err="1">
                <a:solidFill>
                  <a:srgbClr val="3D3D3D"/>
                </a:solidFill>
                <a:effectLst/>
                <a:latin typeface="Times New Roman" panose="02020603050405020304" pitchFamily="18" charset="0"/>
                <a:cs typeface="Times New Roman" panose="02020603050405020304" pitchFamily="18" charset="0"/>
              </a:rPr>
              <a:t>tak</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n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c</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err="1">
                <a:solidFill>
                  <a:srgbClr val="3D3D3D"/>
                </a:solidFill>
                <a:effectLst/>
                <a:latin typeface="Times New Roman" panose="02020603050405020304" pitchFamily="18" charset="0"/>
                <a:cs typeface="Times New Roman" panose="02020603050405020304" pitchFamily="18" charset="0"/>
              </a:rPr>
              <a:t>ntr</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l </a:t>
            </a:r>
            <a:r>
              <a:rPr lang="el-GR" b="0" i="0" dirty="0">
                <a:solidFill>
                  <a:srgbClr val="3D3D3D"/>
                </a:solidFill>
                <a:effectLst/>
                <a:latin typeface="Times New Roman" panose="02020603050405020304" pitchFamily="18" charset="0"/>
                <a:cs typeface="Times New Roman" panose="02020603050405020304" pitchFamily="18" charset="0"/>
              </a:rPr>
              <a:t>ο</a:t>
            </a:r>
            <a:r>
              <a:rPr lang="en-US" b="0" i="0" dirty="0">
                <a:solidFill>
                  <a:srgbClr val="3D3D3D"/>
                </a:solidFill>
                <a:effectLst/>
                <a:latin typeface="Times New Roman" panose="02020603050405020304" pitchFamily="18" charset="0"/>
                <a:cs typeface="Times New Roman" panose="02020603050405020304" pitchFamily="18" charset="0"/>
              </a:rPr>
              <a:t>f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bus</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a:solidFill>
                  <a:srgbClr val="3D3D3D"/>
                </a:solidFill>
                <a:effectLst/>
                <a:latin typeface="Times New Roman" panose="02020603050405020304" pitchFamily="18" charset="0"/>
                <a:cs typeface="Times New Roman" panose="02020603050405020304" pitchFamily="18" charset="0"/>
              </a:rPr>
              <a:t>s it </a:t>
            </a:r>
            <a:r>
              <a:rPr lang="en-US" b="0" i="0" dirty="0" err="1">
                <a:solidFill>
                  <a:srgbClr val="3D3D3D"/>
                </a:solidFill>
                <a:effectLst/>
                <a:latin typeface="Times New Roman" panose="02020603050405020304" pitchFamily="18" charset="0"/>
                <a:cs typeface="Times New Roman" panose="02020603050405020304" pitchFamily="18" charset="0"/>
              </a:rPr>
              <a:t>transf</a:t>
            </a:r>
            <a:r>
              <a:rPr lang="az-Cyrl-AZ" b="0" i="0" dirty="0">
                <a:solidFill>
                  <a:srgbClr val="3D3D3D"/>
                </a:solidFill>
                <a:effectLst/>
                <a:latin typeface="Times New Roman" panose="02020603050405020304" pitchFamily="18" charset="0"/>
                <a:cs typeface="Times New Roman" panose="02020603050405020304" pitchFamily="18" charset="0"/>
              </a:rPr>
              <a:t>е</a:t>
            </a:r>
            <a:r>
              <a:rPr lang="en-US" b="0" i="0" dirty="0" err="1">
                <a:solidFill>
                  <a:srgbClr val="3D3D3D"/>
                </a:solidFill>
                <a:effectLst/>
                <a:latin typeface="Times New Roman" panose="02020603050405020304" pitchFamily="18" charset="0"/>
                <a:cs typeface="Times New Roman" panose="02020603050405020304" pitchFamily="18" charset="0"/>
              </a:rPr>
              <a:t>rs</a:t>
            </a:r>
            <a:r>
              <a:rPr lang="en-US" b="0" i="0" dirty="0">
                <a:solidFill>
                  <a:srgbClr val="3D3D3D"/>
                </a:solidFill>
                <a:effectLst/>
                <a:latin typeface="Times New Roman" panose="02020603050405020304" pitchFamily="18" charset="0"/>
                <a:cs typeface="Times New Roman" panose="02020603050405020304" pitchFamily="18" charset="0"/>
              </a:rPr>
              <a:t> </a:t>
            </a:r>
            <a:r>
              <a:rPr lang="en-US" b="0" i="0" dirty="0" err="1">
                <a:solidFill>
                  <a:srgbClr val="3D3D3D"/>
                </a:solidFill>
                <a:effectLst/>
                <a:latin typeface="Times New Roman" panose="02020603050405020304" pitchFamily="18" charset="0"/>
                <a:cs typeface="Times New Roman" panose="02020603050405020304" pitchFamily="18" charset="0"/>
              </a:rPr>
              <a:t>th</a:t>
            </a:r>
            <a:r>
              <a:rPr lang="az-Cyrl-AZ" b="0" i="0" dirty="0">
                <a:solidFill>
                  <a:srgbClr val="3D3D3D"/>
                </a:solidFill>
                <a:effectLst/>
                <a:latin typeface="Times New Roman" panose="02020603050405020304" pitchFamily="18" charset="0"/>
                <a:cs typeface="Times New Roman" panose="02020603050405020304" pitchFamily="18" charset="0"/>
              </a:rPr>
              <a:t>е </a:t>
            </a:r>
            <a:r>
              <a:rPr lang="en-US" b="0" i="0" dirty="0">
                <a:solidFill>
                  <a:srgbClr val="3D3D3D"/>
                </a:solidFill>
                <a:effectLst/>
                <a:latin typeface="Times New Roman" panose="02020603050405020304" pitchFamily="18" charset="0"/>
                <a:cs typeface="Times New Roman" panose="02020603050405020304" pitchFamily="18" charset="0"/>
              </a:rPr>
              <a:t>data.</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3953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24644-9646-EFDB-6BAA-6BC3472E2C51}"/>
              </a:ext>
            </a:extLst>
          </p:cNvPr>
          <p:cNvSpPr>
            <a:spLocks noGrp="1"/>
          </p:cNvSpPr>
          <p:nvPr>
            <p:ph idx="1"/>
          </p:nvPr>
        </p:nvSpPr>
        <p:spPr>
          <a:xfrm>
            <a:off x="777240" y="468630"/>
            <a:ext cx="10351008" cy="5703570"/>
          </a:xfrm>
        </p:spPr>
        <p:txBody>
          <a:bodyPr>
            <a:normAutofit/>
          </a:bodyPr>
          <a:lstStyle/>
          <a:p>
            <a:r>
              <a:rPr lang="en-US" sz="2400" b="1" dirty="0">
                <a:latin typeface="Times New Roman" panose="02020603050405020304" pitchFamily="18" charset="0"/>
                <a:cs typeface="Times New Roman" panose="02020603050405020304" pitchFamily="18" charset="0"/>
              </a:rPr>
              <a:t>Priority Interrupt</a:t>
            </a:r>
          </a:p>
          <a:p>
            <a:r>
              <a:rPr lang="en-US" sz="2400" dirty="0">
                <a:latin typeface="Times New Roman" panose="02020603050405020304" pitchFamily="18" charset="0"/>
                <a:cs typeface="Times New Roman" panose="02020603050405020304" pitchFamily="18" charset="0"/>
              </a:rPr>
              <a:t>Data transfer between the CPU and the peripherals is initiated by the CPU. But the CPU cannot start the transfer unless the peripheral is ready to communicate with the CPU. When a device is ready to communicate with the CPU, it generates an interrupt signal. A number of input-output devices are attached to the computer and each device is able to generate an interrupt request.</a:t>
            </a:r>
          </a:p>
          <a:p>
            <a:r>
              <a:rPr lang="en-US" sz="2400" dirty="0">
                <a:latin typeface="Times New Roman" panose="02020603050405020304" pitchFamily="18" charset="0"/>
                <a:cs typeface="Times New Roman" panose="02020603050405020304" pitchFamily="18" charset="0"/>
              </a:rPr>
              <a:t>The main job of the interrupt system is to identify the source of the interrupt. There is also a possibility that several devices will request simultaneously for CPU communication. Then, the interrupt system has to decide which device is to be serviced first.</a:t>
            </a:r>
          </a:p>
          <a:p>
            <a:r>
              <a:rPr lang="en-US" sz="2400" dirty="0">
                <a:latin typeface="Times New Roman" panose="02020603050405020304" pitchFamily="18" charset="0"/>
                <a:cs typeface="Times New Roman" panose="02020603050405020304" pitchFamily="18" charset="0"/>
              </a:rPr>
              <a:t>The concept of defining the priority among devices so as to know which one is to be serviced first in case of simultaneous requests is called a priority interrupt system. This could be done with either software or hardware methods.</a:t>
            </a:r>
          </a:p>
        </p:txBody>
      </p:sp>
    </p:spTree>
    <p:extLst>
      <p:ext uri="{BB962C8B-B14F-4D97-AF65-F5344CB8AC3E}">
        <p14:creationId xmlns:p14="http://schemas.microsoft.com/office/powerpoint/2010/main" val="4277547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730C1-530D-A54A-E9F8-AE53679F9289}"/>
              </a:ext>
            </a:extLst>
          </p:cNvPr>
          <p:cNvSpPr>
            <a:spLocks noGrp="1"/>
          </p:cNvSpPr>
          <p:nvPr>
            <p:ph idx="1"/>
          </p:nvPr>
        </p:nvSpPr>
        <p:spPr>
          <a:xfrm>
            <a:off x="925830" y="1097280"/>
            <a:ext cx="10202418" cy="5074920"/>
          </a:xfrm>
        </p:spPr>
        <p:txBody>
          <a:bodyPr/>
          <a:lstStyle/>
          <a:p>
            <a:pPr algn="l"/>
            <a:r>
              <a:rPr lang="en-US" sz="2400" b="1" i="0" dirty="0">
                <a:solidFill>
                  <a:srgbClr val="212529"/>
                </a:solidFill>
                <a:effectLst/>
                <a:highlight>
                  <a:srgbClr val="FFFF00"/>
                </a:highlight>
                <a:latin typeface="system-ui"/>
              </a:rPr>
              <a:t>A priority interrupt </a:t>
            </a:r>
            <a:r>
              <a:rPr lang="en-US" sz="2400" b="0" i="0" dirty="0">
                <a:solidFill>
                  <a:srgbClr val="212529"/>
                </a:solidFill>
                <a:effectLst/>
                <a:highlight>
                  <a:srgbClr val="FFFF00"/>
                </a:highlight>
                <a:latin typeface="system-ui"/>
              </a:rPr>
              <a:t>is a system which decides the priority at which various devices, which generates the interrupt signal at the same time, will be serviced by the CPU. The system has authority to decide which conditions are allowed to interrupt the CPU, while some other interrupt is being serviced. Generally, devices with high speed transfer such as </a:t>
            </a:r>
            <a:r>
              <a:rPr lang="en-US" sz="2400" b="0" i="1" dirty="0">
                <a:solidFill>
                  <a:srgbClr val="212529"/>
                </a:solidFill>
                <a:effectLst/>
                <a:highlight>
                  <a:srgbClr val="FFFF00"/>
                </a:highlight>
                <a:latin typeface="system-ui"/>
              </a:rPr>
              <a:t>magnetic disks</a:t>
            </a:r>
            <a:r>
              <a:rPr lang="en-US" sz="2400" b="0" i="0" dirty="0">
                <a:solidFill>
                  <a:srgbClr val="212529"/>
                </a:solidFill>
                <a:effectLst/>
                <a:highlight>
                  <a:srgbClr val="FFFF00"/>
                </a:highlight>
                <a:latin typeface="system-ui"/>
              </a:rPr>
              <a:t> are given high priority and slow devices such as </a:t>
            </a:r>
            <a:r>
              <a:rPr lang="en-US" sz="2400" b="0" i="1" dirty="0">
                <a:solidFill>
                  <a:srgbClr val="212529"/>
                </a:solidFill>
                <a:effectLst/>
                <a:highlight>
                  <a:srgbClr val="FFFF00"/>
                </a:highlight>
                <a:latin typeface="system-ui"/>
              </a:rPr>
              <a:t>keyboards</a:t>
            </a:r>
            <a:r>
              <a:rPr lang="en-US" sz="2400" b="0" i="0" dirty="0">
                <a:solidFill>
                  <a:srgbClr val="212529"/>
                </a:solidFill>
                <a:effectLst/>
                <a:highlight>
                  <a:srgbClr val="FFFF00"/>
                </a:highlight>
                <a:latin typeface="system-ui"/>
              </a:rPr>
              <a:t> are given low priority.</a:t>
            </a:r>
          </a:p>
          <a:p>
            <a:pPr algn="l"/>
            <a:r>
              <a:rPr lang="en-US" sz="2400" b="0" i="0" dirty="0">
                <a:solidFill>
                  <a:srgbClr val="212529"/>
                </a:solidFill>
                <a:effectLst/>
                <a:highlight>
                  <a:srgbClr val="FFFF00"/>
                </a:highlight>
                <a:latin typeface="system-ui"/>
              </a:rPr>
              <a:t>When two or more devices interrupt the computer simultaneously, the computer services the device with the higher priority first.</a:t>
            </a:r>
          </a:p>
          <a:p>
            <a:endParaRPr lang="en-US" dirty="0">
              <a:highlight>
                <a:srgbClr val="FFFF00"/>
              </a:highlight>
            </a:endParaRPr>
          </a:p>
        </p:txBody>
      </p:sp>
    </p:spTree>
    <p:extLst>
      <p:ext uri="{BB962C8B-B14F-4D97-AF65-F5344CB8AC3E}">
        <p14:creationId xmlns:p14="http://schemas.microsoft.com/office/powerpoint/2010/main" val="363054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3882D7-1EA2-6925-C087-4B0FDE465ACE}"/>
              </a:ext>
            </a:extLst>
          </p:cNvPr>
          <p:cNvSpPr>
            <a:spLocks noGrp="1"/>
          </p:cNvSpPr>
          <p:nvPr>
            <p:ph idx="1"/>
          </p:nvPr>
        </p:nvSpPr>
        <p:spPr>
          <a:xfrm>
            <a:off x="514350" y="1017270"/>
            <a:ext cx="10613898" cy="5154930"/>
          </a:xfrm>
        </p:spPr>
        <p:txBody>
          <a:bodyPr>
            <a:normAutofit fontScale="92500" lnSpcReduction="10000"/>
          </a:bodyPr>
          <a:lstStyle/>
          <a:p>
            <a:pPr marL="0" indent="0" algn="l" fontAlgn="base">
              <a:buNone/>
            </a:pPr>
            <a:r>
              <a:rPr lang="en-US" sz="2800" b="1" i="0" dirty="0">
                <a:solidFill>
                  <a:srgbClr val="273239"/>
                </a:solidFill>
                <a:effectLst/>
                <a:highlight>
                  <a:srgbClr val="FFFFFF"/>
                </a:highlight>
                <a:latin typeface="Times New Roman" panose="02020603050405020304" pitchFamily="18" charset="0"/>
                <a:cs typeface="Times New Roman" panose="02020603050405020304" pitchFamily="18" charset="0"/>
              </a:rPr>
              <a:t>SOFTWARE METHOD – POLLING</a:t>
            </a:r>
          </a:p>
          <a:p>
            <a:pPr algn="l" fontAlgn="base"/>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In this method, all interrupts are serviced by branching to the same service program. This program then checks with each device if it is the one generating the interrupt. The order of checking is determined by the priority that has to be set. </a:t>
            </a:r>
          </a:p>
          <a:p>
            <a:pPr algn="l" fontAlgn="base"/>
            <a:r>
              <a:rPr lang="en-US"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The device having the highest priority is checked first and then devices are checked in descending order of priority. If the device is checked to be generating the interrupt, another service program is called which works specifically for that particular device. </a:t>
            </a:r>
          </a:p>
          <a:p>
            <a:pPr algn="l" fontAlgn="base"/>
            <a:r>
              <a:rPr lang="en-US" sz="2400" dirty="0">
                <a:latin typeface="Times New Roman" panose="02020603050405020304" pitchFamily="18" charset="0"/>
                <a:cs typeface="Times New Roman" panose="02020603050405020304" pitchFamily="18" charset="0"/>
              </a:rPr>
              <a:t>When the processor detects an interrupt in the polling method, it branches to an interrupt service routine whose job is to pull each  Input/Output module to determine which module caused the interrupt.</a:t>
            </a:r>
          </a:p>
          <a:p>
            <a:pPr algn="l" fontAlgn="base"/>
            <a:r>
              <a:rPr lang="en-US" sz="2400" dirty="0">
                <a:latin typeface="Times New Roman" panose="02020603050405020304" pitchFamily="18" charset="0"/>
                <a:cs typeface="Times New Roman" panose="02020603050405020304" pitchFamily="18" charset="0"/>
              </a:rPr>
              <a:t>Also, it is the order by which they are tested; that is, the order in which they appear in the address line or service routine determines the priority of every interrupt. Like, at the time of testing, devices with the highest priority get tested, then comes the turn of devices with lower priority. This is the easiest method for priority establishment on simultaneous interrupt. </a:t>
            </a:r>
          </a:p>
        </p:txBody>
      </p:sp>
    </p:spTree>
    <p:extLst>
      <p:ext uri="{BB962C8B-B14F-4D97-AF65-F5344CB8AC3E}">
        <p14:creationId xmlns:p14="http://schemas.microsoft.com/office/powerpoint/2010/main" val="1800962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1D712-9092-8C81-3335-BFFA0DA985AA}"/>
              </a:ext>
            </a:extLst>
          </p:cNvPr>
          <p:cNvSpPr>
            <a:spLocks noGrp="1"/>
          </p:cNvSpPr>
          <p:nvPr>
            <p:ph idx="1"/>
          </p:nvPr>
        </p:nvSpPr>
        <p:spPr>
          <a:xfrm>
            <a:off x="708660" y="845820"/>
            <a:ext cx="10419588" cy="5326380"/>
          </a:xfrm>
        </p:spPr>
        <p:txBody>
          <a:bodyPr/>
          <a:lstStyle/>
          <a:p>
            <a:pPr marL="0" indent="0" algn="l" fontAlgn="base">
              <a:buNone/>
            </a:pPr>
            <a:r>
              <a:rPr lang="en-US" sz="2400" b="1" i="0" dirty="0">
                <a:solidFill>
                  <a:srgbClr val="273239"/>
                </a:solidFill>
                <a:effectLst/>
                <a:highlight>
                  <a:srgbClr val="FFFFFF"/>
                </a:highlight>
                <a:latin typeface="Nunito" pitchFamily="2" charset="0"/>
              </a:rPr>
              <a:t>HARDWARE METHOD – DAISY CHAINING</a:t>
            </a:r>
          </a:p>
          <a:p>
            <a:pPr algn="l"/>
            <a:r>
              <a:rPr lang="en-US" sz="2400" b="0" i="0" dirty="0">
                <a:solidFill>
                  <a:srgbClr val="212529"/>
                </a:solidFill>
                <a:effectLst/>
                <a:highlight>
                  <a:srgbClr val="FFFFFF"/>
                </a:highlight>
                <a:latin typeface="system-ui"/>
              </a:rPr>
              <a:t>This way of deciding the interrupt priority consists of serial connection of all the devices which generates an interrupt signal. The device with the highest priority is placed at the first position followed by lower priority devices and the device which has lowest priority among all is placed at the last in the chain.</a:t>
            </a:r>
          </a:p>
          <a:p>
            <a:pPr algn="l"/>
            <a:r>
              <a:rPr lang="en-US" sz="2400" b="0" i="0" dirty="0">
                <a:solidFill>
                  <a:srgbClr val="212529"/>
                </a:solidFill>
                <a:effectLst/>
                <a:highlight>
                  <a:srgbClr val="FFFFFF"/>
                </a:highlight>
                <a:latin typeface="system-ui"/>
              </a:rPr>
              <a:t>In daisy chaining system all the devices are connected in a serial form. The interrupt line request is common to all devices. If any device has interrupt signal in low level state then interrupt line goes to low level state and enables the interrupt input in the CPU. </a:t>
            </a:r>
          </a:p>
          <a:p>
            <a:pPr algn="l"/>
            <a:r>
              <a:rPr lang="en-US" sz="2400" b="0" i="0" dirty="0">
                <a:solidFill>
                  <a:srgbClr val="212529"/>
                </a:solidFill>
                <a:effectLst/>
                <a:highlight>
                  <a:srgbClr val="FFFFFF"/>
                </a:highlight>
                <a:latin typeface="system-ui"/>
              </a:rPr>
              <a:t>When there is no interrupt the interrupt line stays in high level state. The CPU respond to the interrupt by enabling the interrupt acknowledge line. </a:t>
            </a:r>
          </a:p>
          <a:p>
            <a:pPr algn="l"/>
            <a:r>
              <a:rPr lang="en-US" sz="2400" b="0" i="0" dirty="0">
                <a:solidFill>
                  <a:srgbClr val="212529"/>
                </a:solidFill>
                <a:effectLst/>
                <a:highlight>
                  <a:srgbClr val="FFFFFF"/>
                </a:highlight>
                <a:latin typeface="system-ui"/>
              </a:rPr>
              <a:t>This signal is received by the device 1 at its PI input. The acknowledge signal passes to next device through PO output only if device 1 is not requesting an interrupt.</a:t>
            </a:r>
          </a:p>
          <a:p>
            <a:endParaRPr lang="en-US" dirty="0"/>
          </a:p>
        </p:txBody>
      </p:sp>
    </p:spTree>
    <p:extLst>
      <p:ext uri="{BB962C8B-B14F-4D97-AF65-F5344CB8AC3E}">
        <p14:creationId xmlns:p14="http://schemas.microsoft.com/office/powerpoint/2010/main" val="3282922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iority Interrupt">
            <a:extLst>
              <a:ext uri="{FF2B5EF4-FFF2-40B4-BE49-F238E27FC236}">
                <a16:creationId xmlns:a16="http://schemas.microsoft.com/office/drawing/2014/main" id="{FDEF891A-6668-E33B-5DB2-6420107B67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7284" y="1257380"/>
            <a:ext cx="8306855" cy="4692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121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C2BB94-0DE6-6D6E-91EF-198398052713}"/>
              </a:ext>
            </a:extLst>
          </p:cNvPr>
          <p:cNvSpPr>
            <a:spLocks noGrp="1"/>
          </p:cNvSpPr>
          <p:nvPr>
            <p:ph idx="1"/>
          </p:nvPr>
        </p:nvSpPr>
        <p:spPr>
          <a:xfrm>
            <a:off x="685800" y="485775"/>
            <a:ext cx="10396728" cy="5886450"/>
          </a:xfrm>
        </p:spPr>
        <p:txBody>
          <a:bodyPr>
            <a:normAutofit/>
          </a:bodyPr>
          <a:lstStyle/>
          <a:p>
            <a:pPr marL="0" indent="0">
              <a:buNone/>
            </a:pPr>
            <a:r>
              <a:rPr lang="en-US" sz="2400" b="1" dirty="0"/>
              <a:t>Parallel Priority Interrupt</a:t>
            </a:r>
          </a:p>
          <a:p>
            <a:pPr algn="l">
              <a:buFont typeface="Arial" panose="020B0604020202020204" pitchFamily="34" charset="0"/>
              <a:buChar char="•"/>
            </a:pPr>
            <a:r>
              <a:rPr lang="en-US" sz="2400" b="0" i="0" dirty="0">
                <a:effectLst/>
                <a:highlight>
                  <a:srgbClr val="FFFFFF"/>
                </a:highlight>
                <a:latin typeface="-apple-system"/>
              </a:rPr>
              <a:t>In this technique, multiple devices can generate interrupts simultaneously, and the processor handles them in parallel.</a:t>
            </a:r>
          </a:p>
          <a:p>
            <a:pPr algn="l">
              <a:buFont typeface="Arial" panose="020B0604020202020204" pitchFamily="34" charset="0"/>
              <a:buChar char="•"/>
            </a:pPr>
            <a:r>
              <a:rPr lang="en-US" sz="2400" b="0" i="0" dirty="0">
                <a:effectLst/>
                <a:highlight>
                  <a:srgbClr val="FFFFFF"/>
                </a:highlight>
                <a:latin typeface="-apple-system"/>
              </a:rPr>
              <a:t>Each device has an assigned priority level, and the interrupt controller ensures the highest-priority interrupt is serviced first.</a:t>
            </a:r>
          </a:p>
          <a:p>
            <a:pPr algn="l">
              <a:buFont typeface="Arial" panose="020B0604020202020204" pitchFamily="34" charset="0"/>
              <a:buChar char="•"/>
            </a:pPr>
            <a:r>
              <a:rPr lang="en-US" sz="2400" b="0" i="0" dirty="0">
                <a:effectLst/>
                <a:highlight>
                  <a:srgbClr val="FFFFFF"/>
                </a:highlight>
                <a:latin typeface="-apple-system"/>
              </a:rPr>
              <a:t>Parallel Priority Interrupt is technique, computer systems use to prioritize and manage interrupt requests from multiple devices. It is a hardware-based method that enables multiple devices to generate interrupts simultaneously and allows the processor to handle them in parallel.</a:t>
            </a:r>
          </a:p>
          <a:p>
            <a:pPr algn="l">
              <a:buFont typeface="Arial" panose="020B0604020202020204" pitchFamily="34" charset="0"/>
              <a:buChar char="•"/>
            </a:pPr>
            <a:r>
              <a:rPr lang="en-US" sz="2400" b="0" i="0" dirty="0">
                <a:effectLst/>
                <a:highlight>
                  <a:srgbClr val="FFFFFF"/>
                </a:highlight>
                <a:latin typeface="-apple-system"/>
              </a:rPr>
              <a:t>In a parallel priority interrupt system, each device is assigned a priority level based on the urgency of the interrupt request. When a device generates an interrupt, it is sent to an interrupt controller, which receives and prioritizes the interrupts based on their priority levels.</a:t>
            </a:r>
          </a:p>
          <a:p>
            <a:pPr marL="0" indent="0" algn="l">
              <a:buNone/>
            </a:pPr>
            <a:endParaRPr lang="en-US" b="0" i="0" dirty="0">
              <a:effectLst/>
              <a:highlight>
                <a:srgbClr val="FFFFFF"/>
              </a:highlight>
              <a:latin typeface="-apple-system"/>
            </a:endParaRPr>
          </a:p>
          <a:p>
            <a:endParaRPr lang="en-US" sz="1600" dirty="0"/>
          </a:p>
        </p:txBody>
      </p:sp>
    </p:spTree>
    <p:extLst>
      <p:ext uri="{BB962C8B-B14F-4D97-AF65-F5344CB8AC3E}">
        <p14:creationId xmlns:p14="http://schemas.microsoft.com/office/powerpoint/2010/main" val="3162502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49C280-8F9D-46B5-6BED-21224D27FE64}"/>
              </a:ext>
            </a:extLst>
          </p:cNvPr>
          <p:cNvSpPr>
            <a:spLocks noGrp="1"/>
          </p:cNvSpPr>
          <p:nvPr>
            <p:ph idx="1"/>
          </p:nvPr>
        </p:nvSpPr>
        <p:spPr>
          <a:xfrm>
            <a:off x="902970" y="880110"/>
            <a:ext cx="10225278" cy="5292090"/>
          </a:xfrm>
        </p:spPr>
        <p:txBody>
          <a:bodyPr>
            <a:normAutofit/>
          </a:bodyPr>
          <a:lstStyle/>
          <a:p>
            <a:pPr algn="l">
              <a:buFont typeface="Arial" panose="020B0604020202020204" pitchFamily="34" charset="0"/>
              <a:buChar char="•"/>
            </a:pPr>
            <a:r>
              <a:rPr lang="en-US" sz="2400" b="0" i="0" dirty="0">
                <a:effectLst/>
                <a:highlight>
                  <a:srgbClr val="FFFFFF"/>
                </a:highlight>
                <a:latin typeface="-apple-system"/>
              </a:rPr>
              <a:t>The interrupt controller sends the highest priority interrupt to the processor, which services the interrupt request. While the processor is servicing the interrupt, the interrupt controller can continue to receive and prioritize new interrupts from other devices.</a:t>
            </a:r>
          </a:p>
          <a:p>
            <a:pPr algn="l">
              <a:buFont typeface="Arial" panose="020B0604020202020204" pitchFamily="34" charset="0"/>
              <a:buChar char="•"/>
            </a:pPr>
            <a:r>
              <a:rPr lang="en-US" sz="2400" b="0" i="0" dirty="0">
                <a:effectLst/>
                <a:highlight>
                  <a:srgbClr val="FFFFFF"/>
                </a:highlight>
                <a:latin typeface="-apple-system"/>
              </a:rPr>
              <a:t>Suppose a higher-priority interrupt is generated while the processor is servicing an interrupt. In that case, the interrupt controller will signal the processor to suspend the current operation and service the higher-priority interrupt.</a:t>
            </a:r>
          </a:p>
          <a:p>
            <a:pPr algn="l">
              <a:buFont typeface="Arial" panose="020B0604020202020204" pitchFamily="34" charset="0"/>
              <a:buChar char="•"/>
            </a:pPr>
            <a:r>
              <a:rPr lang="en-US" sz="2400" b="0" i="0" dirty="0">
                <a:effectLst/>
                <a:highlight>
                  <a:srgbClr val="FFFFFF"/>
                </a:highlight>
                <a:latin typeface="-apple-system"/>
              </a:rPr>
              <a:t>The parallel priority interrupts method allows for more efficient handling of interrupt requests than other interrupt methods, such as daisy chaining, where the processor handles the interrupts sequentially. It also reduces the overall latency of interrupt processing, enabling faster response times and improving system performance. </a:t>
            </a:r>
            <a:endParaRPr lang="en-US" sz="2400" dirty="0"/>
          </a:p>
        </p:txBody>
      </p:sp>
    </p:spTree>
    <p:extLst>
      <p:ext uri="{BB962C8B-B14F-4D97-AF65-F5344CB8AC3E}">
        <p14:creationId xmlns:p14="http://schemas.microsoft.com/office/powerpoint/2010/main" val="2143624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93B97E-9D23-6F62-1E48-7BA5653FB6F6}"/>
              </a:ext>
            </a:extLst>
          </p:cNvPr>
          <p:cNvPicPr>
            <a:picLocks noGrp="1" noChangeAspect="1"/>
          </p:cNvPicPr>
          <p:nvPr>
            <p:ph idx="1"/>
          </p:nvPr>
        </p:nvPicPr>
        <p:blipFill rotWithShape="1">
          <a:blip r:embed="rId2"/>
          <a:srcRect l="14513" t="17335" r="22800" b="11285"/>
          <a:stretch/>
        </p:blipFill>
        <p:spPr>
          <a:xfrm>
            <a:off x="812976" y="1074420"/>
            <a:ext cx="10068384" cy="4640580"/>
          </a:xfrm>
        </p:spPr>
      </p:pic>
    </p:spTree>
    <p:extLst>
      <p:ext uri="{BB962C8B-B14F-4D97-AF65-F5344CB8AC3E}">
        <p14:creationId xmlns:p14="http://schemas.microsoft.com/office/powerpoint/2010/main" val="3739167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17DFF-8232-9184-CB8B-545618D3328E}"/>
              </a:ext>
            </a:extLst>
          </p:cNvPr>
          <p:cNvSpPr>
            <a:spLocks noGrp="1"/>
          </p:cNvSpPr>
          <p:nvPr>
            <p:ph idx="1"/>
          </p:nvPr>
        </p:nvSpPr>
        <p:spPr>
          <a:xfrm>
            <a:off x="640080" y="548640"/>
            <a:ext cx="10488168" cy="5623560"/>
          </a:xfrm>
        </p:spPr>
        <p:txBody>
          <a:bodyPr>
            <a:normAutofit lnSpcReduction="10000"/>
          </a:bodyPr>
          <a:lstStyle/>
          <a:p>
            <a:pPr marL="0" indent="0">
              <a:buNone/>
            </a:pPr>
            <a:r>
              <a:rPr lang="en-US" b="1" dirty="0"/>
              <a:t>Input Output Processor</a:t>
            </a:r>
          </a:p>
          <a:p>
            <a:pPr algn="l"/>
            <a:r>
              <a:rPr lang="en-US" sz="2400" b="0" i="0" dirty="0">
                <a:solidFill>
                  <a:srgbClr val="212529"/>
                </a:solidFill>
                <a:effectLst/>
                <a:highlight>
                  <a:srgbClr val="FFFFFF"/>
                </a:highlight>
                <a:latin typeface="system-ui"/>
              </a:rPr>
              <a:t>An input-output processor (IOP) is a processor with direct memory access capability. In this, the computer system is divided into a memory unit and number of processors.</a:t>
            </a:r>
          </a:p>
          <a:p>
            <a:pPr algn="l"/>
            <a:r>
              <a:rPr lang="en-US" sz="2400" b="0" i="0" dirty="0">
                <a:solidFill>
                  <a:srgbClr val="212529"/>
                </a:solidFill>
                <a:effectLst/>
                <a:highlight>
                  <a:srgbClr val="FFFFFF"/>
                </a:highlight>
                <a:latin typeface="system-ui"/>
              </a:rPr>
              <a:t>Each IOP controls and manage the input-output tasks. The IOP is similar to CPU except that it handles only the details of I/O processing. The IOP can fetch and execute its own instructions. These IOP instructions are designed to manage I/O transfers only.</a:t>
            </a:r>
          </a:p>
          <a:p>
            <a:pPr algn="l"/>
            <a:r>
              <a:rPr lang="en-US" sz="2400" b="0" i="0" dirty="0">
                <a:solidFill>
                  <a:srgbClr val="212529"/>
                </a:solidFill>
                <a:effectLst/>
                <a:highlight>
                  <a:srgbClr val="FFFFFF"/>
                </a:highlight>
                <a:latin typeface="system-ui"/>
              </a:rPr>
              <a:t>The memory unit occupies the central position and can communicate with each processor.</a:t>
            </a:r>
          </a:p>
          <a:p>
            <a:pPr algn="l"/>
            <a:r>
              <a:rPr lang="en-US" sz="2400" b="0" i="0" dirty="0">
                <a:solidFill>
                  <a:srgbClr val="212529"/>
                </a:solidFill>
                <a:effectLst/>
                <a:highlight>
                  <a:srgbClr val="FFFFFF"/>
                </a:highlight>
                <a:latin typeface="system-ui"/>
              </a:rPr>
              <a:t>The CPU processes the data required for solving the computational tasks. The IOP provides a path for transfer of data between peripherals and memory. The CPU assigns the task of initiating the I/O program.</a:t>
            </a:r>
          </a:p>
          <a:p>
            <a:pPr algn="l"/>
            <a:r>
              <a:rPr lang="en-US" sz="2400" b="0" i="0" dirty="0">
                <a:solidFill>
                  <a:srgbClr val="212529"/>
                </a:solidFill>
                <a:effectLst/>
                <a:highlight>
                  <a:srgbClr val="FFFFFF"/>
                </a:highlight>
                <a:latin typeface="system-ui"/>
              </a:rPr>
              <a:t>The IOP operates independent from CPU and transfer data between peripherals and memory.</a:t>
            </a:r>
          </a:p>
          <a:p>
            <a:endParaRPr lang="en-US" dirty="0"/>
          </a:p>
        </p:txBody>
      </p:sp>
    </p:spTree>
    <p:extLst>
      <p:ext uri="{BB962C8B-B14F-4D97-AF65-F5344CB8AC3E}">
        <p14:creationId xmlns:p14="http://schemas.microsoft.com/office/powerpoint/2010/main" val="2223233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nput/Output Processor">
            <a:extLst>
              <a:ext uri="{FF2B5EF4-FFF2-40B4-BE49-F238E27FC236}">
                <a16:creationId xmlns:a16="http://schemas.microsoft.com/office/drawing/2014/main" id="{3F0B2092-67CF-6772-D1A2-1759B24CB8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0491" y="1253467"/>
            <a:ext cx="9030799" cy="43510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C97674-D0F2-DFE3-5F5A-D762088ACA17}"/>
              </a:ext>
            </a:extLst>
          </p:cNvPr>
          <p:cNvSpPr txBox="1"/>
          <p:nvPr/>
        </p:nvSpPr>
        <p:spPr>
          <a:xfrm>
            <a:off x="3151823" y="306824"/>
            <a:ext cx="6097904" cy="369332"/>
          </a:xfrm>
          <a:prstGeom prst="rect">
            <a:avLst/>
          </a:prstGeom>
          <a:noFill/>
        </p:spPr>
        <p:txBody>
          <a:bodyPr wrap="square">
            <a:spAutoFit/>
          </a:bodyPr>
          <a:lstStyle/>
          <a:p>
            <a:r>
              <a:rPr lang="en-US" b="0" i="0" dirty="0">
                <a:solidFill>
                  <a:srgbClr val="212529"/>
                </a:solidFill>
                <a:effectLst/>
                <a:highlight>
                  <a:srgbClr val="FFFFFF"/>
                </a:highlight>
                <a:latin typeface="system-ui"/>
              </a:rPr>
              <a:t>Block diagram of a computer along with various I/O Processors</a:t>
            </a:r>
            <a:endParaRPr lang="en-US" dirty="0"/>
          </a:p>
        </p:txBody>
      </p:sp>
    </p:spTree>
    <p:extLst>
      <p:ext uri="{BB962C8B-B14F-4D97-AF65-F5344CB8AC3E}">
        <p14:creationId xmlns:p14="http://schemas.microsoft.com/office/powerpoint/2010/main" val="2948379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47FD30-A239-4B84-10AA-88C83CA13E66}"/>
              </a:ext>
            </a:extLst>
          </p:cNvPr>
          <p:cNvSpPr>
            <a:spLocks noGrp="1"/>
          </p:cNvSpPr>
          <p:nvPr>
            <p:ph idx="1"/>
          </p:nvPr>
        </p:nvSpPr>
        <p:spPr>
          <a:xfrm>
            <a:off x="742950" y="274320"/>
            <a:ext cx="10385298" cy="5897880"/>
          </a:xfrm>
        </p:spPr>
        <p:txBody>
          <a:bodyPr>
            <a:normAutofit/>
          </a:bodyPr>
          <a:lstStyle/>
          <a:p>
            <a:r>
              <a:rPr lang="en-US" b="1" i="0" dirty="0">
                <a:solidFill>
                  <a:srgbClr val="333333"/>
                </a:solidFill>
                <a:effectLst/>
                <a:latin typeface="Montserrat" panose="00000500000000000000" pitchFamily="2" charset="0"/>
              </a:rPr>
              <a:t>Serial Communication</a:t>
            </a:r>
          </a:p>
          <a:p>
            <a:r>
              <a:rPr lang="en-US" b="0" i="0" dirty="0">
                <a:solidFill>
                  <a:srgbClr val="333333"/>
                </a:solidFill>
                <a:effectLst/>
                <a:latin typeface="Montserrat" panose="00000500000000000000" pitchFamily="2" charset="0"/>
              </a:rPr>
              <a:t>Serial communication is the process of sequentially transferring the information/bits on the same channel. </a:t>
            </a:r>
          </a:p>
          <a:p>
            <a:r>
              <a:rPr lang="en-US" b="0" i="0" dirty="0">
                <a:solidFill>
                  <a:srgbClr val="333333"/>
                </a:solidFill>
                <a:effectLst/>
                <a:latin typeface="Montserrat" panose="00000500000000000000" pitchFamily="2" charset="0"/>
              </a:rPr>
              <a:t>Due to this, the cost of wire will be reduced, but it slows the transmission speed. </a:t>
            </a:r>
          </a:p>
          <a:p>
            <a:r>
              <a:rPr lang="en-US" b="0" i="0" dirty="0">
                <a:solidFill>
                  <a:srgbClr val="333333"/>
                </a:solidFill>
                <a:effectLst/>
                <a:latin typeface="Montserrat" panose="00000500000000000000" pitchFamily="2" charset="0"/>
              </a:rPr>
              <a:t>The serial protocol is run on every device that can be our mobile, personal computers, and many more with the help of following some protocols. </a:t>
            </a:r>
          </a:p>
          <a:p>
            <a:r>
              <a:rPr lang="en-US" b="0" i="0" dirty="0">
                <a:solidFill>
                  <a:srgbClr val="333333"/>
                </a:solidFill>
                <a:effectLst/>
                <a:latin typeface="Montserrat" panose="00000500000000000000" pitchFamily="2" charset="0"/>
              </a:rPr>
              <a:t>The protocol is a type of reliable and secure form of communication that contains a set of rules addressed with the help of a source host and a destination host. </a:t>
            </a:r>
          </a:p>
          <a:p>
            <a:r>
              <a:rPr lang="en-US" b="0" i="0" dirty="0">
                <a:solidFill>
                  <a:srgbClr val="333333"/>
                </a:solidFill>
                <a:effectLst/>
                <a:latin typeface="Montserrat" panose="00000500000000000000" pitchFamily="2" charset="0"/>
              </a:rPr>
              <a:t>In serial communication, binary pulses are used to show the data. Binary contains the two numbers 0 and 1. 0 is used to show the LOW or 0 Volts, and 1 is used to show the HIGH or 5 Volts. </a:t>
            </a:r>
          </a:p>
          <a:p>
            <a:r>
              <a:rPr lang="en-US" b="0" i="0" dirty="0">
                <a:solidFill>
                  <a:srgbClr val="333333"/>
                </a:solidFill>
                <a:effectLst/>
                <a:latin typeface="Montserrat" panose="00000500000000000000" pitchFamily="2" charset="0"/>
              </a:rPr>
              <a:t>The serial communication can either be asynchronous or synchronous.</a:t>
            </a:r>
            <a:endParaRPr lang="en-US" dirty="0"/>
          </a:p>
        </p:txBody>
      </p:sp>
    </p:spTree>
    <p:extLst>
      <p:ext uri="{BB962C8B-B14F-4D97-AF65-F5344CB8AC3E}">
        <p14:creationId xmlns:p14="http://schemas.microsoft.com/office/powerpoint/2010/main" val="3921129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947CB-20C1-BDDA-A792-D6BC1FDF80BE}"/>
              </a:ext>
            </a:extLst>
          </p:cNvPr>
          <p:cNvSpPr>
            <a:spLocks noGrp="1"/>
          </p:cNvSpPr>
          <p:nvPr>
            <p:ph idx="1"/>
          </p:nvPr>
        </p:nvSpPr>
        <p:spPr>
          <a:xfrm>
            <a:off x="777240" y="422910"/>
            <a:ext cx="10351008" cy="5749290"/>
          </a:xfrm>
        </p:spPr>
        <p:txBody>
          <a:bodyPr/>
          <a:lstStyle/>
          <a:p>
            <a:pPr marL="0" indent="0" algn="l">
              <a:buNone/>
            </a:pPr>
            <a:r>
              <a:rPr lang="en-US" b="1" i="0" dirty="0">
                <a:effectLst/>
                <a:latin typeface="Montserrat" panose="00000500000000000000" pitchFamily="2" charset="0"/>
              </a:rPr>
              <a:t>Synchronous Communication</a:t>
            </a:r>
          </a:p>
          <a:p>
            <a:pPr algn="just"/>
            <a:r>
              <a:rPr lang="en-US" b="0" i="0" dirty="0">
                <a:solidFill>
                  <a:srgbClr val="333333"/>
                </a:solidFill>
                <a:effectLst/>
                <a:latin typeface="Montserrat" panose="00000500000000000000" pitchFamily="2" charset="0"/>
              </a:rPr>
              <a:t>In </a:t>
            </a:r>
            <a:r>
              <a:rPr lang="en-US" b="1" i="0" dirty="0">
                <a:solidFill>
                  <a:srgbClr val="333333"/>
                </a:solidFill>
                <a:effectLst/>
                <a:latin typeface="Montserrat" panose="00000500000000000000" pitchFamily="2" charset="0"/>
              </a:rPr>
              <a:t>synchronous communication,</a:t>
            </a:r>
            <a:r>
              <a:rPr lang="en-US" b="0" i="0" dirty="0">
                <a:solidFill>
                  <a:srgbClr val="333333"/>
                </a:solidFill>
                <a:effectLst/>
                <a:latin typeface="Montserrat" panose="00000500000000000000" pitchFamily="2" charset="0"/>
              </a:rPr>
              <a:t> the frames or data will be constructed with the help of combining the groups of bits. That frames will be continuously sent in time with a master clock. It uses a synchronized clock frequency to operate the data of sender or receiver. In synchronous communication, there is no need to use the gaps, start bits and stop bits. </a:t>
            </a:r>
          </a:p>
          <a:p>
            <a:pPr algn="just"/>
            <a:r>
              <a:rPr lang="en-US" b="0" i="0" dirty="0">
                <a:solidFill>
                  <a:srgbClr val="333333"/>
                </a:solidFill>
                <a:effectLst/>
                <a:latin typeface="Montserrat" panose="00000500000000000000" pitchFamily="2" charset="0"/>
              </a:rPr>
              <a:t>The time taken by the sender and receiver is synced that's why the frequency of timing error will be less, and the data will move faster. On the basis of the timing being synced correctly between the sender and receiver devices, the data accuracy is totally dependent. The synchronous serial transmission is more expensive as compared to asynchronous serial transmission.</a:t>
            </a:r>
          </a:p>
          <a:p>
            <a:endParaRPr lang="en-US" dirty="0"/>
          </a:p>
        </p:txBody>
      </p:sp>
      <p:pic>
        <p:nvPicPr>
          <p:cNvPr id="2050" name="Picture 2" descr="Serial Communication in Computer organization">
            <a:extLst>
              <a:ext uri="{FF2B5EF4-FFF2-40B4-BE49-F238E27FC236}">
                <a16:creationId xmlns:a16="http://schemas.microsoft.com/office/drawing/2014/main" id="{B5B05025-46A9-C917-996D-80F40EDE8A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940" y="4274820"/>
            <a:ext cx="7063740" cy="235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347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A0BD7F-63E3-A85C-6454-9B2A8C39CE20}"/>
              </a:ext>
            </a:extLst>
          </p:cNvPr>
          <p:cNvSpPr>
            <a:spLocks noGrp="1"/>
          </p:cNvSpPr>
          <p:nvPr>
            <p:ph idx="1"/>
          </p:nvPr>
        </p:nvSpPr>
        <p:spPr>
          <a:xfrm>
            <a:off x="331470" y="331470"/>
            <a:ext cx="10796778" cy="5840730"/>
          </a:xfrm>
        </p:spPr>
        <p:txBody>
          <a:bodyPr/>
          <a:lstStyle/>
          <a:p>
            <a:pPr marL="0" indent="0" algn="l">
              <a:buNone/>
            </a:pPr>
            <a:r>
              <a:rPr lang="en-US" b="1" i="0" dirty="0">
                <a:effectLst/>
                <a:latin typeface="Montserrat" panose="00000500000000000000" pitchFamily="2" charset="0"/>
              </a:rPr>
              <a:t>Asynchronous Communication</a:t>
            </a:r>
          </a:p>
          <a:p>
            <a:pPr algn="just"/>
            <a:r>
              <a:rPr lang="en-US" b="0" i="0" dirty="0">
                <a:solidFill>
                  <a:srgbClr val="333333"/>
                </a:solidFill>
                <a:effectLst/>
                <a:latin typeface="Montserrat" panose="00000500000000000000" pitchFamily="2" charset="0"/>
              </a:rPr>
              <a:t>In </a:t>
            </a:r>
            <a:r>
              <a:rPr lang="en-US" b="1" i="0" dirty="0">
                <a:solidFill>
                  <a:srgbClr val="333333"/>
                </a:solidFill>
                <a:effectLst/>
                <a:latin typeface="Montserrat" panose="00000500000000000000" pitchFamily="2" charset="0"/>
              </a:rPr>
              <a:t>asynchronous communication,</a:t>
            </a:r>
            <a:r>
              <a:rPr lang="en-US" b="0" i="0" dirty="0">
                <a:solidFill>
                  <a:srgbClr val="333333"/>
                </a:solidFill>
                <a:effectLst/>
                <a:latin typeface="Montserrat" panose="00000500000000000000" pitchFamily="2" charset="0"/>
              </a:rPr>
              <a:t> the groups of bits will be treated as an independent unit, and these data bits will be sent at any point in time. In order to make synchronization between sender and receiver, the stop bits and start bits are used between the data bytes. These bits are useful to ensure that the data is correctly sent. </a:t>
            </a:r>
          </a:p>
          <a:p>
            <a:pPr algn="just"/>
            <a:r>
              <a:rPr lang="en-US" b="0" i="0" dirty="0">
                <a:solidFill>
                  <a:srgbClr val="333333"/>
                </a:solidFill>
                <a:effectLst/>
                <a:latin typeface="Montserrat" panose="00000500000000000000" pitchFamily="2" charset="0"/>
              </a:rPr>
              <a:t>The time taken by data bits of sender and receiver is not constant, and the time between transmissions will be provided by the gaps. In asynchronous communication, we don't require synchronization between the sender and receiver devices, which is the main advantage of asynchronous communication. This method is also cost-effective. In this method, there can be a case when data transmission is slow, but it is not compulsory, and it is the main disadvantage of the asynchronous method.</a:t>
            </a:r>
          </a:p>
          <a:p>
            <a:endParaRPr lang="en-US" dirty="0"/>
          </a:p>
        </p:txBody>
      </p:sp>
      <p:pic>
        <p:nvPicPr>
          <p:cNvPr id="3074" name="Picture 2" descr="Serial Communication in Computer organization">
            <a:extLst>
              <a:ext uri="{FF2B5EF4-FFF2-40B4-BE49-F238E27FC236}">
                <a16:creationId xmlns:a16="http://schemas.microsoft.com/office/drawing/2014/main" id="{AB60D2F1-8C95-567D-4288-4A2271DC4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309110"/>
            <a:ext cx="7151764"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924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rial Communication in Computer organization">
            <a:extLst>
              <a:ext uri="{FF2B5EF4-FFF2-40B4-BE49-F238E27FC236}">
                <a16:creationId xmlns:a16="http://schemas.microsoft.com/office/drawing/2014/main" id="{BD39715B-9F84-D9BA-835C-DE3B7E537B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632" y="793103"/>
            <a:ext cx="8815708" cy="5271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2779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341</TotalTime>
  <Words>5090</Words>
  <Application>Microsoft Office PowerPoint</Application>
  <PresentationFormat>Widescreen</PresentationFormat>
  <Paragraphs>217</Paragraphs>
  <Slides>41</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41</vt:i4>
      </vt:variant>
    </vt:vector>
  </HeadingPairs>
  <TitlesOfParts>
    <vt:vector size="57" baseType="lpstr">
      <vt:lpstr>-apple-system</vt:lpstr>
      <vt:lpstr>Arial</vt:lpstr>
      <vt:lpstr>helveticaregular</vt:lpstr>
      <vt:lpstr>inherit</vt:lpstr>
      <vt:lpstr>Inter</vt:lpstr>
      <vt:lpstr>Montserrat</vt:lpstr>
      <vt:lpstr>Mulish</vt:lpstr>
      <vt:lpstr>Nunito</vt:lpstr>
      <vt:lpstr>Rockwell</vt:lpstr>
      <vt:lpstr>Rockwell Condensed</vt:lpstr>
      <vt:lpstr>system-ui</vt:lpstr>
      <vt:lpstr>Times New Roman</vt:lpstr>
      <vt:lpstr>var(--ff-lato)</vt:lpstr>
      <vt:lpstr>Verdana</vt:lpstr>
      <vt:lpstr>Wingdings</vt:lpstr>
      <vt:lpstr>Wood Type</vt:lpstr>
      <vt:lpstr>Input output organisation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 output organisation</dc:title>
  <dc:creator>Anup Raj Poudel</dc:creator>
  <cp:lastModifiedBy>Anup Raj Poudel</cp:lastModifiedBy>
  <cp:revision>25</cp:revision>
  <dcterms:created xsi:type="dcterms:W3CDTF">2024-03-31T17:01:55Z</dcterms:created>
  <dcterms:modified xsi:type="dcterms:W3CDTF">2025-02-15T17:53:36Z</dcterms:modified>
</cp:coreProperties>
</file>